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5"/>
  </p:notesMasterIdLst>
  <p:handoutMasterIdLst>
    <p:handoutMasterId r:id="rId36"/>
  </p:handoutMasterIdLst>
  <p:sldIdLst>
    <p:sldId id="317" r:id="rId5"/>
    <p:sldId id="308" r:id="rId6"/>
    <p:sldId id="338" r:id="rId7"/>
    <p:sldId id="334" r:id="rId8"/>
    <p:sldId id="278" r:id="rId9"/>
    <p:sldId id="327" r:id="rId10"/>
    <p:sldId id="263" r:id="rId11"/>
    <p:sldId id="320" r:id="rId12"/>
    <p:sldId id="321" r:id="rId13"/>
    <p:sldId id="339" r:id="rId14"/>
    <p:sldId id="340" r:id="rId15"/>
    <p:sldId id="341" r:id="rId16"/>
    <p:sldId id="328" r:id="rId17"/>
    <p:sldId id="342" r:id="rId18"/>
    <p:sldId id="343" r:id="rId19"/>
    <p:sldId id="311" r:id="rId20"/>
    <p:sldId id="316" r:id="rId21"/>
    <p:sldId id="314" r:id="rId22"/>
    <p:sldId id="315" r:id="rId23"/>
    <p:sldId id="333" r:id="rId24"/>
    <p:sldId id="344" r:id="rId25"/>
    <p:sldId id="345" r:id="rId26"/>
    <p:sldId id="346" r:id="rId27"/>
    <p:sldId id="347" r:id="rId28"/>
    <p:sldId id="348" r:id="rId29"/>
    <p:sldId id="349" r:id="rId30"/>
    <p:sldId id="330" r:id="rId31"/>
    <p:sldId id="331" r:id="rId32"/>
    <p:sldId id="332" r:id="rId33"/>
    <p:sldId id="30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8E81"/>
    <a:srgbClr val="D7CFC6"/>
    <a:srgbClr val="C2BCA4"/>
    <a:srgbClr val="543E34"/>
    <a:srgbClr val="DBD3C5"/>
    <a:srgbClr val="E5DACF"/>
    <a:srgbClr val="636A58"/>
    <a:srgbClr val="505A47"/>
    <a:srgbClr val="D1D8B7"/>
    <a:srgbClr val="A09D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196" autoAdjust="0"/>
  </p:normalViewPr>
  <p:slideViewPr>
    <p:cSldViewPr snapToGrid="0">
      <p:cViewPr varScale="1">
        <p:scale>
          <a:sx n="85" d="100"/>
          <a:sy n="85" d="100"/>
        </p:scale>
        <p:origin x="590" y="6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2/3/2026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2/3/2026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3830988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2735143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2035859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2636220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18967352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2928193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1938140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26219536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16</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18</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19</a:t>
            </a:fld>
            <a:endParaRPr lang="en-US" noProof="0" dirty="0"/>
          </a:p>
        </p:txBody>
      </p:sp>
    </p:spTree>
    <p:extLst>
      <p:ext uri="{BB962C8B-B14F-4D97-AF65-F5344CB8AC3E}">
        <p14:creationId xmlns:p14="http://schemas.microsoft.com/office/powerpoint/2010/main" val="23327485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20</a:t>
            </a:fld>
            <a:endParaRPr lang="en-US" noProof="0" dirty="0"/>
          </a:p>
        </p:txBody>
      </p:sp>
    </p:spTree>
    <p:extLst>
      <p:ext uri="{BB962C8B-B14F-4D97-AF65-F5344CB8AC3E}">
        <p14:creationId xmlns:p14="http://schemas.microsoft.com/office/powerpoint/2010/main" val="7490224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21</a:t>
            </a:fld>
            <a:endParaRPr lang="en-US" noProof="0" dirty="0"/>
          </a:p>
        </p:txBody>
      </p:sp>
    </p:spTree>
    <p:extLst>
      <p:ext uri="{BB962C8B-B14F-4D97-AF65-F5344CB8AC3E}">
        <p14:creationId xmlns:p14="http://schemas.microsoft.com/office/powerpoint/2010/main" val="38050006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22</a:t>
            </a:fld>
            <a:endParaRPr lang="en-US" noProof="0" dirty="0"/>
          </a:p>
        </p:txBody>
      </p:sp>
    </p:spTree>
    <p:extLst>
      <p:ext uri="{BB962C8B-B14F-4D97-AF65-F5344CB8AC3E}">
        <p14:creationId xmlns:p14="http://schemas.microsoft.com/office/powerpoint/2010/main" val="30318342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23</a:t>
            </a:fld>
            <a:endParaRPr lang="en-US" noProof="0" dirty="0"/>
          </a:p>
        </p:txBody>
      </p:sp>
    </p:spTree>
    <p:extLst>
      <p:ext uri="{BB962C8B-B14F-4D97-AF65-F5344CB8AC3E}">
        <p14:creationId xmlns:p14="http://schemas.microsoft.com/office/powerpoint/2010/main" val="40545121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24</a:t>
            </a:fld>
            <a:endParaRPr lang="en-US" noProof="0" dirty="0"/>
          </a:p>
        </p:txBody>
      </p:sp>
    </p:spTree>
    <p:extLst>
      <p:ext uri="{BB962C8B-B14F-4D97-AF65-F5344CB8AC3E}">
        <p14:creationId xmlns:p14="http://schemas.microsoft.com/office/powerpoint/2010/main" val="19963182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25</a:t>
            </a:fld>
            <a:endParaRPr lang="en-US" noProof="0" dirty="0"/>
          </a:p>
        </p:txBody>
      </p:sp>
    </p:spTree>
    <p:extLst>
      <p:ext uri="{BB962C8B-B14F-4D97-AF65-F5344CB8AC3E}">
        <p14:creationId xmlns:p14="http://schemas.microsoft.com/office/powerpoint/2010/main" val="28911474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26</a:t>
            </a:fld>
            <a:endParaRPr lang="en-US" noProof="0" dirty="0"/>
          </a:p>
        </p:txBody>
      </p:sp>
    </p:spTree>
    <p:extLst>
      <p:ext uri="{BB962C8B-B14F-4D97-AF65-F5344CB8AC3E}">
        <p14:creationId xmlns:p14="http://schemas.microsoft.com/office/powerpoint/2010/main" val="22488126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27</a:t>
            </a:fld>
            <a:endParaRPr lang="en-US" noProof="0" dirty="0"/>
          </a:p>
        </p:txBody>
      </p:sp>
    </p:spTree>
    <p:extLst>
      <p:ext uri="{BB962C8B-B14F-4D97-AF65-F5344CB8AC3E}">
        <p14:creationId xmlns:p14="http://schemas.microsoft.com/office/powerpoint/2010/main" val="27529946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28</a:t>
            </a:fld>
            <a:endParaRPr lang="en-US" noProof="0" dirty="0"/>
          </a:p>
        </p:txBody>
      </p:sp>
    </p:spTree>
    <p:extLst>
      <p:ext uri="{BB962C8B-B14F-4D97-AF65-F5344CB8AC3E}">
        <p14:creationId xmlns:p14="http://schemas.microsoft.com/office/powerpoint/2010/main" val="39997204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29</a:t>
            </a:fld>
            <a:endParaRPr lang="en-US" noProof="0" dirty="0"/>
          </a:p>
        </p:txBody>
      </p:sp>
    </p:spTree>
    <p:extLst>
      <p:ext uri="{BB962C8B-B14F-4D97-AF65-F5344CB8AC3E}">
        <p14:creationId xmlns:p14="http://schemas.microsoft.com/office/powerpoint/2010/main" val="30937817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30</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7.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sz="6000" dirty="0"/>
              <a:t>Her Ride</a:t>
            </a:r>
            <a:br>
              <a:rPr lang="en-US" dirty="0"/>
            </a:br>
            <a:r>
              <a:rPr lang="en-US" sz="2400" dirty="0"/>
              <a:t>For woman by woman</a:t>
            </a:r>
            <a:br>
              <a:rPr lang="en-US" sz="2400" dirty="0"/>
            </a:br>
            <a:br>
              <a:rPr lang="en-US" sz="2400" dirty="0"/>
            </a:br>
            <a:r>
              <a:rPr lang="en-US" sz="2000" dirty="0"/>
              <a:t>Agile Product Management Capstone Project</a:t>
            </a:r>
            <a:br>
              <a:rPr lang="en-US" sz="2000" dirty="0"/>
            </a:br>
            <a:r>
              <a:rPr lang="en-US" sz="2000" dirty="0"/>
              <a:t>By- Ahana Podder</a:t>
            </a:r>
            <a:endParaRPr lang="en-US"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636494" y="874059"/>
            <a:ext cx="5641848" cy="573741"/>
          </a:xfrm>
        </p:spPr>
        <p:txBody>
          <a:bodyPr/>
          <a:lstStyle/>
          <a:p>
            <a:pPr marL="0" indent="0" algn="just">
              <a:lnSpc>
                <a:spcPts val="2500"/>
              </a:lnSpc>
              <a:buNone/>
            </a:pPr>
            <a:r>
              <a:rPr lang="en-US" sz="4400" dirty="0"/>
              <a:t>Introduction</a:t>
            </a:r>
            <a:endParaRPr lang="en-US" sz="2000" dirty="0"/>
          </a:p>
        </p:txBody>
      </p:sp>
      <p:pic>
        <p:nvPicPr>
          <p:cNvPr id="11" name="Picture Placeholder 10">
            <a:extLst>
              <a:ext uri="{FF2B5EF4-FFF2-40B4-BE49-F238E27FC236}">
                <a16:creationId xmlns:a16="http://schemas.microsoft.com/office/drawing/2014/main" id="{2442C99C-6B6F-4F88-99EC-E668CB80C278}"/>
              </a:ext>
            </a:extLst>
          </p:cNvPr>
          <p:cNvPicPr>
            <a:picLocks noGrp="1" noChangeAspect="1"/>
          </p:cNvPicPr>
          <p:nvPr>
            <p:ph type="pic" idx="1"/>
          </p:nvPr>
        </p:nvPicPr>
        <p:blipFill>
          <a:blip r:embed="rId3"/>
          <a:srcRect l="1539" r="1539"/>
          <a:stretch>
            <a:fillRect/>
          </a:stretch>
        </p:blipFill>
        <p:spPr/>
      </p:pic>
      <p:sp>
        <p:nvSpPr>
          <p:cNvPr id="12" name="TextBox 11">
            <a:extLst>
              <a:ext uri="{FF2B5EF4-FFF2-40B4-BE49-F238E27FC236}">
                <a16:creationId xmlns:a16="http://schemas.microsoft.com/office/drawing/2014/main" id="{0E767666-99BA-49A1-B6AE-E44598A954D5}"/>
              </a:ext>
            </a:extLst>
          </p:cNvPr>
          <p:cNvSpPr txBox="1"/>
          <p:nvPr/>
        </p:nvSpPr>
        <p:spPr>
          <a:xfrm>
            <a:off x="627529" y="1622612"/>
            <a:ext cx="5773271" cy="4524315"/>
          </a:xfrm>
          <a:prstGeom prst="rect">
            <a:avLst/>
          </a:prstGeom>
          <a:noFill/>
        </p:spPr>
        <p:txBody>
          <a:bodyPr wrap="square" rtlCol="0">
            <a:spAutoFit/>
          </a:bodyPr>
          <a:lstStyle/>
          <a:p>
            <a:r>
              <a:rPr lang="en-US" sz="1800" dirty="0">
                <a:solidFill>
                  <a:srgbClr val="4B4A4A"/>
                </a:solidFill>
                <a:ea typeface="Geist" pitchFamily="34" charset="-122"/>
                <a:cs typeface="Geist" pitchFamily="34" charset="-120"/>
              </a:rPr>
              <a:t>In a bustling world, </a:t>
            </a:r>
            <a:r>
              <a:rPr lang="en-US" b="1" dirty="0"/>
              <a:t>Her Ride </a:t>
            </a:r>
            <a:r>
              <a:rPr lang="en-US" sz="1800" dirty="0">
                <a:solidFill>
                  <a:srgbClr val="4B4A4A"/>
                </a:solidFill>
                <a:ea typeface="Geist" pitchFamily="34" charset="-122"/>
                <a:cs typeface="Geist" pitchFamily="34" charset="-120"/>
              </a:rPr>
              <a:t>emerges as a beacon of safety and empowerment for women. This innovative app is designed with a singular focus: to provide a secure and reliable transportation solution nationwide, driven by women, for women. Our mission is to foster a community where every journey is undertaken with confidence and peace of mind, enhancing mobility and independence for countless individuals across India.</a:t>
            </a:r>
            <a:br>
              <a:rPr lang="en-US" sz="1800" dirty="0">
                <a:solidFill>
                  <a:srgbClr val="4B4A4A"/>
                </a:solidFill>
                <a:ea typeface="Geist" pitchFamily="34" charset="-122"/>
                <a:cs typeface="Geist" pitchFamily="34" charset="-120"/>
              </a:rPr>
            </a:br>
            <a:br>
              <a:rPr lang="en-US" sz="1800" dirty="0">
                <a:solidFill>
                  <a:srgbClr val="4B4A4A"/>
                </a:solidFill>
                <a:ea typeface="Geist" pitchFamily="34" charset="-122"/>
                <a:cs typeface="Geist" pitchFamily="34" charset="-120"/>
              </a:rPr>
            </a:br>
            <a:r>
              <a:rPr lang="en-US" sz="1800" dirty="0">
                <a:solidFill>
                  <a:srgbClr val="4B4A4A"/>
                </a:solidFill>
                <a:ea typeface="Geist" pitchFamily="34" charset="-122"/>
                <a:cs typeface="Geist" pitchFamily="34" charset="-120"/>
              </a:rPr>
              <a:t>At its core, </a:t>
            </a:r>
            <a:r>
              <a:rPr lang="en-US" sz="1800" b="1" dirty="0">
                <a:ea typeface="Geist" pitchFamily="34" charset="-122"/>
                <a:cs typeface="Geist" pitchFamily="34" charset="-120"/>
              </a:rPr>
              <a:t>Her Ride </a:t>
            </a:r>
            <a:r>
              <a:rPr lang="en-US" sz="1800" dirty="0">
                <a:solidFill>
                  <a:srgbClr val="4B4A4A"/>
                </a:solidFill>
                <a:ea typeface="Geist" pitchFamily="34" charset="-122"/>
                <a:cs typeface="Geist" pitchFamily="34" charset="-120"/>
              </a:rPr>
              <a:t>addresses the critical need for a trusted travel option. We aim to revolutionize urban commuting by prioritizing safety, comfort, and empowerment for both riders and drivers. Through intuitive design and robust features, we're not just offering rides; we're building a movement towards safer, more inclusive transportation. Join us as we redefine what it means to travel freely and confidently.</a:t>
            </a:r>
            <a:endParaRPr lang="en-IN" dirty="0"/>
          </a:p>
        </p:txBody>
      </p:sp>
    </p:spTree>
    <p:extLst>
      <p:ext uri="{BB962C8B-B14F-4D97-AF65-F5344CB8AC3E}">
        <p14:creationId xmlns:p14="http://schemas.microsoft.com/office/powerpoint/2010/main" val="2222324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5279C-0A4C-4DF8-B162-996031F42D15}"/>
              </a:ext>
            </a:extLst>
          </p:cNvPr>
          <p:cNvSpPr>
            <a:spLocks noGrp="1"/>
          </p:cNvSpPr>
          <p:nvPr>
            <p:ph type="title"/>
          </p:nvPr>
        </p:nvSpPr>
        <p:spPr>
          <a:xfrm>
            <a:off x="1001467" y="914400"/>
            <a:ext cx="5094533" cy="5029200"/>
          </a:xfrm>
        </p:spPr>
        <p:txBody>
          <a:bodyPr/>
          <a:lstStyle/>
          <a:p>
            <a:r>
              <a:rPr lang="en-US" sz="4000" dirty="0"/>
              <a:t>Problem Statement</a:t>
            </a:r>
            <a:endParaRPr lang="en-IN" sz="4000" dirty="0"/>
          </a:p>
        </p:txBody>
      </p:sp>
      <p:sp>
        <p:nvSpPr>
          <p:cNvPr id="3" name="Content Placeholder 2">
            <a:extLst>
              <a:ext uri="{FF2B5EF4-FFF2-40B4-BE49-F238E27FC236}">
                <a16:creationId xmlns:a16="http://schemas.microsoft.com/office/drawing/2014/main" id="{B17A8EE0-C6A7-4263-9470-9D29C0692C4D}"/>
              </a:ext>
            </a:extLst>
          </p:cNvPr>
          <p:cNvSpPr>
            <a:spLocks noGrp="1"/>
          </p:cNvSpPr>
          <p:nvPr>
            <p:ph idx="1"/>
          </p:nvPr>
        </p:nvSpPr>
        <p:spPr>
          <a:xfrm>
            <a:off x="6729916" y="1143000"/>
            <a:ext cx="5211072" cy="5029200"/>
          </a:xfrm>
        </p:spPr>
        <p:txBody>
          <a:bodyPr>
            <a:normAutofit fontScale="85000" lnSpcReduction="10000"/>
          </a:bodyPr>
          <a:lstStyle/>
          <a:p>
            <a:pPr marL="0" indent="0" algn="just">
              <a:buNone/>
            </a:pPr>
            <a:r>
              <a:rPr lang="en-US" cap="none" dirty="0"/>
              <a:t>Women in many cities face safety concerns, harassment risks, and discomfort while using traditional ride-sharing platforms, especially at night or in less-crowded areas. Despite high demand for mobility, the lack of women-only transport options limits their freedom, job opportunities, and participation in the workforce.</a:t>
            </a:r>
          </a:p>
          <a:p>
            <a:pPr marL="0" indent="0" algn="just">
              <a:buNone/>
            </a:pPr>
            <a:endParaRPr lang="en-US" cap="none" dirty="0"/>
          </a:p>
          <a:p>
            <a:pPr marL="0" indent="0" algn="just">
              <a:buNone/>
            </a:pPr>
            <a:r>
              <a:rPr lang="en-US" b="1" cap="none" dirty="0"/>
              <a:t>Key pain points:</a:t>
            </a:r>
            <a:endParaRPr lang="en-US" cap="none" dirty="0"/>
          </a:p>
          <a:p>
            <a:pPr algn="just">
              <a:buFont typeface="Arial" panose="020B0604020202020204" pitchFamily="34" charset="0"/>
              <a:buChar char="•"/>
            </a:pPr>
            <a:r>
              <a:rPr lang="en-US" cap="none" dirty="0"/>
              <a:t>Safety concerns during travel (especially late hours).</a:t>
            </a:r>
          </a:p>
          <a:p>
            <a:pPr algn="just">
              <a:buFont typeface="Arial" panose="020B0604020202020204" pitchFamily="34" charset="0"/>
              <a:buChar char="•"/>
            </a:pPr>
            <a:r>
              <a:rPr lang="en-US" cap="none" dirty="0"/>
              <a:t>Lack of trust in existing ride-sharing platforms.</a:t>
            </a:r>
          </a:p>
          <a:p>
            <a:pPr algn="just">
              <a:buFont typeface="Arial" panose="020B0604020202020204" pitchFamily="34" charset="0"/>
              <a:buChar char="•"/>
            </a:pPr>
            <a:r>
              <a:rPr lang="en-US" cap="none" dirty="0"/>
              <a:t>Few women drivers available.</a:t>
            </a:r>
          </a:p>
          <a:p>
            <a:pPr algn="just">
              <a:buFont typeface="Arial" panose="020B0604020202020204" pitchFamily="34" charset="0"/>
              <a:buChar char="•"/>
            </a:pPr>
            <a:r>
              <a:rPr lang="en-US" cap="none" dirty="0"/>
              <a:t>Limited reporting or emergency mechanisms that truly work.</a:t>
            </a:r>
          </a:p>
          <a:p>
            <a:pPr algn="just">
              <a:buFont typeface="Arial" panose="020B0604020202020204" pitchFamily="34" charset="0"/>
              <a:buChar char="•"/>
            </a:pPr>
            <a:r>
              <a:rPr lang="en-US" cap="none" dirty="0"/>
              <a:t>Social discomfort with male drivers.</a:t>
            </a:r>
            <a:endParaRPr lang="en-IN" cap="none" dirty="0"/>
          </a:p>
        </p:txBody>
      </p:sp>
    </p:spTree>
    <p:extLst>
      <p:ext uri="{BB962C8B-B14F-4D97-AF65-F5344CB8AC3E}">
        <p14:creationId xmlns:p14="http://schemas.microsoft.com/office/powerpoint/2010/main" val="2496931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391685" y="356427"/>
            <a:ext cx="10360152" cy="546847"/>
          </a:xfrm>
        </p:spPr>
        <p:txBody>
          <a:bodyPr/>
          <a:lstStyle/>
          <a:p>
            <a:r>
              <a:rPr lang="en-US" sz="4400" dirty="0"/>
              <a:t>Persona</a:t>
            </a:r>
          </a:p>
        </p:txBody>
      </p:sp>
      <p:pic>
        <p:nvPicPr>
          <p:cNvPr id="7" name="Image 0" descr="preencoded.png">
            <a:extLst>
              <a:ext uri="{FF2B5EF4-FFF2-40B4-BE49-F238E27FC236}">
                <a16:creationId xmlns:a16="http://schemas.microsoft.com/office/drawing/2014/main" id="{2296B70C-B5C9-4A66-A2AF-70F790C5A107}"/>
              </a:ext>
            </a:extLst>
          </p:cNvPr>
          <p:cNvPicPr>
            <a:picLocks noChangeAspect="1"/>
          </p:cNvPicPr>
          <p:nvPr/>
        </p:nvPicPr>
        <p:blipFill>
          <a:blip r:embed="rId3"/>
          <a:stretch>
            <a:fillRect/>
          </a:stretch>
        </p:blipFill>
        <p:spPr>
          <a:xfrm>
            <a:off x="1947816" y="1510712"/>
            <a:ext cx="1546621" cy="1384888"/>
          </a:xfrm>
          <a:prstGeom prst="rect">
            <a:avLst/>
          </a:prstGeom>
        </p:spPr>
      </p:pic>
      <p:sp>
        <p:nvSpPr>
          <p:cNvPr id="6" name="TextBox 5">
            <a:extLst>
              <a:ext uri="{FF2B5EF4-FFF2-40B4-BE49-F238E27FC236}">
                <a16:creationId xmlns:a16="http://schemas.microsoft.com/office/drawing/2014/main" id="{91D60F78-AFC3-4BA7-9029-EAD9AD9BD716}"/>
              </a:ext>
            </a:extLst>
          </p:cNvPr>
          <p:cNvSpPr txBox="1"/>
          <p:nvPr/>
        </p:nvSpPr>
        <p:spPr>
          <a:xfrm>
            <a:off x="391685" y="2992920"/>
            <a:ext cx="4658884" cy="3508653"/>
          </a:xfrm>
          <a:prstGeom prst="rect">
            <a:avLst/>
          </a:prstGeom>
          <a:noFill/>
        </p:spPr>
        <p:txBody>
          <a:bodyPr wrap="square" rtlCol="0">
            <a:spAutoFit/>
          </a:bodyPr>
          <a:lstStyle/>
          <a:p>
            <a:pPr algn="just"/>
            <a:r>
              <a:rPr lang="en-US" sz="1800" b="1" dirty="0">
                <a:solidFill>
                  <a:srgbClr val="4B4A4A"/>
                </a:solidFill>
                <a:latin typeface="+mj-lt"/>
                <a:ea typeface="Noto Serif SC Bold" pitchFamily="34" charset="-122"/>
                <a:cs typeface="Noto Serif SC Bold" pitchFamily="34" charset="-120"/>
              </a:rPr>
              <a:t>Rider Persona: Aisha Sharma</a:t>
            </a:r>
            <a:endParaRPr lang="en-US" sz="1800" dirty="0">
              <a:latin typeface="+mj-lt"/>
            </a:endParaRPr>
          </a:p>
          <a:p>
            <a:pPr algn="just"/>
            <a:endParaRPr lang="en-US" sz="800" dirty="0">
              <a:solidFill>
                <a:srgbClr val="4B4A4A"/>
              </a:solidFill>
              <a:ea typeface="Geist" pitchFamily="34" charset="-122"/>
              <a:cs typeface="Geist" pitchFamily="34" charset="-120"/>
            </a:endParaRPr>
          </a:p>
          <a:p>
            <a:pPr algn="just"/>
            <a:r>
              <a:rPr lang="en-US" sz="1200" dirty="0">
                <a:solidFill>
                  <a:srgbClr val="4B4A4A"/>
                </a:solidFill>
                <a:ea typeface="Geist" pitchFamily="34" charset="-122"/>
                <a:cs typeface="Geist" pitchFamily="34" charset="-120"/>
              </a:rPr>
              <a:t>Aisha, a vibrant 28-year-old marketing professional in Mumbai, often dedicates long hours to her ambitious career. However, her evenings are frequently shadowed by the persistent worry of finding safe and reliable transport home. She prioritizes her personal safety above all else, craving a service that not only offers convenience and dependability but also grants her profound peace of mind, allowing her to fully immerse herself in her professional aspirations without a moment's fear.</a:t>
            </a:r>
            <a:endParaRPr lang="en-US" sz="1200" dirty="0"/>
          </a:p>
          <a:p>
            <a:pPr algn="just"/>
            <a:r>
              <a:rPr lang="en-US" sz="1200" b="1" dirty="0">
                <a:solidFill>
                  <a:srgbClr val="4B4A4A"/>
                </a:solidFill>
                <a:ea typeface="Noto Serif SC Bold" pitchFamily="34" charset="-122"/>
                <a:cs typeface="Noto Serif SC Bold" pitchFamily="34" charset="-120"/>
              </a:rPr>
              <a:t>Goals</a:t>
            </a:r>
            <a:endParaRPr lang="en-US" sz="1200" dirty="0"/>
          </a:p>
          <a:p>
            <a:pPr marL="171450" indent="-171450" algn="just">
              <a:buFont typeface="Arial" panose="020B0604020202020204" pitchFamily="34" charset="0"/>
              <a:buChar char="•"/>
            </a:pPr>
            <a:r>
              <a:rPr lang="en-US" sz="1200" dirty="0">
                <a:solidFill>
                  <a:srgbClr val="4B4A4A"/>
                </a:solidFill>
                <a:ea typeface="Geist" pitchFamily="34" charset="-122"/>
                <a:cs typeface="Geist" pitchFamily="34" charset="-120"/>
              </a:rPr>
              <a:t>Achieve career ambitions and professional growth.</a:t>
            </a:r>
            <a:endParaRPr lang="en-US" sz="1200" dirty="0"/>
          </a:p>
          <a:p>
            <a:pPr marL="171450" indent="-171450" algn="just">
              <a:buFont typeface="Arial" panose="020B0604020202020204" pitchFamily="34" charset="0"/>
              <a:buChar char="•"/>
            </a:pPr>
            <a:r>
              <a:rPr lang="en-US" sz="1200" dirty="0">
                <a:solidFill>
                  <a:srgbClr val="4B4A4A"/>
                </a:solidFill>
                <a:ea typeface="Geist" pitchFamily="34" charset="-122"/>
                <a:cs typeface="Geist" pitchFamily="34" charset="-120"/>
              </a:rPr>
              <a:t>Maintain independence and control over her schedule.</a:t>
            </a:r>
            <a:endParaRPr lang="en-US" sz="1200" dirty="0"/>
          </a:p>
          <a:p>
            <a:pPr marL="171450" indent="-171450" algn="just">
              <a:buFont typeface="Arial" panose="020B0604020202020204" pitchFamily="34" charset="0"/>
              <a:buChar char="•"/>
            </a:pPr>
            <a:r>
              <a:rPr lang="en-US" sz="1200" dirty="0">
                <a:solidFill>
                  <a:srgbClr val="4B4A4A"/>
                </a:solidFill>
                <a:ea typeface="Geist" pitchFamily="34" charset="-122"/>
                <a:cs typeface="Geist" pitchFamily="34" charset="-120"/>
              </a:rPr>
              <a:t>Enjoy peace of mind knowing her commute is safe and reliable.</a:t>
            </a:r>
            <a:endParaRPr lang="en-US" sz="1200" dirty="0"/>
          </a:p>
          <a:p>
            <a:pPr algn="just"/>
            <a:r>
              <a:rPr lang="en-US" sz="1200" b="1" dirty="0">
                <a:solidFill>
                  <a:srgbClr val="4B4A4A"/>
                </a:solidFill>
                <a:ea typeface="Noto Serif SC Bold" pitchFamily="34" charset="-122"/>
                <a:cs typeface="Noto Serif SC Bold" pitchFamily="34" charset="-120"/>
              </a:rPr>
              <a:t>Pain Points</a:t>
            </a:r>
            <a:endParaRPr lang="en-US" sz="1200" dirty="0"/>
          </a:p>
          <a:p>
            <a:pPr marL="171450" indent="-171450" algn="just">
              <a:buFont typeface="Arial" panose="020B0604020202020204" pitchFamily="34" charset="0"/>
              <a:buChar char="•"/>
            </a:pPr>
            <a:r>
              <a:rPr lang="en-US" sz="1200" dirty="0">
                <a:solidFill>
                  <a:srgbClr val="4B4A4A"/>
                </a:solidFill>
                <a:ea typeface="Geist" pitchFamily="34" charset="-122"/>
                <a:cs typeface="Geist" pitchFamily="34" charset="-120"/>
              </a:rPr>
              <a:t>Constant worry about personal safety during commutes, especially at night.</a:t>
            </a:r>
            <a:endParaRPr lang="en-US" sz="1200" dirty="0"/>
          </a:p>
          <a:p>
            <a:pPr marL="171450" indent="-171450" algn="just">
              <a:buFont typeface="Arial" panose="020B0604020202020204" pitchFamily="34" charset="0"/>
              <a:buChar char="•"/>
            </a:pPr>
            <a:r>
              <a:rPr lang="en-US" sz="1200" dirty="0">
                <a:solidFill>
                  <a:srgbClr val="4B4A4A"/>
                </a:solidFill>
                <a:ea typeface="Geist" pitchFamily="34" charset="-122"/>
                <a:cs typeface="Geist" pitchFamily="34" charset="-120"/>
              </a:rPr>
              <a:t>Frustration with unreliable and unpredictable transportation services.</a:t>
            </a:r>
            <a:endParaRPr lang="en-US" sz="1200" dirty="0"/>
          </a:p>
          <a:p>
            <a:pPr marL="171450" indent="-171450" algn="just">
              <a:buFont typeface="Arial" panose="020B0604020202020204" pitchFamily="34" charset="0"/>
              <a:buChar char="•"/>
            </a:pPr>
            <a:r>
              <a:rPr lang="en-US" sz="1200" dirty="0">
                <a:solidFill>
                  <a:srgbClr val="4B4A4A"/>
                </a:solidFill>
                <a:ea typeface="Geist" pitchFamily="34" charset="-122"/>
                <a:cs typeface="Geist" pitchFamily="34" charset="-120"/>
              </a:rPr>
              <a:t>Wasted time waiting for rides, impacting work-life balance.</a:t>
            </a:r>
            <a:endParaRPr lang="en-US" sz="1200" dirty="0"/>
          </a:p>
        </p:txBody>
      </p:sp>
      <p:pic>
        <p:nvPicPr>
          <p:cNvPr id="9" name="Image 1" descr="preencoded.png">
            <a:extLst>
              <a:ext uri="{FF2B5EF4-FFF2-40B4-BE49-F238E27FC236}">
                <a16:creationId xmlns:a16="http://schemas.microsoft.com/office/drawing/2014/main" id="{F4B50BE3-FD3C-4E31-98D5-F1440509BBCA}"/>
              </a:ext>
            </a:extLst>
          </p:cNvPr>
          <p:cNvPicPr>
            <a:picLocks noChangeAspect="1"/>
          </p:cNvPicPr>
          <p:nvPr/>
        </p:nvPicPr>
        <p:blipFill>
          <a:blip r:embed="rId4"/>
          <a:stretch>
            <a:fillRect/>
          </a:stretch>
        </p:blipFill>
        <p:spPr>
          <a:xfrm>
            <a:off x="8963741" y="1510712"/>
            <a:ext cx="1546621" cy="1384888"/>
          </a:xfrm>
          <a:prstGeom prst="rect">
            <a:avLst/>
          </a:prstGeom>
        </p:spPr>
      </p:pic>
      <p:sp>
        <p:nvSpPr>
          <p:cNvPr id="8" name="TextBox 7">
            <a:extLst>
              <a:ext uri="{FF2B5EF4-FFF2-40B4-BE49-F238E27FC236}">
                <a16:creationId xmlns:a16="http://schemas.microsoft.com/office/drawing/2014/main" id="{ADECF8D4-02AF-499C-A396-AE771C69E421}"/>
              </a:ext>
            </a:extLst>
          </p:cNvPr>
          <p:cNvSpPr txBox="1"/>
          <p:nvPr/>
        </p:nvSpPr>
        <p:spPr>
          <a:xfrm>
            <a:off x="7407610" y="2992920"/>
            <a:ext cx="4658884" cy="3770263"/>
          </a:xfrm>
          <a:prstGeom prst="rect">
            <a:avLst/>
          </a:prstGeom>
          <a:noFill/>
        </p:spPr>
        <p:txBody>
          <a:bodyPr wrap="square" rtlCol="0">
            <a:spAutoFit/>
          </a:bodyPr>
          <a:lstStyle/>
          <a:p>
            <a:pPr algn="just"/>
            <a:r>
              <a:rPr lang="en-US" sz="1800" b="1" dirty="0">
                <a:solidFill>
                  <a:srgbClr val="4B4A4A"/>
                </a:solidFill>
                <a:latin typeface="+mj-lt"/>
                <a:ea typeface="Noto Serif SC Bold" pitchFamily="34" charset="-122"/>
                <a:cs typeface="Noto Serif SC Bold" pitchFamily="34" charset="-120"/>
              </a:rPr>
              <a:t>Driver Persona: Priya Devi</a:t>
            </a:r>
            <a:endParaRPr lang="en-US" sz="1800" dirty="0">
              <a:latin typeface="+mj-lt"/>
            </a:endParaRPr>
          </a:p>
          <a:p>
            <a:pPr algn="just"/>
            <a:endParaRPr lang="en-US" sz="800" dirty="0">
              <a:solidFill>
                <a:srgbClr val="4B4A4A"/>
              </a:solidFill>
              <a:ea typeface="Geist" pitchFamily="34" charset="-122"/>
              <a:cs typeface="Geist" pitchFamily="34" charset="-120"/>
            </a:endParaRPr>
          </a:p>
          <a:p>
            <a:pPr algn="just"/>
            <a:r>
              <a:rPr lang="en-US" sz="1300" dirty="0">
                <a:solidFill>
                  <a:srgbClr val="4B4A4A"/>
                </a:solidFill>
                <a:ea typeface="Geist" pitchFamily="34" charset="-122"/>
                <a:cs typeface="Geist" pitchFamily="34" charset="-120"/>
              </a:rPr>
              <a:t>Priya, a resilient 45-year-old mother of two from Delhi, is an experienced driver driven by the desire to provide for her family. She actively seeks a flexible income source that offers not just fair pay, but also genuine respect and a safe, empowering working environment. Her dedication and reliability are unwavering, as she eagerly contributes to her family's well-being, all while feeling secure and supported on every journey. </a:t>
            </a:r>
            <a:endParaRPr lang="en-US" sz="1300" dirty="0"/>
          </a:p>
          <a:p>
            <a:pPr algn="just"/>
            <a:r>
              <a:rPr lang="en-US" sz="1300" b="1" dirty="0">
                <a:solidFill>
                  <a:srgbClr val="4B4A4A"/>
                </a:solidFill>
                <a:ea typeface="Noto Serif SC Bold" pitchFamily="34" charset="-122"/>
                <a:cs typeface="Noto Serif SC Bold" pitchFamily="34" charset="-120"/>
              </a:rPr>
              <a:t>Goals</a:t>
            </a:r>
            <a:endParaRPr lang="en-US" sz="1300" dirty="0"/>
          </a:p>
          <a:p>
            <a:pPr marL="285750" indent="-285750" algn="just">
              <a:buFont typeface="Arial" panose="020B0604020202020204" pitchFamily="34" charset="0"/>
              <a:buChar char="•"/>
            </a:pPr>
            <a:r>
              <a:rPr lang="en-US" sz="1300" dirty="0">
                <a:solidFill>
                  <a:srgbClr val="4B4A4A"/>
                </a:solidFill>
                <a:ea typeface="Geist" pitchFamily="34" charset="-122"/>
                <a:cs typeface="Geist" pitchFamily="34" charset="-120"/>
              </a:rPr>
              <a:t>Ensure financial stability and provide for her family's needs.</a:t>
            </a:r>
            <a:endParaRPr lang="en-US" sz="1300" dirty="0"/>
          </a:p>
          <a:p>
            <a:pPr marL="285750" indent="-285750" algn="just">
              <a:buFont typeface="Arial" panose="020B0604020202020204" pitchFamily="34" charset="0"/>
              <a:buChar char="•"/>
            </a:pPr>
            <a:r>
              <a:rPr lang="en-US" sz="1300" dirty="0">
                <a:solidFill>
                  <a:srgbClr val="4B4A4A"/>
                </a:solidFill>
                <a:ea typeface="Geist" pitchFamily="34" charset="-122"/>
                <a:cs typeface="Geist" pitchFamily="34" charset="-120"/>
              </a:rPr>
              <a:t>Gain respect and recognition for her professional driving skills.</a:t>
            </a:r>
            <a:endParaRPr lang="en-US" sz="1300" dirty="0"/>
          </a:p>
          <a:p>
            <a:pPr marL="285750" indent="-285750" algn="just">
              <a:buFont typeface="Arial" panose="020B0604020202020204" pitchFamily="34" charset="0"/>
              <a:buChar char="•"/>
            </a:pPr>
            <a:r>
              <a:rPr lang="en-US" sz="1300" dirty="0">
                <a:solidFill>
                  <a:srgbClr val="4B4A4A"/>
                </a:solidFill>
                <a:ea typeface="Geist" pitchFamily="34" charset="-122"/>
                <a:cs typeface="Geist" pitchFamily="34" charset="-120"/>
              </a:rPr>
              <a:t>Work in a safe, supportive, and empowering environment.</a:t>
            </a:r>
            <a:endParaRPr lang="en-US" sz="1300" dirty="0"/>
          </a:p>
          <a:p>
            <a:pPr algn="just"/>
            <a:r>
              <a:rPr lang="en-US" sz="1300" b="1" dirty="0">
                <a:solidFill>
                  <a:srgbClr val="4B4A4A"/>
                </a:solidFill>
                <a:ea typeface="Noto Serif SC Bold" pitchFamily="34" charset="-122"/>
                <a:cs typeface="Noto Serif SC Bold" pitchFamily="34" charset="-120"/>
              </a:rPr>
              <a:t>Pain Points</a:t>
            </a:r>
            <a:endParaRPr lang="en-US" sz="1300" dirty="0"/>
          </a:p>
          <a:p>
            <a:pPr marL="285750" indent="-285750" algn="just">
              <a:buFont typeface="Arial" panose="020B0604020202020204" pitchFamily="34" charset="0"/>
              <a:buChar char="•"/>
            </a:pPr>
            <a:r>
              <a:rPr lang="en-US" sz="1300" dirty="0">
                <a:solidFill>
                  <a:srgbClr val="4B4A4A"/>
                </a:solidFill>
                <a:ea typeface="Geist" pitchFamily="34" charset="-122"/>
                <a:cs typeface="Geist" pitchFamily="34" charset="-120"/>
              </a:rPr>
              <a:t>Income instability and unpredictable earnings from current opportunities.</a:t>
            </a:r>
            <a:endParaRPr lang="en-US" sz="1300" dirty="0"/>
          </a:p>
          <a:p>
            <a:pPr marL="285750" indent="-285750" algn="just">
              <a:buFont typeface="Arial" panose="020B0604020202020204" pitchFamily="34" charset="0"/>
              <a:buChar char="•"/>
            </a:pPr>
            <a:r>
              <a:rPr lang="en-US" sz="1300" dirty="0">
                <a:solidFill>
                  <a:srgbClr val="4B4A4A"/>
                </a:solidFill>
                <a:ea typeface="Geist" pitchFamily="34" charset="-122"/>
                <a:cs typeface="Geist" pitchFamily="34" charset="-120"/>
              </a:rPr>
              <a:t>Exposure to unsafe working conditions and lack of security.</a:t>
            </a:r>
            <a:endParaRPr lang="en-US" sz="1300" dirty="0"/>
          </a:p>
          <a:p>
            <a:pPr marL="285750" indent="-285750" algn="just">
              <a:buFont typeface="Arial" panose="020B0604020202020204" pitchFamily="34" charset="0"/>
              <a:buChar char="•"/>
            </a:pPr>
            <a:r>
              <a:rPr lang="en-US" sz="1300" dirty="0">
                <a:solidFill>
                  <a:srgbClr val="4B4A4A"/>
                </a:solidFill>
                <a:ea typeface="Geist" pitchFamily="34" charset="-122"/>
                <a:cs typeface="Geist" pitchFamily="34" charset="-120"/>
              </a:rPr>
              <a:t>Lack of fair treatment in male-dominated transportation sectors</a:t>
            </a:r>
            <a:r>
              <a:rPr lang="en-US" sz="1200" dirty="0">
                <a:solidFill>
                  <a:srgbClr val="4B4A4A"/>
                </a:solidFill>
                <a:ea typeface="Geist" pitchFamily="34" charset="-122"/>
                <a:cs typeface="Geist" pitchFamily="34" charset="-120"/>
              </a:rPr>
              <a:t>.</a:t>
            </a:r>
            <a:endParaRPr lang="en-US" sz="1200" dirty="0"/>
          </a:p>
        </p:txBody>
      </p:sp>
    </p:spTree>
    <p:extLst>
      <p:ext uri="{BB962C8B-B14F-4D97-AF65-F5344CB8AC3E}">
        <p14:creationId xmlns:p14="http://schemas.microsoft.com/office/powerpoint/2010/main" val="4266492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5477435" y="1281953"/>
            <a:ext cx="5624709" cy="618565"/>
          </a:xfrm>
        </p:spPr>
        <p:txBody>
          <a:bodyPr anchor="b"/>
          <a:lstStyle/>
          <a:p>
            <a:r>
              <a:rPr lang="en-US" dirty="0">
                <a:solidFill>
                  <a:srgbClr val="543E34"/>
                </a:solidFill>
              </a:rPr>
              <a:t>Vision</a:t>
            </a:r>
          </a:p>
        </p:txBody>
      </p:sp>
      <p:sp>
        <p:nvSpPr>
          <p:cNvPr id="11" name="Content Placeholder 10">
            <a:extLst>
              <a:ext uri="{FF2B5EF4-FFF2-40B4-BE49-F238E27FC236}">
                <a16:creationId xmlns:a16="http://schemas.microsoft.com/office/drawing/2014/main" id="{000EBDF4-3413-FCF9-2E25-9A254A61F23E}"/>
              </a:ext>
            </a:extLst>
          </p:cNvPr>
          <p:cNvSpPr>
            <a:spLocks noGrp="1"/>
          </p:cNvSpPr>
          <p:nvPr>
            <p:ph idx="10"/>
          </p:nvPr>
        </p:nvSpPr>
        <p:spPr>
          <a:xfrm>
            <a:off x="5477435" y="2404692"/>
            <a:ext cx="6104965" cy="3350649"/>
          </a:xfrm>
        </p:spPr>
        <p:txBody>
          <a:bodyPr/>
          <a:lstStyle/>
          <a:p>
            <a:r>
              <a:rPr lang="en-US" sz="1800" cap="none" dirty="0">
                <a:solidFill>
                  <a:srgbClr val="543E34"/>
                </a:solidFill>
                <a:effectLst/>
              </a:rPr>
              <a:t>Her ride aims to transform women’s mobility in India by building a transportation ecosystem where safety, dignity, and empowerment are non-negotiable. Our mission is to enable every woman—students, professionals, mothers, and travelers—to move confidently at any hour, without fear or hesitation.</a:t>
            </a:r>
          </a:p>
          <a:p>
            <a:r>
              <a:rPr lang="en-US" sz="1800" cap="none" dirty="0">
                <a:solidFill>
                  <a:srgbClr val="543E34"/>
                </a:solidFill>
                <a:effectLst/>
              </a:rPr>
              <a:t>We strive to create a women-driven network that not only offers secure and reliable rides but also empowers women drivers with meaningful livelihood opportunities. By combining safety-focused technology, trust-centered design, and a supportive community, her ride seeks to redefine urban travel and contribute to a more inclusive, equitable society where mobility becomes a gateway to independence and economic growth for all women.</a:t>
            </a:r>
          </a:p>
        </p:txBody>
      </p:sp>
      <p:pic>
        <p:nvPicPr>
          <p:cNvPr id="12" name="Picture Placeholder 11">
            <a:extLst>
              <a:ext uri="{FF2B5EF4-FFF2-40B4-BE49-F238E27FC236}">
                <a16:creationId xmlns:a16="http://schemas.microsoft.com/office/drawing/2014/main" id="{AB14D1D6-A996-4F8A-9AA8-651A37B1DC15}"/>
              </a:ext>
            </a:extLst>
          </p:cNvPr>
          <p:cNvPicPr>
            <a:picLocks noGrp="1" noChangeAspect="1"/>
          </p:cNvPicPr>
          <p:nvPr>
            <p:ph type="pic" sz="quarter" idx="11"/>
          </p:nvPr>
        </p:nvPicPr>
        <p:blipFill>
          <a:blip r:embed="rId3"/>
          <a:srcRect t="970" b="970"/>
          <a:stretch>
            <a:fillRect/>
          </a:stretch>
        </p:blipFill>
        <p:spPr/>
      </p:pic>
    </p:spTree>
    <p:extLst>
      <p:ext uri="{BB962C8B-B14F-4D97-AF65-F5344CB8AC3E}">
        <p14:creationId xmlns:p14="http://schemas.microsoft.com/office/powerpoint/2010/main" val="520000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645458" y="82297"/>
            <a:ext cx="7534656" cy="547912"/>
          </a:xfrm>
        </p:spPr>
        <p:txBody>
          <a:bodyPr/>
          <a:lstStyle/>
          <a:p>
            <a:r>
              <a:rPr lang="en-US" sz="3600" dirty="0"/>
              <a:t>Product market fit</a:t>
            </a:r>
          </a:p>
        </p:txBody>
      </p:sp>
      <p:graphicFrame>
        <p:nvGraphicFramePr>
          <p:cNvPr id="2" name="Table 2">
            <a:extLst>
              <a:ext uri="{FF2B5EF4-FFF2-40B4-BE49-F238E27FC236}">
                <a16:creationId xmlns:a16="http://schemas.microsoft.com/office/drawing/2014/main" id="{77D87454-C811-4D4F-9567-514713CE8A21}"/>
              </a:ext>
            </a:extLst>
          </p:cNvPr>
          <p:cNvGraphicFramePr>
            <a:graphicFrameLocks noGrp="1"/>
          </p:cNvGraphicFramePr>
          <p:nvPr>
            <p:extLst>
              <p:ext uri="{D42A27DB-BD31-4B8C-83A1-F6EECF244321}">
                <p14:modId xmlns:p14="http://schemas.microsoft.com/office/powerpoint/2010/main" val="211007128"/>
              </p:ext>
            </p:extLst>
          </p:nvPr>
        </p:nvGraphicFramePr>
        <p:xfrm>
          <a:off x="215153" y="630209"/>
          <a:ext cx="11761694" cy="5989320"/>
        </p:xfrm>
        <a:graphic>
          <a:graphicData uri="http://schemas.openxmlformats.org/drawingml/2006/table">
            <a:tbl>
              <a:tblPr firstRow="1" bandRow="1">
                <a:tableStyleId>{0E3FDE45-AF77-4B5C-9715-49D594BDF05E}</a:tableStyleId>
              </a:tblPr>
              <a:tblGrid>
                <a:gridCol w="2232212">
                  <a:extLst>
                    <a:ext uri="{9D8B030D-6E8A-4147-A177-3AD203B41FA5}">
                      <a16:colId xmlns:a16="http://schemas.microsoft.com/office/drawing/2014/main" val="2370297125"/>
                    </a:ext>
                  </a:extLst>
                </a:gridCol>
                <a:gridCol w="3173506">
                  <a:extLst>
                    <a:ext uri="{9D8B030D-6E8A-4147-A177-3AD203B41FA5}">
                      <a16:colId xmlns:a16="http://schemas.microsoft.com/office/drawing/2014/main" val="2383129212"/>
                    </a:ext>
                  </a:extLst>
                </a:gridCol>
                <a:gridCol w="3227294">
                  <a:extLst>
                    <a:ext uri="{9D8B030D-6E8A-4147-A177-3AD203B41FA5}">
                      <a16:colId xmlns:a16="http://schemas.microsoft.com/office/drawing/2014/main" val="1933450620"/>
                    </a:ext>
                  </a:extLst>
                </a:gridCol>
                <a:gridCol w="3128682">
                  <a:extLst>
                    <a:ext uri="{9D8B030D-6E8A-4147-A177-3AD203B41FA5}">
                      <a16:colId xmlns:a16="http://schemas.microsoft.com/office/drawing/2014/main" val="1586503685"/>
                    </a:ext>
                  </a:extLst>
                </a:gridCol>
              </a:tblGrid>
              <a:tr h="333223">
                <a:tc>
                  <a:txBody>
                    <a:bodyPr/>
                    <a:lstStyle/>
                    <a:p>
                      <a:r>
                        <a:rPr lang="en-US" sz="1600" dirty="0"/>
                        <a:t>Levers</a:t>
                      </a:r>
                      <a:endParaRPr lang="en-IN" sz="16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543E34"/>
                          </a:solidFill>
                          <a:effectLst/>
                        </a:rPr>
                        <a:t>Key Assumptions</a:t>
                      </a: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543E34"/>
                          </a:solidFill>
                          <a:effectLst/>
                        </a:rPr>
                        <a:t>High-Level Requirements</a:t>
                      </a: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543E34"/>
                          </a:solidFill>
                          <a:effectLst/>
                        </a:rPr>
                        <a:t>Plan in Discovery</a:t>
                      </a:r>
                    </a:p>
                  </a:txBody>
                  <a:tcPr>
                    <a:solidFill>
                      <a:schemeClr val="accent2">
                        <a:lumMod val="40000"/>
                        <a:lumOff val="60000"/>
                      </a:schemeClr>
                    </a:solidFill>
                  </a:tcPr>
                </a:tc>
                <a:extLst>
                  <a:ext uri="{0D108BD9-81ED-4DB2-BD59-A6C34878D82A}">
                    <a16:rowId xmlns:a16="http://schemas.microsoft.com/office/drawing/2014/main" val="4256154298"/>
                  </a:ext>
                </a:extLst>
              </a:tr>
              <a:tr h="1257158">
                <a:tc>
                  <a:txBody>
                    <a:bodyPr/>
                    <a:lstStyle/>
                    <a:p>
                      <a:pPr marL="0" indent="0">
                        <a:spcBef>
                          <a:spcPts val="0"/>
                        </a:spcBef>
                        <a:buNone/>
                      </a:pPr>
                      <a:r>
                        <a:rPr lang="en-US" sz="1100" b="1" dirty="0">
                          <a:solidFill>
                            <a:srgbClr val="543E34"/>
                          </a:solidFill>
                          <a:effectLst/>
                        </a:rPr>
                        <a:t>Lever 1: Safety &amp; Trust</a:t>
                      </a:r>
                    </a:p>
                    <a:p>
                      <a:pPr marL="0" indent="0">
                        <a:spcBef>
                          <a:spcPts val="0"/>
                        </a:spcBef>
                        <a:buNone/>
                      </a:pPr>
                      <a:r>
                        <a:rPr lang="en-US" sz="1100" dirty="0">
                          <a:solidFill>
                            <a:srgbClr val="543E34"/>
                          </a:solidFill>
                          <a:effectLst/>
                        </a:rPr>
                        <a:t>Women repeatedly emphasized safety as their top priority. Trust in the platform and the driver is the decisive factor for adoption.</a:t>
                      </a:r>
                    </a:p>
                  </a:txBody>
                  <a:tcPr>
                    <a:solidFill>
                      <a:schemeClr val="accent2">
                        <a:lumMod val="40000"/>
                        <a:lumOff val="60000"/>
                      </a:schemeClr>
                    </a:solidFill>
                  </a:tcPr>
                </a:tc>
                <a:tc>
                  <a:txBody>
                    <a:bodyPr/>
                    <a:lstStyle/>
                    <a:p>
                      <a:pPr marL="254000" indent="-254000">
                        <a:spcBef>
                          <a:spcPts val="0"/>
                        </a:spcBef>
                        <a:buFont typeface="Arial" panose="020B0604020202020204" pitchFamily="34" charset="0"/>
                        <a:buChar char="•"/>
                      </a:pPr>
                      <a:r>
                        <a:rPr lang="en-US" sz="1100" dirty="0">
                          <a:solidFill>
                            <a:srgbClr val="543E34"/>
                          </a:solidFill>
                          <a:effectLst/>
                        </a:rPr>
                        <a:t>Women will shift to a new ride service only if it provides a safer, more trusted environment than existing apps.</a:t>
                      </a:r>
                    </a:p>
                    <a:p>
                      <a:pPr marL="254000" indent="-254000">
                        <a:spcBef>
                          <a:spcPts val="0"/>
                        </a:spcBef>
                        <a:buFont typeface="Arial" panose="020B0604020202020204" pitchFamily="34" charset="0"/>
                        <a:buChar char="•"/>
                      </a:pPr>
                      <a:r>
                        <a:rPr lang="en-US" sz="1100" dirty="0">
                          <a:solidFill>
                            <a:srgbClr val="543E34"/>
                          </a:solidFill>
                          <a:effectLst/>
                        </a:rPr>
                        <a:t>A women-driven model increases perceived and actual safety.</a:t>
                      </a:r>
                    </a:p>
                    <a:p>
                      <a:pPr marL="254000" indent="-254000">
                        <a:spcBef>
                          <a:spcPts val="0"/>
                        </a:spcBef>
                        <a:buFont typeface="Arial" panose="020B0604020202020204" pitchFamily="34" charset="0"/>
                        <a:buChar char="•"/>
                      </a:pPr>
                      <a:r>
                        <a:rPr lang="en-US" sz="1100" dirty="0">
                          <a:solidFill>
                            <a:srgbClr val="543E34"/>
                          </a:solidFill>
                          <a:effectLst/>
                        </a:rPr>
                        <a:t>Real-time emergency features are expected, not optional.</a:t>
                      </a:r>
                    </a:p>
                  </a:txBody>
                  <a:tcPr>
                    <a:solidFill>
                      <a:schemeClr val="accent2">
                        <a:lumMod val="40000"/>
                        <a:lumOff val="60000"/>
                      </a:schemeClr>
                    </a:solidFill>
                  </a:tcPr>
                </a:tc>
                <a:tc>
                  <a:txBody>
                    <a:bodyPr/>
                    <a:lstStyle/>
                    <a:p>
                      <a:pPr marL="254000" indent="-254000">
                        <a:spcBef>
                          <a:spcPts val="0"/>
                        </a:spcBef>
                        <a:buFont typeface="Arial" panose="020B0604020202020204" pitchFamily="34" charset="0"/>
                        <a:buChar char="•"/>
                      </a:pPr>
                      <a:r>
                        <a:rPr lang="en-US" sz="1100" dirty="0">
                          <a:solidFill>
                            <a:srgbClr val="543E34"/>
                          </a:solidFill>
                          <a:effectLst/>
                        </a:rPr>
                        <a:t>Women-only driver onboarding (ID verification, police verification).</a:t>
                      </a:r>
                    </a:p>
                    <a:p>
                      <a:pPr marL="254000" indent="-254000">
                        <a:spcBef>
                          <a:spcPts val="0"/>
                        </a:spcBef>
                        <a:buFont typeface="Arial" panose="020B0604020202020204" pitchFamily="34" charset="0"/>
                        <a:buChar char="•"/>
                      </a:pPr>
                      <a:r>
                        <a:rPr lang="en-US" sz="1100" dirty="0">
                          <a:solidFill>
                            <a:srgbClr val="543E34"/>
                          </a:solidFill>
                          <a:effectLst/>
                        </a:rPr>
                        <a:t>Real-time ride tracking with SOS integrated with emergency contacts.</a:t>
                      </a:r>
                    </a:p>
                    <a:p>
                      <a:pPr marL="254000" indent="-254000">
                        <a:spcBef>
                          <a:spcPts val="0"/>
                        </a:spcBef>
                        <a:buFont typeface="Arial" panose="020B0604020202020204" pitchFamily="34" charset="0"/>
                        <a:buChar char="•"/>
                      </a:pPr>
                      <a:r>
                        <a:rPr lang="en-US" sz="1100" dirty="0">
                          <a:solidFill>
                            <a:srgbClr val="543E34"/>
                          </a:solidFill>
                          <a:effectLst/>
                        </a:rPr>
                        <a:t>Driver behavior ratings and transparent profiles.</a:t>
                      </a:r>
                    </a:p>
                  </a:txBody>
                  <a:tcPr>
                    <a:solidFill>
                      <a:schemeClr val="accent2">
                        <a:lumMod val="40000"/>
                        <a:lumOff val="60000"/>
                      </a:schemeClr>
                    </a:solidFill>
                  </a:tcPr>
                </a:tc>
                <a:tc>
                  <a:txBody>
                    <a:bodyPr/>
                    <a:lstStyle/>
                    <a:p>
                      <a:pPr marL="254000" indent="-254000">
                        <a:spcBef>
                          <a:spcPts val="0"/>
                        </a:spcBef>
                        <a:buFont typeface="Arial" panose="020B0604020202020204" pitchFamily="34" charset="0"/>
                        <a:buChar char="•"/>
                      </a:pPr>
                      <a:r>
                        <a:rPr lang="en-US" sz="1100" dirty="0">
                          <a:solidFill>
                            <a:srgbClr val="543E34"/>
                          </a:solidFill>
                          <a:effectLst/>
                        </a:rPr>
                        <a:t>Conduct shadow interviews of women commuters and female drivers.</a:t>
                      </a:r>
                    </a:p>
                    <a:p>
                      <a:pPr marL="254000" indent="-254000">
                        <a:spcBef>
                          <a:spcPts val="0"/>
                        </a:spcBef>
                        <a:buFont typeface="Arial" panose="020B0604020202020204" pitchFamily="34" charset="0"/>
                        <a:buChar char="•"/>
                      </a:pPr>
                      <a:r>
                        <a:rPr lang="en-US" sz="1100" dirty="0">
                          <a:solidFill>
                            <a:srgbClr val="543E34"/>
                          </a:solidFill>
                          <a:effectLst/>
                        </a:rPr>
                        <a:t>Prototype emergency UI flows and test reactions to ensure clarity and usability under stress.</a:t>
                      </a:r>
                    </a:p>
                    <a:p>
                      <a:pPr marL="254000" indent="-254000">
                        <a:spcBef>
                          <a:spcPts val="0"/>
                        </a:spcBef>
                        <a:buFont typeface="Arial" panose="020B0604020202020204" pitchFamily="34" charset="0"/>
                        <a:buChar char="•"/>
                      </a:pPr>
                      <a:r>
                        <a:rPr lang="en-US" sz="1100" dirty="0">
                          <a:solidFill>
                            <a:srgbClr val="543E34"/>
                          </a:solidFill>
                          <a:effectLst/>
                        </a:rPr>
                        <a:t>Validate willingness to choose female drivers even at a slightly higher fare.</a:t>
                      </a:r>
                    </a:p>
                  </a:txBody>
                  <a:tcPr>
                    <a:solidFill>
                      <a:schemeClr val="accent2">
                        <a:lumMod val="40000"/>
                        <a:lumOff val="60000"/>
                      </a:schemeClr>
                    </a:solidFill>
                  </a:tcPr>
                </a:tc>
                <a:extLst>
                  <a:ext uri="{0D108BD9-81ED-4DB2-BD59-A6C34878D82A}">
                    <a16:rowId xmlns:a16="http://schemas.microsoft.com/office/drawing/2014/main" val="709224749"/>
                  </a:ext>
                </a:extLst>
              </a:tr>
              <a:tr h="1090546">
                <a:tc>
                  <a:txBody>
                    <a:bodyPr/>
                    <a:lstStyle/>
                    <a:p>
                      <a:pPr marL="0" indent="0">
                        <a:spcBef>
                          <a:spcPts val="0"/>
                        </a:spcBef>
                        <a:buNone/>
                      </a:pPr>
                      <a:r>
                        <a:rPr lang="en-US" sz="1100" b="1" dirty="0">
                          <a:solidFill>
                            <a:srgbClr val="543E34"/>
                          </a:solidFill>
                          <a:effectLst/>
                        </a:rPr>
                        <a:t>Lever 2: Reliability &amp; Service Quality</a:t>
                      </a:r>
                    </a:p>
                    <a:p>
                      <a:pPr marL="0" indent="0">
                        <a:spcBef>
                          <a:spcPts val="0"/>
                        </a:spcBef>
                        <a:buNone/>
                      </a:pPr>
                      <a:r>
                        <a:rPr lang="en-US" sz="1100" dirty="0">
                          <a:solidFill>
                            <a:srgbClr val="543E34"/>
                          </a:solidFill>
                          <a:effectLst/>
                        </a:rPr>
                        <a:t>Women want predictable, clean, and comfortable rides—issues often missing in current services.</a:t>
                      </a:r>
                    </a:p>
                  </a:txBody>
                  <a:tcPr>
                    <a:solidFill>
                      <a:schemeClr val="accent2">
                        <a:lumMod val="40000"/>
                        <a:lumOff val="60000"/>
                      </a:schemeClr>
                    </a:solidFill>
                  </a:tcPr>
                </a:tc>
                <a:tc>
                  <a:txBody>
                    <a:bodyPr/>
                    <a:lstStyle/>
                    <a:p>
                      <a:pPr marL="254000" indent="-254000">
                        <a:spcBef>
                          <a:spcPts val="0"/>
                        </a:spcBef>
                        <a:buFont typeface="Arial" panose="020B0604020202020204" pitchFamily="34" charset="0"/>
                        <a:buChar char="•"/>
                      </a:pPr>
                      <a:r>
                        <a:rPr lang="en-US" sz="1100" dirty="0">
                          <a:solidFill>
                            <a:srgbClr val="543E34"/>
                          </a:solidFill>
                          <a:effectLst/>
                        </a:rPr>
                        <a:t>Clean, well-maintained vehicles significantly improve trust and perceived safety.</a:t>
                      </a:r>
                    </a:p>
                    <a:p>
                      <a:pPr marL="254000" indent="-254000">
                        <a:spcBef>
                          <a:spcPts val="0"/>
                        </a:spcBef>
                        <a:buFont typeface="Arial" panose="020B0604020202020204" pitchFamily="34" charset="0"/>
                        <a:buChar char="•"/>
                      </a:pPr>
                      <a:r>
                        <a:rPr lang="en-US" sz="1100" dirty="0">
                          <a:solidFill>
                            <a:srgbClr val="543E34"/>
                          </a:solidFill>
                          <a:effectLst/>
                        </a:rPr>
                        <a:t>Women prefer predictable ETAs and assured availability during peak hours or late nights.</a:t>
                      </a:r>
                    </a:p>
                    <a:p>
                      <a:pPr marL="254000" indent="-254000">
                        <a:spcBef>
                          <a:spcPts val="0"/>
                        </a:spcBef>
                        <a:buFont typeface="Arial" panose="020B0604020202020204" pitchFamily="34" charset="0"/>
                        <a:buChar char="•"/>
                      </a:pPr>
                      <a:r>
                        <a:rPr lang="en-US" sz="1100" dirty="0">
                          <a:solidFill>
                            <a:srgbClr val="543E34"/>
                          </a:solidFill>
                          <a:effectLst/>
                        </a:rPr>
                        <a:t>Transparent pricing reduces anxiety and builds loyalty.</a:t>
                      </a:r>
                    </a:p>
                  </a:txBody>
                  <a:tcPr>
                    <a:solidFill>
                      <a:schemeClr val="accent2">
                        <a:lumMod val="40000"/>
                        <a:lumOff val="60000"/>
                      </a:schemeClr>
                    </a:solidFill>
                  </a:tcPr>
                </a:tc>
                <a:tc>
                  <a:txBody>
                    <a:bodyPr/>
                    <a:lstStyle/>
                    <a:p>
                      <a:pPr marL="254000" indent="-254000">
                        <a:spcBef>
                          <a:spcPts val="0"/>
                        </a:spcBef>
                        <a:buFont typeface="Arial" panose="020B0604020202020204" pitchFamily="34" charset="0"/>
                        <a:buChar char="•"/>
                      </a:pPr>
                      <a:r>
                        <a:rPr lang="en-US" sz="1100" dirty="0">
                          <a:solidFill>
                            <a:srgbClr val="543E34"/>
                          </a:solidFill>
                          <a:effectLst/>
                        </a:rPr>
                        <a:t>Vehicle check standards and periodic inspections.</a:t>
                      </a:r>
                    </a:p>
                    <a:p>
                      <a:pPr marL="254000" indent="-254000">
                        <a:spcBef>
                          <a:spcPts val="0"/>
                        </a:spcBef>
                        <a:buFont typeface="Arial" panose="020B0604020202020204" pitchFamily="34" charset="0"/>
                        <a:buChar char="•"/>
                      </a:pPr>
                      <a:r>
                        <a:rPr lang="en-US" sz="1100" dirty="0">
                          <a:solidFill>
                            <a:srgbClr val="543E34"/>
                          </a:solidFill>
                          <a:effectLst/>
                        </a:rPr>
                        <a:t>Cleanliness score and incentives for high-scoring drivers.</a:t>
                      </a:r>
                    </a:p>
                    <a:p>
                      <a:pPr marL="254000" indent="-254000">
                        <a:spcBef>
                          <a:spcPts val="0"/>
                        </a:spcBef>
                        <a:buFont typeface="Arial" panose="020B0604020202020204" pitchFamily="34" charset="0"/>
                        <a:buChar char="•"/>
                      </a:pPr>
                      <a:r>
                        <a:rPr lang="en-US" sz="1100" dirty="0">
                          <a:solidFill>
                            <a:srgbClr val="543E34"/>
                          </a:solidFill>
                          <a:effectLst/>
                        </a:rPr>
                        <a:t>Guaranteed ride availability in hotspot areas through fleet planning.</a:t>
                      </a:r>
                    </a:p>
                    <a:p>
                      <a:pPr marL="254000" indent="-254000">
                        <a:spcBef>
                          <a:spcPts val="0"/>
                        </a:spcBef>
                        <a:buFont typeface="Arial" panose="020B0604020202020204" pitchFamily="34" charset="0"/>
                        <a:buChar char="•"/>
                      </a:pPr>
                      <a:r>
                        <a:rPr lang="en-US" sz="1100" dirty="0">
                          <a:solidFill>
                            <a:srgbClr val="543E34"/>
                          </a:solidFill>
                          <a:effectLst/>
                        </a:rPr>
                        <a:t>Clear pricing structure and fare transparency.</a:t>
                      </a:r>
                    </a:p>
                  </a:txBody>
                  <a:tcPr>
                    <a:solidFill>
                      <a:schemeClr val="accent2">
                        <a:lumMod val="40000"/>
                        <a:lumOff val="60000"/>
                      </a:schemeClr>
                    </a:solidFill>
                  </a:tcPr>
                </a:tc>
                <a:tc>
                  <a:txBody>
                    <a:bodyPr/>
                    <a:lstStyle/>
                    <a:p>
                      <a:pPr marL="254000" indent="-254000">
                        <a:spcBef>
                          <a:spcPts val="0"/>
                        </a:spcBef>
                        <a:buFont typeface="Arial" panose="020B0604020202020204" pitchFamily="34" charset="0"/>
                        <a:buChar char="•"/>
                      </a:pPr>
                      <a:r>
                        <a:rPr lang="en-US" sz="1100" dirty="0">
                          <a:solidFill>
                            <a:srgbClr val="543E34"/>
                          </a:solidFill>
                          <a:effectLst/>
                        </a:rPr>
                        <a:t>Field tests on hygiene perception: show vehicle photos and gather trust scores.</a:t>
                      </a:r>
                    </a:p>
                    <a:p>
                      <a:pPr marL="254000" indent="-254000">
                        <a:spcBef>
                          <a:spcPts val="0"/>
                        </a:spcBef>
                        <a:buFont typeface="Arial" panose="020B0604020202020204" pitchFamily="34" charset="0"/>
                        <a:buChar char="•"/>
                      </a:pPr>
                      <a:r>
                        <a:rPr lang="en-US" sz="1100" dirty="0">
                          <a:solidFill>
                            <a:srgbClr val="543E34"/>
                          </a:solidFill>
                          <a:effectLst/>
                        </a:rPr>
                        <a:t>Pilot “Preferred Driver” matching to evaluate repeat usage.</a:t>
                      </a:r>
                    </a:p>
                    <a:p>
                      <a:pPr marL="254000" indent="-254000">
                        <a:spcBef>
                          <a:spcPts val="0"/>
                        </a:spcBef>
                        <a:buFont typeface="Arial" panose="020B0604020202020204" pitchFamily="34" charset="0"/>
                        <a:buChar char="•"/>
                      </a:pPr>
                      <a:r>
                        <a:rPr lang="en-US" sz="1100" dirty="0">
                          <a:solidFill>
                            <a:srgbClr val="543E34"/>
                          </a:solidFill>
                          <a:effectLst/>
                        </a:rPr>
                        <a:t>Explore partnerships for vehicle maintenance benefits for female drivers.</a:t>
                      </a:r>
                    </a:p>
                  </a:txBody>
                  <a:tcPr>
                    <a:solidFill>
                      <a:schemeClr val="accent2">
                        <a:lumMod val="40000"/>
                        <a:lumOff val="60000"/>
                      </a:schemeClr>
                    </a:solidFill>
                  </a:tcPr>
                </a:tc>
                <a:extLst>
                  <a:ext uri="{0D108BD9-81ED-4DB2-BD59-A6C34878D82A}">
                    <a16:rowId xmlns:a16="http://schemas.microsoft.com/office/drawing/2014/main" val="1785360174"/>
                  </a:ext>
                </a:extLst>
              </a:tr>
              <a:tr h="1090546">
                <a:tc>
                  <a:txBody>
                    <a:bodyPr/>
                    <a:lstStyle/>
                    <a:p>
                      <a:pPr marL="0" indent="0">
                        <a:spcBef>
                          <a:spcPts val="0"/>
                        </a:spcBef>
                        <a:buNone/>
                      </a:pPr>
                      <a:r>
                        <a:rPr lang="en-US" sz="1100" b="1" dirty="0">
                          <a:solidFill>
                            <a:srgbClr val="543E34"/>
                          </a:solidFill>
                          <a:effectLst/>
                        </a:rPr>
                        <a:t>Lever 3: Emotional Connection &amp; Empowerment</a:t>
                      </a:r>
                    </a:p>
                    <a:p>
                      <a:pPr marL="0" indent="0">
                        <a:spcBef>
                          <a:spcPts val="0"/>
                        </a:spcBef>
                        <a:buNone/>
                      </a:pPr>
                      <a:r>
                        <a:rPr lang="en-US" sz="1100" dirty="0">
                          <a:solidFill>
                            <a:srgbClr val="543E34"/>
                          </a:solidFill>
                          <a:effectLst/>
                        </a:rPr>
                        <a:t>Her Ride isn’t just a utility—it's a community-driven movement empowering women to support women.</a:t>
                      </a:r>
                    </a:p>
                  </a:txBody>
                  <a:tcPr>
                    <a:solidFill>
                      <a:schemeClr val="accent2">
                        <a:lumMod val="40000"/>
                        <a:lumOff val="60000"/>
                      </a:schemeClr>
                    </a:solidFill>
                  </a:tcPr>
                </a:tc>
                <a:tc>
                  <a:txBody>
                    <a:bodyPr/>
                    <a:lstStyle/>
                    <a:p>
                      <a:pPr marL="254000" indent="-254000">
                        <a:spcBef>
                          <a:spcPts val="0"/>
                        </a:spcBef>
                        <a:buFont typeface="Arial" panose="020B0604020202020204" pitchFamily="34" charset="0"/>
                        <a:buChar char="•"/>
                      </a:pPr>
                      <a:r>
                        <a:rPr lang="en-US" sz="1100" dirty="0">
                          <a:solidFill>
                            <a:srgbClr val="543E34"/>
                          </a:solidFill>
                          <a:effectLst/>
                        </a:rPr>
                        <a:t>Women value being part of a platform that uplifts other women.</a:t>
                      </a:r>
                    </a:p>
                    <a:p>
                      <a:pPr marL="254000" indent="-254000">
                        <a:spcBef>
                          <a:spcPts val="0"/>
                        </a:spcBef>
                        <a:buFont typeface="Arial" panose="020B0604020202020204" pitchFamily="34" charset="0"/>
                        <a:buChar char="•"/>
                      </a:pPr>
                      <a:r>
                        <a:rPr lang="en-US" sz="1100" dirty="0">
                          <a:solidFill>
                            <a:srgbClr val="543E34"/>
                          </a:solidFill>
                          <a:effectLst/>
                        </a:rPr>
                        <a:t>Female drivers want a supportive, safe work environment.</a:t>
                      </a:r>
                    </a:p>
                    <a:p>
                      <a:pPr marL="254000" indent="-254000">
                        <a:spcBef>
                          <a:spcPts val="0"/>
                        </a:spcBef>
                        <a:buFont typeface="Arial" panose="020B0604020202020204" pitchFamily="34" charset="0"/>
                        <a:buChar char="•"/>
                      </a:pPr>
                      <a:r>
                        <a:rPr lang="en-US" sz="1100" dirty="0">
                          <a:solidFill>
                            <a:srgbClr val="543E34"/>
                          </a:solidFill>
                          <a:effectLst/>
                        </a:rPr>
                        <a:t>Social impact messaging increases retention and loyalty.</a:t>
                      </a:r>
                    </a:p>
                  </a:txBody>
                  <a:tcPr>
                    <a:solidFill>
                      <a:schemeClr val="accent2">
                        <a:lumMod val="40000"/>
                        <a:lumOff val="60000"/>
                      </a:schemeClr>
                    </a:solidFill>
                  </a:tcPr>
                </a:tc>
                <a:tc>
                  <a:txBody>
                    <a:bodyPr/>
                    <a:lstStyle/>
                    <a:p>
                      <a:pPr marL="254000" indent="-254000">
                        <a:spcBef>
                          <a:spcPts val="0"/>
                        </a:spcBef>
                        <a:buFont typeface="Arial" panose="020B0604020202020204" pitchFamily="34" charset="0"/>
                        <a:buChar char="•"/>
                      </a:pPr>
                      <a:r>
                        <a:rPr lang="en-US" sz="1100" dirty="0">
                          <a:solidFill>
                            <a:srgbClr val="543E34"/>
                          </a:solidFill>
                          <a:effectLst/>
                        </a:rPr>
                        <a:t>Driver community programs (training, peer support, financial literacy workshops).</a:t>
                      </a:r>
                    </a:p>
                    <a:p>
                      <a:pPr marL="254000" indent="-254000">
                        <a:spcBef>
                          <a:spcPts val="0"/>
                        </a:spcBef>
                        <a:buFont typeface="Arial" panose="020B0604020202020204" pitchFamily="34" charset="0"/>
                        <a:buChar char="•"/>
                      </a:pPr>
                      <a:r>
                        <a:rPr lang="en-US" sz="1100" dirty="0">
                          <a:solidFill>
                            <a:srgbClr val="543E34"/>
                          </a:solidFill>
                          <a:effectLst/>
                        </a:rPr>
                        <a:t>“Support Women Drivers” badges and storytelling within the app.</a:t>
                      </a:r>
                    </a:p>
                    <a:p>
                      <a:pPr marL="254000" indent="-254000">
                        <a:spcBef>
                          <a:spcPts val="0"/>
                        </a:spcBef>
                        <a:buFont typeface="Arial" panose="020B0604020202020204" pitchFamily="34" charset="0"/>
                        <a:buChar char="•"/>
                      </a:pPr>
                      <a:r>
                        <a:rPr lang="en-US" sz="1100" dirty="0">
                          <a:solidFill>
                            <a:srgbClr val="543E34"/>
                          </a:solidFill>
                          <a:effectLst/>
                        </a:rPr>
                        <a:t>Driver benefits such as insurance, training, and flexible schedules.</a:t>
                      </a:r>
                    </a:p>
                  </a:txBody>
                  <a:tcPr>
                    <a:solidFill>
                      <a:schemeClr val="accent2">
                        <a:lumMod val="40000"/>
                        <a:lumOff val="60000"/>
                      </a:schemeClr>
                    </a:solidFill>
                  </a:tcPr>
                </a:tc>
                <a:tc>
                  <a:txBody>
                    <a:bodyPr/>
                    <a:lstStyle/>
                    <a:p>
                      <a:pPr marL="254000" indent="-254000">
                        <a:spcBef>
                          <a:spcPts val="0"/>
                        </a:spcBef>
                        <a:buFont typeface="Arial" panose="020B0604020202020204" pitchFamily="34" charset="0"/>
                        <a:buChar char="•"/>
                      </a:pPr>
                      <a:r>
                        <a:rPr lang="en-US" sz="1100" dirty="0">
                          <a:solidFill>
                            <a:srgbClr val="543E34"/>
                          </a:solidFill>
                          <a:effectLst/>
                        </a:rPr>
                        <a:t>Interview existing female drivers from other platforms to understand barriers.</a:t>
                      </a:r>
                    </a:p>
                    <a:p>
                      <a:pPr marL="254000" indent="-254000">
                        <a:spcBef>
                          <a:spcPts val="0"/>
                        </a:spcBef>
                        <a:buFont typeface="Arial" panose="020B0604020202020204" pitchFamily="34" charset="0"/>
                        <a:buChar char="•"/>
                      </a:pPr>
                      <a:r>
                        <a:rPr lang="en-US" sz="1100" dirty="0">
                          <a:solidFill>
                            <a:srgbClr val="543E34"/>
                          </a:solidFill>
                          <a:effectLst/>
                        </a:rPr>
                        <a:t>Test in-app empowerment storytelling to measure emotional resonance.</a:t>
                      </a:r>
                    </a:p>
                    <a:p>
                      <a:pPr marL="254000" indent="-254000">
                        <a:spcBef>
                          <a:spcPts val="0"/>
                        </a:spcBef>
                        <a:buFont typeface="Arial" panose="020B0604020202020204" pitchFamily="34" charset="0"/>
                        <a:buChar char="•"/>
                      </a:pPr>
                      <a:r>
                        <a:rPr lang="en-US" sz="1100" dirty="0">
                          <a:solidFill>
                            <a:srgbClr val="543E34"/>
                          </a:solidFill>
                          <a:effectLst/>
                        </a:rPr>
                        <a:t>Evaluate willingness of users to pay slightly more for women-led services.</a:t>
                      </a:r>
                    </a:p>
                  </a:txBody>
                  <a:tcPr>
                    <a:solidFill>
                      <a:schemeClr val="accent2">
                        <a:lumMod val="40000"/>
                        <a:lumOff val="60000"/>
                      </a:schemeClr>
                    </a:solidFill>
                  </a:tcPr>
                </a:tc>
                <a:extLst>
                  <a:ext uri="{0D108BD9-81ED-4DB2-BD59-A6C34878D82A}">
                    <a16:rowId xmlns:a16="http://schemas.microsoft.com/office/drawing/2014/main" val="412109407"/>
                  </a:ext>
                </a:extLst>
              </a:tr>
              <a:tr h="1090546">
                <a:tc>
                  <a:txBody>
                    <a:bodyPr/>
                    <a:lstStyle/>
                    <a:p>
                      <a:pPr marL="0" indent="0">
                        <a:buNone/>
                      </a:pPr>
                      <a:r>
                        <a:rPr lang="en-US" sz="1100" b="1" dirty="0">
                          <a:solidFill>
                            <a:srgbClr val="543E34"/>
                          </a:solidFill>
                          <a:effectLst/>
                        </a:rPr>
                        <a:t>Lever 4: Convenience &amp; User Experience</a:t>
                      </a:r>
                    </a:p>
                    <a:p>
                      <a:pPr marL="0" indent="0">
                        <a:spcBef>
                          <a:spcPts val="0"/>
                        </a:spcBef>
                        <a:buNone/>
                      </a:pPr>
                      <a:r>
                        <a:rPr lang="en-US" sz="1100" dirty="0">
                          <a:solidFill>
                            <a:srgbClr val="543E34"/>
                          </a:solidFill>
                          <a:effectLst/>
                        </a:rPr>
                        <a:t>The app must offer seamless usability—women prefer simple, fast interfaces.</a:t>
                      </a:r>
                    </a:p>
                  </a:txBody>
                  <a:tcPr>
                    <a:solidFill>
                      <a:schemeClr val="accent2">
                        <a:lumMod val="40000"/>
                        <a:lumOff val="60000"/>
                      </a:schemeClr>
                    </a:solidFill>
                  </a:tcPr>
                </a:tc>
                <a:tc>
                  <a:txBody>
                    <a:bodyPr/>
                    <a:lstStyle/>
                    <a:p>
                      <a:pPr marL="254000" indent="-254000">
                        <a:spcBef>
                          <a:spcPts val="0"/>
                        </a:spcBef>
                        <a:buFont typeface="Arial" panose="020B0604020202020204" pitchFamily="34" charset="0"/>
                        <a:buChar char="•"/>
                      </a:pPr>
                      <a:r>
                        <a:rPr lang="en-US" sz="1100" dirty="0">
                          <a:solidFill>
                            <a:srgbClr val="543E34"/>
                          </a:solidFill>
                          <a:effectLst/>
                        </a:rPr>
                        <a:t>A clean, intuitive design increases trust and reduces hesitation during emergencies.</a:t>
                      </a:r>
                    </a:p>
                    <a:p>
                      <a:pPr marL="254000" indent="-254000">
                        <a:spcBef>
                          <a:spcPts val="0"/>
                        </a:spcBef>
                        <a:buFont typeface="Arial" panose="020B0604020202020204" pitchFamily="34" charset="0"/>
                        <a:buChar char="•"/>
                      </a:pPr>
                      <a:r>
                        <a:rPr lang="en-US" sz="1100" dirty="0">
                          <a:solidFill>
                            <a:srgbClr val="543E34"/>
                          </a:solidFill>
                          <a:effectLst/>
                        </a:rPr>
                        <a:t>Women expect features tailored to their lifestyle (share ride status, preferred drivers, discreet mode).</a:t>
                      </a:r>
                    </a:p>
                  </a:txBody>
                  <a:tcPr>
                    <a:solidFill>
                      <a:schemeClr val="accent2">
                        <a:lumMod val="40000"/>
                        <a:lumOff val="60000"/>
                      </a:schemeClr>
                    </a:solidFill>
                  </a:tcPr>
                </a:tc>
                <a:tc>
                  <a:txBody>
                    <a:bodyPr/>
                    <a:lstStyle/>
                    <a:p>
                      <a:pPr marL="254000" indent="-254000">
                        <a:spcBef>
                          <a:spcPts val="0"/>
                        </a:spcBef>
                        <a:buFont typeface="Arial" panose="020B0604020202020204" pitchFamily="34" charset="0"/>
                        <a:buChar char="•"/>
                      </a:pPr>
                      <a:r>
                        <a:rPr lang="en-US" sz="1100" dirty="0">
                          <a:solidFill>
                            <a:srgbClr val="543E34"/>
                          </a:solidFill>
                          <a:effectLst/>
                        </a:rPr>
                        <a:t>One-tap SOS button with voice activation.</a:t>
                      </a:r>
                    </a:p>
                    <a:p>
                      <a:pPr marL="254000" indent="-254000">
                        <a:spcBef>
                          <a:spcPts val="0"/>
                        </a:spcBef>
                        <a:buFont typeface="Arial" panose="020B0604020202020204" pitchFamily="34" charset="0"/>
                        <a:buChar char="•"/>
                      </a:pPr>
                      <a:r>
                        <a:rPr lang="en-US" sz="1100" dirty="0">
                          <a:solidFill>
                            <a:srgbClr val="543E34"/>
                          </a:solidFill>
                          <a:effectLst/>
                        </a:rPr>
                        <a:t>Instant booking with accurate tracking.</a:t>
                      </a:r>
                    </a:p>
                    <a:p>
                      <a:pPr marL="254000" indent="-254000">
                        <a:spcBef>
                          <a:spcPts val="0"/>
                        </a:spcBef>
                        <a:buFont typeface="Arial" panose="020B0604020202020204" pitchFamily="34" charset="0"/>
                        <a:buChar char="•"/>
                      </a:pPr>
                      <a:r>
                        <a:rPr lang="en-US" sz="1100" dirty="0">
                          <a:solidFill>
                            <a:srgbClr val="543E34"/>
                          </a:solidFill>
                          <a:effectLst/>
                        </a:rPr>
                        <a:t>Simple, non-cluttered UI with high contrast and minimal steps.</a:t>
                      </a:r>
                    </a:p>
                  </a:txBody>
                  <a:tcPr>
                    <a:solidFill>
                      <a:schemeClr val="accent2">
                        <a:lumMod val="40000"/>
                        <a:lumOff val="60000"/>
                      </a:schemeClr>
                    </a:solidFill>
                  </a:tcPr>
                </a:tc>
                <a:tc>
                  <a:txBody>
                    <a:bodyPr/>
                    <a:lstStyle/>
                    <a:p>
                      <a:pPr marL="254000" indent="-254000">
                        <a:spcBef>
                          <a:spcPts val="0"/>
                        </a:spcBef>
                        <a:buFont typeface="Arial" panose="020B0604020202020204" pitchFamily="34" charset="0"/>
                        <a:buChar char="•"/>
                      </a:pPr>
                      <a:r>
                        <a:rPr lang="en-US" sz="1100" dirty="0">
                          <a:solidFill>
                            <a:srgbClr val="543E34"/>
                          </a:solidFill>
                          <a:effectLst/>
                        </a:rPr>
                        <a:t>Rapid prototyping of key screens and usability tests with women across age groups.</a:t>
                      </a:r>
                    </a:p>
                    <a:p>
                      <a:pPr marL="254000" indent="-254000">
                        <a:spcBef>
                          <a:spcPts val="0"/>
                        </a:spcBef>
                        <a:buFont typeface="Arial" panose="020B0604020202020204" pitchFamily="34" charset="0"/>
                        <a:buChar char="•"/>
                      </a:pPr>
                      <a:r>
                        <a:rPr lang="en-US" sz="1100" dirty="0">
                          <a:solidFill>
                            <a:srgbClr val="543E34"/>
                          </a:solidFill>
                          <a:effectLst/>
                        </a:rPr>
                        <a:t>Evaluate effectiveness of SOS button placement and ride-sharing flow.</a:t>
                      </a:r>
                    </a:p>
                    <a:p>
                      <a:pPr marL="254000" indent="-254000">
                        <a:spcBef>
                          <a:spcPts val="0"/>
                        </a:spcBef>
                        <a:buFont typeface="Arial" panose="020B0604020202020204" pitchFamily="34" charset="0"/>
                        <a:buChar char="•"/>
                      </a:pPr>
                      <a:r>
                        <a:rPr lang="en-US" sz="1100" dirty="0">
                          <a:solidFill>
                            <a:srgbClr val="543E34"/>
                          </a:solidFill>
                          <a:effectLst/>
                        </a:rPr>
                        <a:t>Conduct A/B tests for first-time user onboarding experience.</a:t>
                      </a:r>
                    </a:p>
                  </a:txBody>
                  <a:tcPr>
                    <a:solidFill>
                      <a:schemeClr val="accent2">
                        <a:lumMod val="40000"/>
                        <a:lumOff val="60000"/>
                      </a:schemeClr>
                    </a:solidFill>
                  </a:tcPr>
                </a:tc>
                <a:extLst>
                  <a:ext uri="{0D108BD9-81ED-4DB2-BD59-A6C34878D82A}">
                    <a16:rowId xmlns:a16="http://schemas.microsoft.com/office/drawing/2014/main" val="3925027116"/>
                  </a:ext>
                </a:extLst>
              </a:tr>
              <a:tr h="1090546">
                <a:tc>
                  <a:txBody>
                    <a:bodyPr/>
                    <a:lstStyle/>
                    <a:p>
                      <a:pPr marL="0" indent="0">
                        <a:buNone/>
                      </a:pPr>
                      <a:r>
                        <a:rPr lang="en-US" sz="1100" b="1" dirty="0">
                          <a:solidFill>
                            <a:srgbClr val="543E34"/>
                          </a:solidFill>
                          <a:effectLst/>
                        </a:rPr>
                        <a:t>Lever 5: Pricing, Sustainability &amp; Scale</a:t>
                      </a:r>
                    </a:p>
                    <a:p>
                      <a:pPr marL="0" indent="0">
                        <a:spcBef>
                          <a:spcPts val="0"/>
                        </a:spcBef>
                        <a:buNone/>
                      </a:pPr>
                      <a:r>
                        <a:rPr lang="en-US" sz="1100" dirty="0">
                          <a:solidFill>
                            <a:srgbClr val="543E34"/>
                          </a:solidFill>
                          <a:effectLst/>
                        </a:rPr>
                        <a:t>To ensure long-term success, the model must balance affordability with high service quality and fair earnings for women drivers.</a:t>
                      </a:r>
                    </a:p>
                  </a:txBody>
                  <a:tcPr>
                    <a:solidFill>
                      <a:schemeClr val="accent2">
                        <a:lumMod val="40000"/>
                        <a:lumOff val="60000"/>
                      </a:schemeClr>
                    </a:solidFill>
                  </a:tcPr>
                </a:tc>
                <a:tc>
                  <a:txBody>
                    <a:bodyPr/>
                    <a:lstStyle/>
                    <a:p>
                      <a:pPr marL="254000" indent="-254000">
                        <a:spcBef>
                          <a:spcPts val="0"/>
                        </a:spcBef>
                        <a:buFont typeface="Arial" panose="020B0604020202020204" pitchFamily="34" charset="0"/>
                        <a:buChar char="•"/>
                      </a:pPr>
                      <a:r>
                        <a:rPr lang="en-US" sz="1100" dirty="0">
                          <a:solidFill>
                            <a:srgbClr val="543E34"/>
                          </a:solidFill>
                          <a:effectLst/>
                        </a:rPr>
                        <a:t>Users are willing to pay a small premium for guaranteed safety.</a:t>
                      </a:r>
                    </a:p>
                    <a:p>
                      <a:pPr marL="254000" indent="-254000">
                        <a:spcBef>
                          <a:spcPts val="0"/>
                        </a:spcBef>
                        <a:buFont typeface="Arial" panose="020B0604020202020204" pitchFamily="34" charset="0"/>
                        <a:buChar char="•"/>
                      </a:pPr>
                      <a:r>
                        <a:rPr lang="en-US" sz="1100" dirty="0">
                          <a:solidFill>
                            <a:srgbClr val="543E34"/>
                          </a:solidFill>
                          <a:effectLst/>
                        </a:rPr>
                        <a:t>Female drivers require competitive earnings and incentives to join.</a:t>
                      </a:r>
                    </a:p>
                    <a:p>
                      <a:pPr marL="254000" indent="-254000">
                        <a:spcBef>
                          <a:spcPts val="0"/>
                        </a:spcBef>
                        <a:buFont typeface="Arial" panose="020B0604020202020204" pitchFamily="34" charset="0"/>
                        <a:buChar char="•"/>
                      </a:pPr>
                      <a:r>
                        <a:rPr lang="en-US" sz="1100" dirty="0">
                          <a:solidFill>
                            <a:srgbClr val="543E34"/>
                          </a:solidFill>
                          <a:effectLst/>
                        </a:rPr>
                        <a:t>Scaling requires partnerships and city-by-city expansion.</a:t>
                      </a:r>
                    </a:p>
                  </a:txBody>
                  <a:tcPr>
                    <a:solidFill>
                      <a:schemeClr val="accent2">
                        <a:lumMod val="40000"/>
                        <a:lumOff val="60000"/>
                      </a:schemeClr>
                    </a:solidFill>
                  </a:tcPr>
                </a:tc>
                <a:tc>
                  <a:txBody>
                    <a:bodyPr/>
                    <a:lstStyle/>
                    <a:p>
                      <a:pPr marL="254000" indent="-254000">
                        <a:spcBef>
                          <a:spcPts val="0"/>
                        </a:spcBef>
                        <a:buFont typeface="Arial" panose="020B0604020202020204" pitchFamily="34" charset="0"/>
                        <a:buChar char="•"/>
                      </a:pPr>
                      <a:r>
                        <a:rPr lang="en-US" sz="1100" dirty="0">
                          <a:solidFill>
                            <a:srgbClr val="543E34"/>
                          </a:solidFill>
                          <a:effectLst/>
                        </a:rPr>
                        <a:t>Tiered pricing (Standard Safe Ride / Premium Safe Ride with verified drivers).</a:t>
                      </a:r>
                    </a:p>
                    <a:p>
                      <a:pPr marL="254000" indent="-254000">
                        <a:spcBef>
                          <a:spcPts val="0"/>
                        </a:spcBef>
                        <a:buFont typeface="Arial" panose="020B0604020202020204" pitchFamily="34" charset="0"/>
                        <a:buChar char="•"/>
                      </a:pPr>
                      <a:r>
                        <a:rPr lang="en-US" sz="1100" dirty="0">
                          <a:solidFill>
                            <a:srgbClr val="543E34"/>
                          </a:solidFill>
                          <a:effectLst/>
                        </a:rPr>
                        <a:t>Incentive programs for women drivers during peak hours.</a:t>
                      </a:r>
                    </a:p>
                    <a:p>
                      <a:pPr marL="254000" indent="-254000">
                        <a:spcBef>
                          <a:spcPts val="0"/>
                        </a:spcBef>
                        <a:buFont typeface="Arial" panose="020B0604020202020204" pitchFamily="34" charset="0"/>
                        <a:buChar char="•"/>
                      </a:pPr>
                      <a:r>
                        <a:rPr lang="en-US" sz="1100" dirty="0">
                          <a:solidFill>
                            <a:srgbClr val="543E34"/>
                          </a:solidFill>
                          <a:effectLst/>
                        </a:rPr>
                        <a:t>Strategic collaborations with corporates, colleges, and events.</a:t>
                      </a:r>
                    </a:p>
                  </a:txBody>
                  <a:tcPr>
                    <a:solidFill>
                      <a:schemeClr val="accent2">
                        <a:lumMod val="40000"/>
                        <a:lumOff val="60000"/>
                      </a:schemeClr>
                    </a:solidFill>
                  </a:tcPr>
                </a:tc>
                <a:tc>
                  <a:txBody>
                    <a:bodyPr/>
                    <a:lstStyle/>
                    <a:p>
                      <a:pPr marL="254000" indent="-254000">
                        <a:spcBef>
                          <a:spcPts val="0"/>
                        </a:spcBef>
                        <a:buFont typeface="Arial" panose="020B0604020202020204" pitchFamily="34" charset="0"/>
                        <a:buChar char="•"/>
                      </a:pPr>
                      <a:r>
                        <a:rPr lang="en-US" sz="1100" dirty="0">
                          <a:solidFill>
                            <a:srgbClr val="543E34"/>
                          </a:solidFill>
                          <a:effectLst/>
                        </a:rPr>
                        <a:t>Test willingness-to-pay models.</a:t>
                      </a:r>
                    </a:p>
                    <a:p>
                      <a:pPr marL="254000" indent="-254000">
                        <a:spcBef>
                          <a:spcPts val="0"/>
                        </a:spcBef>
                        <a:buFont typeface="Arial" panose="020B0604020202020204" pitchFamily="34" charset="0"/>
                        <a:buChar char="•"/>
                      </a:pPr>
                      <a:r>
                        <a:rPr lang="en-US" sz="1100" dirty="0">
                          <a:solidFill>
                            <a:srgbClr val="543E34"/>
                          </a:solidFill>
                          <a:effectLst/>
                        </a:rPr>
                        <a:t>Conduct small-city pilots to measure adoption.</a:t>
                      </a:r>
                    </a:p>
                    <a:p>
                      <a:pPr marL="254000" indent="-254000">
                        <a:spcBef>
                          <a:spcPts val="0"/>
                        </a:spcBef>
                        <a:buFont typeface="Arial" panose="020B0604020202020204" pitchFamily="34" charset="0"/>
                        <a:buChar char="•"/>
                      </a:pPr>
                      <a:r>
                        <a:rPr lang="en-US" sz="1100" dirty="0">
                          <a:solidFill>
                            <a:srgbClr val="543E34"/>
                          </a:solidFill>
                          <a:effectLst/>
                        </a:rPr>
                        <a:t>Validate driver acquisition costs and earning potential.</a:t>
                      </a:r>
                    </a:p>
                  </a:txBody>
                  <a:tcPr>
                    <a:solidFill>
                      <a:schemeClr val="accent2">
                        <a:lumMod val="40000"/>
                        <a:lumOff val="60000"/>
                      </a:schemeClr>
                    </a:solidFill>
                  </a:tcPr>
                </a:tc>
                <a:extLst>
                  <a:ext uri="{0D108BD9-81ED-4DB2-BD59-A6C34878D82A}">
                    <a16:rowId xmlns:a16="http://schemas.microsoft.com/office/drawing/2014/main" val="4188472078"/>
                  </a:ext>
                </a:extLst>
              </a:tr>
            </a:tbl>
          </a:graphicData>
        </a:graphic>
      </p:graphicFrame>
    </p:spTree>
    <p:extLst>
      <p:ext uri="{BB962C8B-B14F-4D97-AF65-F5344CB8AC3E}">
        <p14:creationId xmlns:p14="http://schemas.microsoft.com/office/powerpoint/2010/main" val="669799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914400" y="914400"/>
            <a:ext cx="10360152" cy="735106"/>
          </a:xfrm>
        </p:spPr>
        <p:txBody>
          <a:bodyPr anchor="b"/>
          <a:lstStyle/>
          <a:p>
            <a:r>
              <a:rPr lang="en-US" dirty="0"/>
              <a:t>Requirements design</a:t>
            </a:r>
          </a:p>
        </p:txBody>
      </p:sp>
      <p:sp>
        <p:nvSpPr>
          <p:cNvPr id="15" name="Text Placeholder 14">
            <a:extLst>
              <a:ext uri="{FF2B5EF4-FFF2-40B4-BE49-F238E27FC236}">
                <a16:creationId xmlns:a16="http://schemas.microsoft.com/office/drawing/2014/main" id="{C7846849-DC0A-EE3B-2E5E-D669EC1273D6}"/>
              </a:ext>
            </a:extLst>
          </p:cNvPr>
          <p:cNvSpPr>
            <a:spLocks noGrp="1"/>
          </p:cNvSpPr>
          <p:nvPr>
            <p:ph type="body" sz="quarter" idx="13"/>
          </p:nvPr>
        </p:nvSpPr>
        <p:spPr>
          <a:xfrm>
            <a:off x="1353671" y="2088776"/>
            <a:ext cx="9920881" cy="4159624"/>
          </a:xfrm>
          <a:solidFill>
            <a:srgbClr val="DBD3C5"/>
          </a:solidFill>
        </p:spPr>
        <p:txBody>
          <a:bodyPr>
            <a:normAutofit lnSpcReduction="10000"/>
          </a:bodyPr>
          <a:lstStyle/>
          <a:p>
            <a:pPr algn="l"/>
            <a:r>
              <a:rPr lang="en-US" sz="2000" b="1" cap="none" dirty="0">
                <a:solidFill>
                  <a:srgbClr val="543E34"/>
                </a:solidFill>
                <a:effectLst/>
              </a:rPr>
              <a:t>1. </a:t>
            </a:r>
            <a:r>
              <a:rPr lang="en-US" b="1" cap="none" dirty="0">
                <a:solidFill>
                  <a:srgbClr val="543E34"/>
                </a:solidFill>
                <a:effectLst/>
              </a:rPr>
              <a:t>Business requirements (high-level)</a:t>
            </a:r>
          </a:p>
          <a:p>
            <a:pPr algn="l"/>
            <a:r>
              <a:rPr lang="en-US" sz="1800" cap="none" dirty="0">
                <a:solidFill>
                  <a:srgbClr val="543E34"/>
                </a:solidFill>
                <a:effectLst/>
              </a:rPr>
              <a:t>These come directly from user interviews, the problem statement, and product-market fit levers.</a:t>
            </a:r>
          </a:p>
          <a:p>
            <a:pPr algn="l"/>
            <a:endParaRPr lang="en-US" sz="1800" cap="none" dirty="0">
              <a:solidFill>
                <a:srgbClr val="543E34"/>
              </a:solidFill>
              <a:effectLst/>
            </a:endParaRPr>
          </a:p>
          <a:p>
            <a:pPr algn="l"/>
            <a:r>
              <a:rPr lang="en-US" sz="1800" b="1" cap="none" dirty="0">
                <a:solidFill>
                  <a:srgbClr val="543E34"/>
                </a:solidFill>
                <a:effectLst/>
              </a:rPr>
              <a:t>Br1. Ensure women’s safety during travel</a:t>
            </a:r>
          </a:p>
          <a:p>
            <a:pPr marL="285750" indent="-285750" algn="l">
              <a:buFont typeface="Arial" panose="020B0604020202020204" pitchFamily="34" charset="0"/>
              <a:buChar char="•"/>
            </a:pPr>
            <a:r>
              <a:rPr lang="en-US" sz="1800" cap="none" dirty="0">
                <a:solidFill>
                  <a:srgbClr val="543E34"/>
                </a:solidFill>
                <a:effectLst/>
              </a:rPr>
              <a:t>Women want guaranteed safety in all situations, especially late nights.</a:t>
            </a:r>
          </a:p>
          <a:p>
            <a:pPr algn="l"/>
            <a:r>
              <a:rPr lang="en-US" sz="1800" b="1" cap="none" dirty="0">
                <a:solidFill>
                  <a:srgbClr val="543E34"/>
                </a:solidFill>
                <a:effectLst/>
              </a:rPr>
              <a:t>Br2. Build trust through women-only driver network</a:t>
            </a:r>
          </a:p>
          <a:p>
            <a:pPr marL="285750" indent="-285750" algn="l">
              <a:buFont typeface="Arial" panose="020B0604020202020204" pitchFamily="34" charset="0"/>
              <a:buChar char="•"/>
            </a:pPr>
            <a:r>
              <a:rPr lang="en-US" sz="1800" cap="none" dirty="0">
                <a:solidFill>
                  <a:srgbClr val="543E34"/>
                </a:solidFill>
                <a:effectLst/>
              </a:rPr>
              <a:t>Women strongly prefer female drivers for comfort and trust.</a:t>
            </a:r>
          </a:p>
          <a:p>
            <a:pPr algn="l"/>
            <a:r>
              <a:rPr lang="en-US" sz="1800" b="1" cap="none" dirty="0">
                <a:solidFill>
                  <a:srgbClr val="543E34"/>
                </a:solidFill>
                <a:effectLst/>
              </a:rPr>
              <a:t>Br3. Deliver clean, reliable &amp; comfortable rides</a:t>
            </a:r>
          </a:p>
          <a:p>
            <a:pPr marL="285750" indent="-285750" algn="l">
              <a:buFont typeface="Arial" panose="020B0604020202020204" pitchFamily="34" charset="0"/>
              <a:buChar char="•"/>
            </a:pPr>
            <a:r>
              <a:rPr lang="en-US" sz="1800" cap="none" dirty="0">
                <a:solidFill>
                  <a:srgbClr val="543E34"/>
                </a:solidFill>
                <a:effectLst/>
              </a:rPr>
              <a:t>Reliable etas, clean cars, and professional behavior heavily influence adoption.</a:t>
            </a:r>
          </a:p>
          <a:p>
            <a:pPr algn="l"/>
            <a:r>
              <a:rPr lang="en-US" sz="1800" b="1" cap="none" dirty="0">
                <a:solidFill>
                  <a:srgbClr val="543E34"/>
                </a:solidFill>
                <a:effectLst/>
              </a:rPr>
              <a:t>Br4. Provide emergency support &amp; real-time monitoring</a:t>
            </a:r>
          </a:p>
          <a:p>
            <a:pPr marL="285750" indent="-285750" algn="l">
              <a:buFont typeface="Arial" panose="020B0604020202020204" pitchFamily="34" charset="0"/>
              <a:buChar char="•"/>
            </a:pPr>
            <a:r>
              <a:rPr lang="en-US" sz="1800" cap="none" dirty="0">
                <a:solidFill>
                  <a:srgbClr val="543E34"/>
                </a:solidFill>
                <a:effectLst/>
              </a:rPr>
              <a:t>Women expect immediate, accessible help in emergencies.</a:t>
            </a:r>
          </a:p>
          <a:p>
            <a:pPr algn="l"/>
            <a:r>
              <a:rPr lang="en-US" sz="1800" b="1" cap="none" dirty="0">
                <a:solidFill>
                  <a:srgbClr val="543E34"/>
                </a:solidFill>
                <a:effectLst/>
              </a:rPr>
              <a:t>Br5. Enable empowerment &amp; economic opportunity for women drivers</a:t>
            </a:r>
          </a:p>
          <a:p>
            <a:pPr marL="285750" indent="-285750" algn="l">
              <a:buFont typeface="Arial" panose="020B0604020202020204" pitchFamily="34" charset="0"/>
              <a:buChar char="•"/>
            </a:pPr>
            <a:r>
              <a:rPr lang="en-US" sz="1800" cap="none" dirty="0">
                <a:solidFill>
                  <a:srgbClr val="543E34"/>
                </a:solidFill>
                <a:effectLst/>
              </a:rPr>
              <a:t>The platform must attract and support female drivers with training, community, and earnings transparency.</a:t>
            </a:r>
          </a:p>
          <a:p>
            <a:pPr algn="l"/>
            <a:r>
              <a:rPr lang="en-US" sz="1800" b="1" cap="none" dirty="0">
                <a:solidFill>
                  <a:srgbClr val="543E34"/>
                </a:solidFill>
                <a:effectLst/>
              </a:rPr>
              <a:t>Br6. Offer a simple, intuitive, stress-free user experience</a:t>
            </a:r>
          </a:p>
          <a:p>
            <a:pPr marL="285750" indent="-285750" algn="l">
              <a:buFont typeface="Arial" panose="020B0604020202020204" pitchFamily="34" charset="0"/>
              <a:buChar char="•"/>
            </a:pPr>
            <a:r>
              <a:rPr lang="en-US" sz="1800" cap="none" dirty="0">
                <a:solidFill>
                  <a:srgbClr val="543E34"/>
                </a:solidFill>
                <a:effectLst/>
              </a:rPr>
              <a:t>Ease of use and minimal cognitive load during travel is critical.</a:t>
            </a:r>
          </a:p>
        </p:txBody>
      </p:sp>
    </p:spTree>
    <p:extLst>
      <p:ext uri="{BB962C8B-B14F-4D97-AF65-F5344CB8AC3E}">
        <p14:creationId xmlns:p14="http://schemas.microsoft.com/office/powerpoint/2010/main" val="1096717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914398" y="313765"/>
            <a:ext cx="10360152" cy="717176"/>
          </a:xfrm>
        </p:spPr>
        <p:txBody>
          <a:bodyPr anchor="b"/>
          <a:lstStyle/>
          <a:p>
            <a:r>
              <a:rPr lang="en-US" dirty="0"/>
              <a:t>Requirements design</a:t>
            </a:r>
          </a:p>
        </p:txBody>
      </p:sp>
      <p:sp>
        <p:nvSpPr>
          <p:cNvPr id="15" name="Text Placeholder 14">
            <a:extLst>
              <a:ext uri="{FF2B5EF4-FFF2-40B4-BE49-F238E27FC236}">
                <a16:creationId xmlns:a16="http://schemas.microsoft.com/office/drawing/2014/main" id="{C7846849-DC0A-EE3B-2E5E-D669EC1273D6}"/>
              </a:ext>
            </a:extLst>
          </p:cNvPr>
          <p:cNvSpPr>
            <a:spLocks noGrp="1"/>
          </p:cNvSpPr>
          <p:nvPr>
            <p:ph type="body" sz="quarter" idx="13"/>
          </p:nvPr>
        </p:nvSpPr>
        <p:spPr>
          <a:xfrm>
            <a:off x="1568824" y="1030941"/>
            <a:ext cx="9251576" cy="5746377"/>
          </a:xfrm>
          <a:solidFill>
            <a:srgbClr val="DBD3C5"/>
          </a:solidFill>
        </p:spPr>
        <p:txBody>
          <a:bodyPr>
            <a:noAutofit/>
          </a:bodyPr>
          <a:lstStyle/>
          <a:p>
            <a:pPr algn="l"/>
            <a:r>
              <a:rPr lang="en-IN" sz="2000" b="1" cap="none" dirty="0">
                <a:solidFill>
                  <a:srgbClr val="543E34"/>
                </a:solidFill>
                <a:effectLst/>
              </a:rPr>
              <a:t>2. Technology requirements (high-level)</a:t>
            </a:r>
          </a:p>
          <a:p>
            <a:pPr algn="l"/>
            <a:r>
              <a:rPr lang="en-IN" sz="1400" b="1" cap="none" dirty="0">
                <a:solidFill>
                  <a:srgbClr val="543E34"/>
                </a:solidFill>
                <a:effectLst/>
              </a:rPr>
              <a:t>Tr1. Secure driver verification system</a:t>
            </a:r>
          </a:p>
          <a:p>
            <a:pPr marL="254000" indent="-254000" algn="l">
              <a:buFont typeface="Arial" panose="020B0604020202020204" pitchFamily="34" charset="0"/>
              <a:buChar char="•"/>
            </a:pPr>
            <a:r>
              <a:rPr lang="en-IN" sz="1400" cap="none" dirty="0">
                <a:solidFill>
                  <a:srgbClr val="543E34"/>
                </a:solidFill>
                <a:effectLst/>
              </a:rPr>
              <a:t>Aadhar-based KYC</a:t>
            </a:r>
          </a:p>
          <a:p>
            <a:pPr marL="254000" indent="-254000" algn="l">
              <a:buFont typeface="Arial" panose="020B0604020202020204" pitchFamily="34" charset="0"/>
              <a:buChar char="•"/>
            </a:pPr>
            <a:r>
              <a:rPr lang="en-IN" sz="1400" cap="none" dirty="0">
                <a:solidFill>
                  <a:srgbClr val="543E34"/>
                </a:solidFill>
                <a:effectLst/>
              </a:rPr>
              <a:t>Police verification</a:t>
            </a:r>
          </a:p>
          <a:p>
            <a:pPr marL="254000" indent="-254000" algn="l">
              <a:buFont typeface="Arial" panose="020B0604020202020204" pitchFamily="34" charset="0"/>
              <a:buChar char="•"/>
            </a:pPr>
            <a:r>
              <a:rPr lang="en-IN" sz="1400" cap="none" dirty="0">
                <a:solidFill>
                  <a:srgbClr val="543E34"/>
                </a:solidFill>
                <a:effectLst/>
              </a:rPr>
              <a:t>Document uploads</a:t>
            </a:r>
          </a:p>
          <a:p>
            <a:pPr marL="254000" indent="-254000" algn="l">
              <a:buFont typeface="Arial" panose="020B0604020202020204" pitchFamily="34" charset="0"/>
              <a:buChar char="•"/>
            </a:pPr>
            <a:r>
              <a:rPr lang="en-IN" sz="1400" cap="none" dirty="0">
                <a:solidFill>
                  <a:srgbClr val="543E34"/>
                </a:solidFill>
                <a:effectLst/>
              </a:rPr>
              <a:t>Background check workflow</a:t>
            </a:r>
          </a:p>
          <a:p>
            <a:pPr algn="l"/>
            <a:r>
              <a:rPr lang="en-IN" sz="1400" b="1" cap="none" dirty="0">
                <a:solidFill>
                  <a:srgbClr val="543E34"/>
                </a:solidFill>
                <a:effectLst/>
              </a:rPr>
              <a:t>Tr2. Real-time ride tracking &amp; telemetry</a:t>
            </a:r>
          </a:p>
          <a:p>
            <a:pPr marL="254000" indent="-254000" algn="l">
              <a:buFont typeface="Arial" panose="020B0604020202020204" pitchFamily="34" charset="0"/>
              <a:buChar char="•"/>
            </a:pPr>
            <a:r>
              <a:rPr lang="en-IN" sz="1400" cap="none" dirty="0">
                <a:solidFill>
                  <a:srgbClr val="543E34"/>
                </a:solidFill>
                <a:effectLst/>
              </a:rPr>
              <a:t>GPS-based live tracking</a:t>
            </a:r>
          </a:p>
          <a:p>
            <a:pPr marL="254000" indent="-254000" algn="l">
              <a:buFont typeface="Arial" panose="020B0604020202020204" pitchFamily="34" charset="0"/>
              <a:buChar char="•"/>
            </a:pPr>
            <a:r>
              <a:rPr lang="en-IN" sz="1400" cap="none" dirty="0">
                <a:solidFill>
                  <a:srgbClr val="543E34"/>
                </a:solidFill>
                <a:effectLst/>
              </a:rPr>
              <a:t>Driver location accuracy</a:t>
            </a:r>
          </a:p>
          <a:p>
            <a:pPr marL="254000" indent="-254000" algn="l">
              <a:buFont typeface="Arial" panose="020B0604020202020204" pitchFamily="34" charset="0"/>
              <a:buChar char="•"/>
            </a:pPr>
            <a:r>
              <a:rPr lang="en-IN" sz="1400" cap="none" dirty="0">
                <a:solidFill>
                  <a:srgbClr val="543E34"/>
                </a:solidFill>
                <a:effectLst/>
              </a:rPr>
              <a:t>Ride replay visibility</a:t>
            </a:r>
          </a:p>
          <a:p>
            <a:pPr marL="254000" indent="-254000" algn="l">
              <a:buFont typeface="Arial" panose="020B0604020202020204" pitchFamily="34" charset="0"/>
              <a:buChar char="•"/>
            </a:pPr>
            <a:r>
              <a:rPr lang="en-IN" sz="1400" cap="none" dirty="0">
                <a:solidFill>
                  <a:srgbClr val="543E34"/>
                </a:solidFill>
                <a:effectLst/>
              </a:rPr>
              <a:t>Geofencing alerts</a:t>
            </a:r>
          </a:p>
          <a:p>
            <a:pPr algn="l"/>
            <a:r>
              <a:rPr lang="en-IN" sz="1400" b="1" cap="none" dirty="0">
                <a:solidFill>
                  <a:srgbClr val="543E34"/>
                </a:solidFill>
                <a:effectLst/>
              </a:rPr>
              <a:t>Tr3. Emergency response architecture</a:t>
            </a:r>
          </a:p>
          <a:p>
            <a:pPr marL="254000" indent="-254000" algn="l">
              <a:buFont typeface="Arial" panose="020B0604020202020204" pitchFamily="34" charset="0"/>
              <a:buChar char="•"/>
            </a:pPr>
            <a:r>
              <a:rPr lang="en-IN" sz="1400" cap="none" dirty="0">
                <a:solidFill>
                  <a:srgbClr val="543E34"/>
                </a:solidFill>
                <a:effectLst/>
              </a:rPr>
              <a:t>One-tap SOS</a:t>
            </a:r>
          </a:p>
          <a:p>
            <a:pPr marL="254000" indent="-254000" algn="l">
              <a:buFont typeface="Arial" panose="020B0604020202020204" pitchFamily="34" charset="0"/>
              <a:buChar char="•"/>
            </a:pPr>
            <a:r>
              <a:rPr lang="en-IN" sz="1400" cap="none" dirty="0">
                <a:solidFill>
                  <a:srgbClr val="543E34"/>
                </a:solidFill>
                <a:effectLst/>
              </a:rPr>
              <a:t>Integration with emergency contacts</a:t>
            </a:r>
          </a:p>
          <a:p>
            <a:pPr marL="254000" indent="-254000" algn="l">
              <a:buFont typeface="Arial" panose="020B0604020202020204" pitchFamily="34" charset="0"/>
              <a:buChar char="•"/>
            </a:pPr>
            <a:r>
              <a:rPr lang="en-IN" sz="1400" cap="none" dirty="0">
                <a:solidFill>
                  <a:srgbClr val="543E34"/>
                </a:solidFill>
                <a:effectLst/>
              </a:rPr>
              <a:t>Auto-trigger events (e.g., Long stop, route deviation)</a:t>
            </a:r>
          </a:p>
          <a:p>
            <a:pPr marL="254000" indent="-254000" algn="l">
              <a:buFont typeface="Arial" panose="020B0604020202020204" pitchFamily="34" charset="0"/>
              <a:buChar char="•"/>
            </a:pPr>
            <a:r>
              <a:rPr lang="en-IN" sz="1400" cap="none" dirty="0">
                <a:solidFill>
                  <a:srgbClr val="543E34"/>
                </a:solidFill>
                <a:effectLst/>
              </a:rPr>
              <a:t>Panic mode backend workflows</a:t>
            </a:r>
          </a:p>
          <a:p>
            <a:pPr algn="l"/>
            <a:r>
              <a:rPr lang="en-IN" sz="1400" b="1" cap="none" dirty="0">
                <a:solidFill>
                  <a:srgbClr val="543E34"/>
                </a:solidFill>
                <a:effectLst/>
              </a:rPr>
              <a:t>Tr4. Clean &amp; maintainable app architecture</a:t>
            </a:r>
          </a:p>
          <a:p>
            <a:pPr marL="285750" indent="-285750" algn="l">
              <a:buFont typeface="Arial" panose="020B0604020202020204" pitchFamily="34" charset="0"/>
              <a:buChar char="•"/>
            </a:pPr>
            <a:r>
              <a:rPr lang="en-IN" sz="1400" cap="none" dirty="0">
                <a:solidFill>
                  <a:srgbClr val="543E34"/>
                </a:solidFill>
                <a:effectLst/>
              </a:rPr>
              <a:t>Scalable microservices</a:t>
            </a:r>
          </a:p>
          <a:p>
            <a:pPr marL="285750" indent="-285750" algn="l">
              <a:buFont typeface="Arial" panose="020B0604020202020204" pitchFamily="34" charset="0"/>
              <a:buChar char="•"/>
            </a:pPr>
            <a:r>
              <a:rPr lang="en-IN" sz="1400" cap="none" dirty="0">
                <a:solidFill>
                  <a:srgbClr val="543E34"/>
                </a:solidFill>
                <a:effectLst/>
              </a:rPr>
              <a:t>High-availability backend</a:t>
            </a:r>
          </a:p>
          <a:p>
            <a:pPr marL="285750" indent="-285750" algn="l">
              <a:buFont typeface="Arial" panose="020B0604020202020204" pitchFamily="34" charset="0"/>
              <a:buChar char="•"/>
            </a:pPr>
            <a:r>
              <a:rPr lang="en-IN" sz="1400" cap="none" dirty="0">
                <a:solidFill>
                  <a:srgbClr val="543E34"/>
                </a:solidFill>
                <a:effectLst/>
              </a:rPr>
              <a:t>Encrypted data storage</a:t>
            </a:r>
          </a:p>
          <a:p>
            <a:pPr marL="285750" indent="-285750" algn="l">
              <a:buFont typeface="Arial" panose="020B0604020202020204" pitchFamily="34" charset="0"/>
              <a:buChar char="•"/>
            </a:pPr>
            <a:r>
              <a:rPr lang="en-IN" sz="1400" cap="none" dirty="0">
                <a:solidFill>
                  <a:srgbClr val="543E34"/>
                </a:solidFill>
                <a:effectLst/>
              </a:rPr>
              <a:t>Secure authentication (</a:t>
            </a:r>
            <a:r>
              <a:rPr lang="en-IN" sz="1400" cap="none" dirty="0">
                <a:solidFill>
                  <a:srgbClr val="543E34"/>
                </a:solidFill>
              </a:rPr>
              <a:t>O</a:t>
            </a:r>
            <a:r>
              <a:rPr lang="en-IN" sz="1400" cap="none" dirty="0">
                <a:solidFill>
                  <a:srgbClr val="543E34"/>
                </a:solidFill>
                <a:effectLst/>
              </a:rPr>
              <a:t>Auth, JWT)</a:t>
            </a:r>
          </a:p>
          <a:p>
            <a:pPr algn="l"/>
            <a:r>
              <a:rPr lang="en-IN" sz="1400" b="1" cap="none" dirty="0">
                <a:solidFill>
                  <a:srgbClr val="543E34"/>
                </a:solidFill>
                <a:effectLst/>
              </a:rPr>
              <a:t>Tr5. UI/UX optimized for safety &amp; speed</a:t>
            </a:r>
          </a:p>
          <a:p>
            <a:pPr marL="285750" indent="-285750" algn="l">
              <a:buFont typeface="Arial" panose="020B0604020202020204" pitchFamily="34" charset="0"/>
              <a:buChar char="•"/>
            </a:pPr>
            <a:r>
              <a:rPr lang="en-IN" sz="1400" cap="none" dirty="0">
                <a:solidFill>
                  <a:srgbClr val="543E34"/>
                </a:solidFill>
                <a:effectLst/>
              </a:rPr>
              <a:t>Large, accessible emergency button</a:t>
            </a:r>
          </a:p>
          <a:p>
            <a:pPr marL="285750" indent="-285750" algn="l">
              <a:buFont typeface="Arial" panose="020B0604020202020204" pitchFamily="34" charset="0"/>
              <a:buChar char="•"/>
            </a:pPr>
            <a:r>
              <a:rPr lang="en-IN" sz="1400" cap="none" dirty="0">
                <a:solidFill>
                  <a:srgbClr val="543E34"/>
                </a:solidFill>
                <a:effectLst/>
              </a:rPr>
              <a:t>Preferred driver algorithm</a:t>
            </a:r>
          </a:p>
          <a:p>
            <a:pPr marL="285750" indent="-285750" algn="l">
              <a:buFont typeface="Arial" panose="020B0604020202020204" pitchFamily="34" charset="0"/>
              <a:buChar char="•"/>
            </a:pPr>
            <a:r>
              <a:rPr lang="en-IN" sz="1400" cap="none" dirty="0">
                <a:solidFill>
                  <a:srgbClr val="543E34"/>
                </a:solidFill>
                <a:effectLst/>
              </a:rPr>
              <a:t>Two-tap ride booking flow</a:t>
            </a:r>
          </a:p>
          <a:p>
            <a:pPr marL="285750" indent="-285750" algn="l">
              <a:buFont typeface="Arial" panose="020B0604020202020204" pitchFamily="34" charset="0"/>
              <a:buChar char="•"/>
            </a:pPr>
            <a:r>
              <a:rPr lang="en-IN" sz="1400" cap="none" dirty="0">
                <a:solidFill>
                  <a:srgbClr val="543E34"/>
                </a:solidFill>
                <a:effectLst/>
              </a:rPr>
              <a:t>Reliability-first design system</a:t>
            </a:r>
          </a:p>
        </p:txBody>
      </p:sp>
    </p:spTree>
    <p:extLst>
      <p:ext uri="{BB962C8B-B14F-4D97-AF65-F5344CB8AC3E}">
        <p14:creationId xmlns:p14="http://schemas.microsoft.com/office/powerpoint/2010/main" val="3401731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914398" y="313765"/>
            <a:ext cx="10360152" cy="717176"/>
          </a:xfrm>
        </p:spPr>
        <p:txBody>
          <a:bodyPr anchor="b"/>
          <a:lstStyle/>
          <a:p>
            <a:r>
              <a:rPr lang="en-US" dirty="0"/>
              <a:t>Requirements design</a:t>
            </a:r>
          </a:p>
        </p:txBody>
      </p:sp>
      <p:sp>
        <p:nvSpPr>
          <p:cNvPr id="15" name="Text Placeholder 14">
            <a:extLst>
              <a:ext uri="{FF2B5EF4-FFF2-40B4-BE49-F238E27FC236}">
                <a16:creationId xmlns:a16="http://schemas.microsoft.com/office/drawing/2014/main" id="{C7846849-DC0A-EE3B-2E5E-D669EC1273D6}"/>
              </a:ext>
            </a:extLst>
          </p:cNvPr>
          <p:cNvSpPr>
            <a:spLocks noGrp="1"/>
          </p:cNvSpPr>
          <p:nvPr>
            <p:ph type="body" sz="quarter" idx="13"/>
          </p:nvPr>
        </p:nvSpPr>
        <p:spPr>
          <a:xfrm>
            <a:off x="1568823" y="1407459"/>
            <a:ext cx="9251576" cy="5056094"/>
          </a:xfrm>
          <a:noFill/>
        </p:spPr>
        <p:txBody>
          <a:bodyPr>
            <a:noAutofit/>
          </a:bodyPr>
          <a:lstStyle/>
          <a:p>
            <a:pPr algn="l"/>
            <a:r>
              <a:rPr lang="en-US" cap="none" dirty="0">
                <a:solidFill>
                  <a:srgbClr val="543E34"/>
                </a:solidFill>
                <a:effectLst/>
                <a:latin typeface="+mj-lt"/>
              </a:rPr>
              <a:t>How requirements map to charter</a:t>
            </a:r>
          </a:p>
          <a:p>
            <a:pPr algn="l"/>
            <a:endParaRPr lang="en-IN" sz="1400" cap="none" dirty="0">
              <a:solidFill>
                <a:srgbClr val="543E34"/>
              </a:solidFill>
              <a:effectLst/>
            </a:endParaRPr>
          </a:p>
        </p:txBody>
      </p:sp>
      <p:graphicFrame>
        <p:nvGraphicFramePr>
          <p:cNvPr id="2" name="Table 2">
            <a:extLst>
              <a:ext uri="{FF2B5EF4-FFF2-40B4-BE49-F238E27FC236}">
                <a16:creationId xmlns:a16="http://schemas.microsoft.com/office/drawing/2014/main" id="{183F3B30-5318-4B49-A9B1-4E0EE67A2A1B}"/>
              </a:ext>
            </a:extLst>
          </p:cNvPr>
          <p:cNvGraphicFramePr>
            <a:graphicFrameLocks noGrp="1"/>
          </p:cNvGraphicFramePr>
          <p:nvPr>
            <p:extLst>
              <p:ext uri="{D42A27DB-BD31-4B8C-83A1-F6EECF244321}">
                <p14:modId xmlns:p14="http://schemas.microsoft.com/office/powerpoint/2010/main" val="241452122"/>
              </p:ext>
            </p:extLst>
          </p:nvPr>
        </p:nvGraphicFramePr>
        <p:xfrm>
          <a:off x="1568823" y="2149886"/>
          <a:ext cx="8127999" cy="3571240"/>
        </p:xfrm>
        <a:graphic>
          <a:graphicData uri="http://schemas.openxmlformats.org/drawingml/2006/table">
            <a:tbl>
              <a:tblPr firstRow="1" bandRow="1">
                <a:tableStyleId>{2D5ABB26-0587-4C30-8999-92F81FD0307C}</a:tableStyleId>
              </a:tblPr>
              <a:tblGrid>
                <a:gridCol w="2709333">
                  <a:extLst>
                    <a:ext uri="{9D8B030D-6E8A-4147-A177-3AD203B41FA5}">
                      <a16:colId xmlns:a16="http://schemas.microsoft.com/office/drawing/2014/main" val="2387727759"/>
                    </a:ext>
                  </a:extLst>
                </a:gridCol>
                <a:gridCol w="2709333">
                  <a:extLst>
                    <a:ext uri="{9D8B030D-6E8A-4147-A177-3AD203B41FA5}">
                      <a16:colId xmlns:a16="http://schemas.microsoft.com/office/drawing/2014/main" val="684130009"/>
                    </a:ext>
                  </a:extLst>
                </a:gridCol>
                <a:gridCol w="2709333">
                  <a:extLst>
                    <a:ext uri="{9D8B030D-6E8A-4147-A177-3AD203B41FA5}">
                      <a16:colId xmlns:a16="http://schemas.microsoft.com/office/drawing/2014/main" val="1505337310"/>
                    </a:ext>
                  </a:extLst>
                </a:gridCol>
              </a:tblGrid>
              <a:tr h="370840">
                <a:tc>
                  <a:txBody>
                    <a:bodyPr/>
                    <a:lstStyle/>
                    <a:p>
                      <a:r>
                        <a:rPr lang="en-IN" sz="1800" b="1" kern="1200" dirty="0">
                          <a:solidFill>
                            <a:schemeClr val="tx1"/>
                          </a:solidFill>
                          <a:effectLst/>
                          <a:latin typeface="+mj-lt"/>
                          <a:ea typeface="+mn-ea"/>
                          <a:cs typeface="+mn-cs"/>
                        </a:rPr>
                        <a:t>Charter Pillar</a:t>
                      </a:r>
                      <a:endParaRPr lang="en-IN" b="1" dirty="0">
                        <a:latin typeface="+mj-lt"/>
                      </a:endParaRPr>
                    </a:p>
                  </a:txBody>
                  <a:tcPr>
                    <a:solidFill>
                      <a:srgbClr val="DBD3C5"/>
                    </a:solidFill>
                  </a:tcPr>
                </a:tc>
                <a:tc>
                  <a:txBody>
                    <a:bodyPr/>
                    <a:lstStyle/>
                    <a:p>
                      <a:r>
                        <a:rPr lang="en-IN" sz="1800" b="1" kern="1200" dirty="0">
                          <a:solidFill>
                            <a:schemeClr val="tx1"/>
                          </a:solidFill>
                          <a:effectLst/>
                          <a:latin typeface="+mj-lt"/>
                          <a:ea typeface="+mn-ea"/>
                          <a:cs typeface="+mn-cs"/>
                        </a:rPr>
                        <a:t>Mapped Requirement</a:t>
                      </a:r>
                      <a:endParaRPr lang="en-IN" b="1" dirty="0">
                        <a:latin typeface="+mj-lt"/>
                      </a:endParaRPr>
                    </a:p>
                  </a:txBody>
                  <a:tcPr>
                    <a:solidFill>
                      <a:srgbClr val="DBD3C5"/>
                    </a:solidFill>
                  </a:tcPr>
                </a:tc>
                <a:tc>
                  <a:txBody>
                    <a:bodyPr/>
                    <a:lstStyle/>
                    <a:p>
                      <a:r>
                        <a:rPr lang="en-IN" sz="1800" b="1" kern="1200" dirty="0">
                          <a:solidFill>
                            <a:schemeClr val="tx1"/>
                          </a:solidFill>
                          <a:effectLst/>
                          <a:latin typeface="+mj-lt"/>
                          <a:ea typeface="+mn-ea"/>
                          <a:cs typeface="+mn-cs"/>
                        </a:rPr>
                        <a:t>Why It Fits</a:t>
                      </a:r>
                      <a:endParaRPr lang="en-IN" b="1" dirty="0">
                        <a:latin typeface="+mj-lt"/>
                      </a:endParaRPr>
                    </a:p>
                  </a:txBody>
                  <a:tcPr>
                    <a:solidFill>
                      <a:srgbClr val="DBD3C5"/>
                    </a:solidFill>
                  </a:tcPr>
                </a:tc>
                <a:extLst>
                  <a:ext uri="{0D108BD9-81ED-4DB2-BD59-A6C34878D82A}">
                    <a16:rowId xmlns:a16="http://schemas.microsoft.com/office/drawing/2014/main" val="3304486123"/>
                  </a:ext>
                </a:extLst>
              </a:tr>
              <a:tr h="370840">
                <a:tc>
                  <a:txBody>
                    <a:bodyPr/>
                    <a:lstStyle/>
                    <a:p>
                      <a:r>
                        <a:rPr lang="en-IN" sz="1800" kern="1200" dirty="0">
                          <a:solidFill>
                            <a:schemeClr val="tx1"/>
                          </a:solidFill>
                          <a:effectLst/>
                          <a:latin typeface="+mn-lt"/>
                          <a:ea typeface="+mn-ea"/>
                          <a:cs typeface="+mn-cs"/>
                        </a:rPr>
                        <a:t>Safety-first</a:t>
                      </a:r>
                      <a:endParaRPr lang="en-IN" sz="1800" dirty="0"/>
                    </a:p>
                  </a:txBody>
                  <a:tcPr>
                    <a:solidFill>
                      <a:srgbClr val="DBD3C5"/>
                    </a:solidFill>
                  </a:tcPr>
                </a:tc>
                <a:tc>
                  <a:txBody>
                    <a:bodyPr/>
                    <a:lstStyle/>
                    <a:p>
                      <a:r>
                        <a:rPr lang="en-IN" sz="1800" kern="1200" dirty="0">
                          <a:solidFill>
                            <a:schemeClr val="tx1"/>
                          </a:solidFill>
                          <a:effectLst/>
                          <a:latin typeface="+mn-lt"/>
                          <a:ea typeface="+mn-ea"/>
                          <a:cs typeface="+mn-cs"/>
                        </a:rPr>
                        <a:t>BR1, TR3, TR2</a:t>
                      </a:r>
                      <a:endParaRPr lang="en-IN" sz="1800" dirty="0"/>
                    </a:p>
                  </a:txBody>
                  <a:tcPr>
                    <a:solidFill>
                      <a:srgbClr val="DBD3C5"/>
                    </a:solidFill>
                  </a:tcPr>
                </a:tc>
                <a:tc>
                  <a:txBody>
                    <a:bodyPr/>
                    <a:lstStyle/>
                    <a:p>
                      <a:r>
                        <a:rPr lang="en-IN" sz="1800" kern="1200" dirty="0">
                          <a:solidFill>
                            <a:schemeClr val="tx1"/>
                          </a:solidFill>
                          <a:effectLst/>
                          <a:latin typeface="+mn-lt"/>
                          <a:ea typeface="+mn-ea"/>
                          <a:cs typeface="+mn-cs"/>
                        </a:rPr>
                        <a:t>Ensures physical &amp; psychological safety</a:t>
                      </a:r>
                      <a:endParaRPr lang="en-IN" sz="1800" dirty="0"/>
                    </a:p>
                  </a:txBody>
                  <a:tcPr>
                    <a:solidFill>
                      <a:srgbClr val="DBD3C5"/>
                    </a:solidFill>
                  </a:tcPr>
                </a:tc>
                <a:extLst>
                  <a:ext uri="{0D108BD9-81ED-4DB2-BD59-A6C34878D82A}">
                    <a16:rowId xmlns:a16="http://schemas.microsoft.com/office/drawing/2014/main" val="3534323913"/>
                  </a:ext>
                </a:extLst>
              </a:tr>
              <a:tr h="370840">
                <a:tc>
                  <a:txBody>
                    <a:bodyPr/>
                    <a:lstStyle/>
                    <a:p>
                      <a:r>
                        <a:rPr lang="en-IN" sz="1800" kern="1200" dirty="0">
                          <a:solidFill>
                            <a:schemeClr val="tx1"/>
                          </a:solidFill>
                          <a:effectLst/>
                          <a:latin typeface="+mn-lt"/>
                          <a:ea typeface="+mn-ea"/>
                          <a:cs typeface="+mn-cs"/>
                        </a:rPr>
                        <a:t>Women-driven mobility</a:t>
                      </a:r>
                      <a:endParaRPr lang="en-IN" sz="1800" dirty="0"/>
                    </a:p>
                  </a:txBody>
                  <a:tcPr>
                    <a:solidFill>
                      <a:srgbClr val="DBD3C5"/>
                    </a:solidFill>
                  </a:tcPr>
                </a:tc>
                <a:tc>
                  <a:txBody>
                    <a:bodyPr/>
                    <a:lstStyle/>
                    <a:p>
                      <a:r>
                        <a:rPr lang="en-IN" sz="1800" kern="1200" dirty="0">
                          <a:solidFill>
                            <a:schemeClr val="tx1"/>
                          </a:solidFill>
                          <a:effectLst/>
                          <a:latin typeface="+mn-lt"/>
                          <a:ea typeface="+mn-ea"/>
                          <a:cs typeface="+mn-cs"/>
                        </a:rPr>
                        <a:t>BR2, BR5, TR1</a:t>
                      </a:r>
                      <a:endParaRPr lang="en-IN" sz="1800" dirty="0"/>
                    </a:p>
                  </a:txBody>
                  <a:tcPr>
                    <a:solidFill>
                      <a:srgbClr val="DBD3C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Builds trust, empowers women drivers</a:t>
                      </a:r>
                    </a:p>
                  </a:txBody>
                  <a:tcPr>
                    <a:solidFill>
                      <a:srgbClr val="DBD3C5"/>
                    </a:solidFill>
                  </a:tcPr>
                </a:tc>
                <a:extLst>
                  <a:ext uri="{0D108BD9-81ED-4DB2-BD59-A6C34878D82A}">
                    <a16:rowId xmlns:a16="http://schemas.microsoft.com/office/drawing/2014/main" val="1946320279"/>
                  </a:ext>
                </a:extLst>
              </a:tr>
              <a:tr h="370840">
                <a:tc>
                  <a:txBody>
                    <a:bodyPr/>
                    <a:lstStyle/>
                    <a:p>
                      <a:r>
                        <a:rPr lang="en-IN" sz="1800" kern="1200" dirty="0">
                          <a:solidFill>
                            <a:schemeClr val="tx1"/>
                          </a:solidFill>
                          <a:effectLst/>
                          <a:latin typeface="+mn-lt"/>
                          <a:ea typeface="+mn-ea"/>
                          <a:cs typeface="+mn-cs"/>
                        </a:rPr>
                        <a:t>Trust &amp; transparency</a:t>
                      </a:r>
                      <a:endParaRPr lang="en-IN" sz="1800" dirty="0"/>
                    </a:p>
                  </a:txBody>
                  <a:tcPr>
                    <a:solidFill>
                      <a:srgbClr val="DBD3C5"/>
                    </a:solidFill>
                  </a:tcPr>
                </a:tc>
                <a:tc>
                  <a:txBody>
                    <a:bodyPr/>
                    <a:lstStyle/>
                    <a:p>
                      <a:r>
                        <a:rPr lang="en-IN" sz="1800" kern="1200" dirty="0">
                          <a:solidFill>
                            <a:schemeClr val="tx1"/>
                          </a:solidFill>
                          <a:effectLst/>
                          <a:latin typeface="+mn-lt"/>
                          <a:ea typeface="+mn-ea"/>
                          <a:cs typeface="+mn-cs"/>
                        </a:rPr>
                        <a:t>BR3, TR1, TR2</a:t>
                      </a:r>
                      <a:endParaRPr lang="en-IN" sz="1800" dirty="0"/>
                    </a:p>
                  </a:txBody>
                  <a:tcPr>
                    <a:solidFill>
                      <a:srgbClr val="DBD3C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tx1"/>
                          </a:solidFill>
                          <a:effectLst/>
                          <a:latin typeface="+mn-lt"/>
                          <a:ea typeface="+mn-ea"/>
                          <a:cs typeface="+mn-cs"/>
                        </a:rPr>
                        <a:t>Verified drivers, reliable tracking</a:t>
                      </a:r>
                    </a:p>
                  </a:txBody>
                  <a:tcPr>
                    <a:solidFill>
                      <a:srgbClr val="DBD3C5"/>
                    </a:solidFill>
                  </a:tcPr>
                </a:tc>
                <a:extLst>
                  <a:ext uri="{0D108BD9-81ED-4DB2-BD59-A6C34878D82A}">
                    <a16:rowId xmlns:a16="http://schemas.microsoft.com/office/drawing/2014/main" val="1536596158"/>
                  </a:ext>
                </a:extLst>
              </a:tr>
              <a:tr h="370840">
                <a:tc>
                  <a:txBody>
                    <a:bodyPr/>
                    <a:lstStyle/>
                    <a:p>
                      <a:r>
                        <a:rPr lang="en-IN" sz="1800" kern="1200" dirty="0">
                          <a:solidFill>
                            <a:schemeClr val="tx1"/>
                          </a:solidFill>
                          <a:effectLst/>
                          <a:latin typeface="+mn-lt"/>
                          <a:ea typeface="+mn-ea"/>
                          <a:cs typeface="+mn-cs"/>
                        </a:rPr>
                        <a:t>Reliability &amp; comfort</a:t>
                      </a:r>
                      <a:endParaRPr lang="en-IN" sz="1800" dirty="0"/>
                    </a:p>
                  </a:txBody>
                  <a:tcPr>
                    <a:solidFill>
                      <a:srgbClr val="DBD3C5"/>
                    </a:solidFill>
                  </a:tcPr>
                </a:tc>
                <a:tc>
                  <a:txBody>
                    <a:bodyPr/>
                    <a:lstStyle/>
                    <a:p>
                      <a:r>
                        <a:rPr lang="en-IN" sz="1800" kern="1200" dirty="0">
                          <a:solidFill>
                            <a:schemeClr val="tx1"/>
                          </a:solidFill>
                          <a:effectLst/>
                          <a:latin typeface="+mn-lt"/>
                          <a:ea typeface="+mn-ea"/>
                          <a:cs typeface="+mn-cs"/>
                        </a:rPr>
                        <a:t>BR3, TR4, TR6</a:t>
                      </a:r>
                      <a:endParaRPr lang="en-IN" sz="1800" dirty="0"/>
                    </a:p>
                  </a:txBody>
                  <a:tcPr>
                    <a:solidFill>
                      <a:srgbClr val="DBD3C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Makes daily commuting predictable and comfortable</a:t>
                      </a:r>
                    </a:p>
                  </a:txBody>
                  <a:tcPr>
                    <a:solidFill>
                      <a:srgbClr val="DBD3C5"/>
                    </a:solidFill>
                  </a:tcPr>
                </a:tc>
                <a:extLst>
                  <a:ext uri="{0D108BD9-81ED-4DB2-BD59-A6C34878D82A}">
                    <a16:rowId xmlns:a16="http://schemas.microsoft.com/office/drawing/2014/main" val="3400339261"/>
                  </a:ext>
                </a:extLst>
              </a:tr>
              <a:tr h="370840">
                <a:tc>
                  <a:txBody>
                    <a:bodyPr/>
                    <a:lstStyle/>
                    <a:p>
                      <a:r>
                        <a:rPr lang="en-IN" sz="1800" kern="1200" dirty="0">
                          <a:solidFill>
                            <a:schemeClr val="tx1"/>
                          </a:solidFill>
                          <a:effectLst/>
                          <a:latin typeface="+mn-lt"/>
                          <a:ea typeface="+mn-ea"/>
                          <a:cs typeface="+mn-cs"/>
                        </a:rPr>
                        <a:t>Inclusive empowerment</a:t>
                      </a:r>
                      <a:endParaRPr lang="en-IN" sz="1800" dirty="0"/>
                    </a:p>
                  </a:txBody>
                  <a:tcPr>
                    <a:solidFill>
                      <a:srgbClr val="DBD3C5"/>
                    </a:solidFill>
                  </a:tcPr>
                </a:tc>
                <a:tc>
                  <a:txBody>
                    <a:bodyPr/>
                    <a:lstStyle/>
                    <a:p>
                      <a:r>
                        <a:rPr lang="en-IN" sz="1800" kern="1200" dirty="0">
                          <a:solidFill>
                            <a:schemeClr val="tx1"/>
                          </a:solidFill>
                          <a:effectLst/>
                          <a:latin typeface="+mn-lt"/>
                          <a:ea typeface="+mn-ea"/>
                          <a:cs typeface="+mn-cs"/>
                        </a:rPr>
                        <a:t>BR5, TR5</a:t>
                      </a:r>
                      <a:endParaRPr lang="en-IN" sz="1800" dirty="0"/>
                    </a:p>
                  </a:txBody>
                  <a:tcPr>
                    <a:solidFill>
                      <a:srgbClr val="DBD3C5"/>
                    </a:solidFill>
                  </a:tcPr>
                </a:tc>
                <a:tc>
                  <a:txBody>
                    <a:bodyPr/>
                    <a:lstStyle/>
                    <a:p>
                      <a:r>
                        <a:rPr lang="en-US" sz="1800" kern="1200" dirty="0">
                          <a:solidFill>
                            <a:schemeClr val="tx1"/>
                          </a:solidFill>
                          <a:effectLst/>
                          <a:latin typeface="+mn-lt"/>
                          <a:ea typeface="+mn-ea"/>
                          <a:cs typeface="+mn-cs"/>
                        </a:rPr>
                        <a:t>Supports women drivers &amp; community building</a:t>
                      </a:r>
                      <a:endParaRPr lang="en-IN" sz="1800" dirty="0"/>
                    </a:p>
                  </a:txBody>
                  <a:tcPr>
                    <a:solidFill>
                      <a:srgbClr val="DBD3C5"/>
                    </a:solidFill>
                  </a:tcPr>
                </a:tc>
                <a:extLst>
                  <a:ext uri="{0D108BD9-81ED-4DB2-BD59-A6C34878D82A}">
                    <a16:rowId xmlns:a16="http://schemas.microsoft.com/office/drawing/2014/main" val="2398109917"/>
                  </a:ext>
                </a:extLst>
              </a:tr>
            </a:tbl>
          </a:graphicData>
        </a:graphic>
      </p:graphicFrame>
    </p:spTree>
    <p:extLst>
      <p:ext uri="{BB962C8B-B14F-4D97-AF65-F5344CB8AC3E}">
        <p14:creationId xmlns:p14="http://schemas.microsoft.com/office/powerpoint/2010/main" val="2153230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561474" y="365723"/>
            <a:ext cx="10360152" cy="663927"/>
          </a:xfrm>
        </p:spPr>
        <p:txBody>
          <a:bodyPr/>
          <a:lstStyle/>
          <a:p>
            <a:r>
              <a:rPr lang="en-IN" sz="4800" dirty="0">
                <a:solidFill>
                  <a:srgbClr val="543E34"/>
                </a:solidFill>
                <a:effectLst/>
              </a:rPr>
              <a:t>Product backlog</a:t>
            </a:r>
            <a:endParaRPr lang="en-US" sz="7200" dirty="0">
              <a:solidFill>
                <a:srgbClr val="543E34"/>
              </a:solidFill>
            </a:endParaRPr>
          </a:p>
        </p:txBody>
      </p:sp>
      <p:graphicFrame>
        <p:nvGraphicFramePr>
          <p:cNvPr id="3" name="Table 3">
            <a:extLst>
              <a:ext uri="{FF2B5EF4-FFF2-40B4-BE49-F238E27FC236}">
                <a16:creationId xmlns:a16="http://schemas.microsoft.com/office/drawing/2014/main" id="{188BF009-A3E8-4842-9D2E-79B442A23D8B}"/>
              </a:ext>
            </a:extLst>
          </p:cNvPr>
          <p:cNvGraphicFramePr>
            <a:graphicFrameLocks noGrp="1"/>
          </p:cNvGraphicFramePr>
          <p:nvPr>
            <p:extLst>
              <p:ext uri="{D42A27DB-BD31-4B8C-83A1-F6EECF244321}">
                <p14:modId xmlns:p14="http://schemas.microsoft.com/office/powerpoint/2010/main" val="1829757056"/>
              </p:ext>
            </p:extLst>
          </p:nvPr>
        </p:nvGraphicFramePr>
        <p:xfrm>
          <a:off x="1590655" y="1615518"/>
          <a:ext cx="8301789" cy="1972765"/>
        </p:xfrm>
        <a:graphic>
          <a:graphicData uri="http://schemas.openxmlformats.org/drawingml/2006/table">
            <a:tbl>
              <a:tblPr firstRow="1" bandRow="1">
                <a:tableStyleId>{2D5ABB26-0587-4C30-8999-92F81FD0307C}</a:tableStyleId>
              </a:tblPr>
              <a:tblGrid>
                <a:gridCol w="2767263">
                  <a:extLst>
                    <a:ext uri="{9D8B030D-6E8A-4147-A177-3AD203B41FA5}">
                      <a16:colId xmlns:a16="http://schemas.microsoft.com/office/drawing/2014/main" val="3987635383"/>
                    </a:ext>
                  </a:extLst>
                </a:gridCol>
                <a:gridCol w="2767263">
                  <a:extLst>
                    <a:ext uri="{9D8B030D-6E8A-4147-A177-3AD203B41FA5}">
                      <a16:colId xmlns:a16="http://schemas.microsoft.com/office/drawing/2014/main" val="3277238072"/>
                    </a:ext>
                  </a:extLst>
                </a:gridCol>
                <a:gridCol w="2767263">
                  <a:extLst>
                    <a:ext uri="{9D8B030D-6E8A-4147-A177-3AD203B41FA5}">
                      <a16:colId xmlns:a16="http://schemas.microsoft.com/office/drawing/2014/main" val="1939899400"/>
                    </a:ext>
                  </a:extLst>
                </a:gridCol>
              </a:tblGrid>
              <a:tr h="418285">
                <a:tc>
                  <a:txBody>
                    <a:bodyPr/>
                    <a:lstStyle/>
                    <a:p>
                      <a:r>
                        <a:rPr lang="en-IN" b="1" dirty="0">
                          <a:latin typeface="+mj-lt"/>
                        </a:rPr>
                        <a:t>User Story</a:t>
                      </a:r>
                    </a:p>
                  </a:txBody>
                  <a:tcPr>
                    <a:solidFill>
                      <a:srgbClr val="C38E81"/>
                    </a:solidFill>
                  </a:tcPr>
                </a:tc>
                <a:tc>
                  <a:txBody>
                    <a:bodyPr/>
                    <a:lstStyle/>
                    <a:p>
                      <a:pPr algn="l"/>
                      <a:r>
                        <a:rPr lang="en-IN" b="1" dirty="0">
                          <a:latin typeface="+mj-lt"/>
                        </a:rPr>
                        <a:t>Description</a:t>
                      </a:r>
                    </a:p>
                  </a:txBody>
                  <a:tcPr>
                    <a:solidFill>
                      <a:srgbClr val="C38E81"/>
                    </a:solidFill>
                  </a:tcPr>
                </a:tc>
                <a:tc>
                  <a:txBody>
                    <a:bodyPr/>
                    <a:lstStyle/>
                    <a:p>
                      <a:r>
                        <a:rPr lang="en-IN" b="1" dirty="0">
                          <a:latin typeface="+mj-lt"/>
                        </a:rPr>
                        <a:t>Acceptance criteria</a:t>
                      </a:r>
                    </a:p>
                  </a:txBody>
                  <a:tcPr>
                    <a:solidFill>
                      <a:srgbClr val="C38E81"/>
                    </a:solidFill>
                  </a:tcPr>
                </a:tc>
                <a:extLst>
                  <a:ext uri="{0D108BD9-81ED-4DB2-BD59-A6C34878D82A}">
                    <a16:rowId xmlns:a16="http://schemas.microsoft.com/office/drawing/2014/main" val="2554864240"/>
                  </a:ext>
                </a:extLst>
              </a:tr>
              <a:tr h="426272">
                <a:tc>
                  <a:txBody>
                    <a:bodyPr/>
                    <a:lstStyle/>
                    <a:p>
                      <a:r>
                        <a:rPr lang="en-IN" sz="1400" dirty="0"/>
                        <a:t>Safety-001</a:t>
                      </a:r>
                    </a:p>
                  </a:txBody>
                  <a:tcPr>
                    <a:solidFill>
                      <a:srgbClr val="C38E81"/>
                    </a:solidFill>
                  </a:tcPr>
                </a:tc>
                <a:tc>
                  <a:txBody>
                    <a:bodyPr/>
                    <a:lstStyle/>
                    <a:p>
                      <a:pPr algn="l"/>
                      <a:r>
                        <a:rPr lang="en-US" sz="1400" dirty="0"/>
                        <a:t>As a rider, I want an SOS button so I can trigger emergency help instantly.</a:t>
                      </a:r>
                      <a:endParaRPr lang="en-IN" sz="1400" dirty="0"/>
                    </a:p>
                  </a:txBody>
                  <a:tcPr>
                    <a:solidFill>
                      <a:srgbClr val="C38E81"/>
                    </a:solidFill>
                  </a:tcPr>
                </a:tc>
                <a:tc>
                  <a:txBody>
                    <a:bodyPr/>
                    <a:lstStyle/>
                    <a:p>
                      <a:r>
                        <a:rPr lang="en-US" sz="1400" dirty="0"/>
                        <a:t>SOS must notify trusted contacts + backend safety response system.</a:t>
                      </a:r>
                      <a:endParaRPr lang="en-IN" sz="1400" dirty="0"/>
                    </a:p>
                  </a:txBody>
                  <a:tcPr>
                    <a:solidFill>
                      <a:srgbClr val="C38E81"/>
                    </a:solidFill>
                  </a:tcPr>
                </a:tc>
                <a:extLst>
                  <a:ext uri="{0D108BD9-81ED-4DB2-BD59-A6C34878D82A}">
                    <a16:rowId xmlns:a16="http://schemas.microsoft.com/office/drawing/2014/main" val="382720384"/>
                  </a:ext>
                </a:extLst>
              </a:tr>
              <a:tr h="453167">
                <a:tc>
                  <a:txBody>
                    <a:bodyPr/>
                    <a:lstStyle/>
                    <a:p>
                      <a:r>
                        <a:rPr lang="en-IN" sz="1400" dirty="0"/>
                        <a:t>Safety-002</a:t>
                      </a:r>
                    </a:p>
                  </a:txBody>
                  <a:tcPr>
                    <a:solidFill>
                      <a:srgbClr val="C38E81"/>
                    </a:solidFill>
                  </a:tcPr>
                </a:tc>
                <a:tc>
                  <a:txBody>
                    <a:bodyPr/>
                    <a:lstStyle/>
                    <a:p>
                      <a:pPr algn="l"/>
                      <a:r>
                        <a:rPr lang="en-US" sz="1400" dirty="0"/>
                        <a:t>As a rider, I want my ride to be tracked live so I feel safer.</a:t>
                      </a:r>
                      <a:endParaRPr lang="en-IN" sz="1400" dirty="0"/>
                    </a:p>
                  </a:txBody>
                  <a:tcPr>
                    <a:solidFill>
                      <a:srgbClr val="C38E81"/>
                    </a:solidFill>
                  </a:tcPr>
                </a:tc>
                <a:tc>
                  <a:txBody>
                    <a:bodyPr/>
                    <a:lstStyle/>
                    <a:p>
                      <a:r>
                        <a:rPr lang="en-US" sz="1400" dirty="0"/>
                        <a:t>Real-time GPS visible to rider + trusted contacts.</a:t>
                      </a:r>
                      <a:endParaRPr lang="en-IN" sz="1400" dirty="0"/>
                    </a:p>
                  </a:txBody>
                  <a:tcPr>
                    <a:solidFill>
                      <a:srgbClr val="C38E81"/>
                    </a:solidFill>
                  </a:tcPr>
                </a:tc>
                <a:extLst>
                  <a:ext uri="{0D108BD9-81ED-4DB2-BD59-A6C34878D82A}">
                    <a16:rowId xmlns:a16="http://schemas.microsoft.com/office/drawing/2014/main" val="2225074056"/>
                  </a:ext>
                </a:extLst>
              </a:tr>
              <a:tr h="435237">
                <a:tc>
                  <a:txBody>
                    <a:bodyPr/>
                    <a:lstStyle/>
                    <a:p>
                      <a:r>
                        <a:rPr lang="en-IN" sz="1400" dirty="0"/>
                        <a:t>Safety-003</a:t>
                      </a:r>
                    </a:p>
                  </a:txBody>
                  <a:tcPr>
                    <a:solidFill>
                      <a:srgbClr val="C38E81"/>
                    </a:solidFill>
                  </a:tcPr>
                </a:tc>
                <a:tc>
                  <a:txBody>
                    <a:bodyPr/>
                    <a:lstStyle/>
                    <a:p>
                      <a:pPr algn="l"/>
                      <a:r>
                        <a:rPr lang="en-US" sz="1400" dirty="0"/>
                        <a:t>As a rider, I want only verified women drivers.</a:t>
                      </a:r>
                      <a:endParaRPr lang="en-IN" sz="1400" dirty="0"/>
                    </a:p>
                  </a:txBody>
                  <a:tcPr>
                    <a:solidFill>
                      <a:srgbClr val="C38E81"/>
                    </a:solidFill>
                  </a:tcPr>
                </a:tc>
                <a:tc>
                  <a:txBody>
                    <a:bodyPr/>
                    <a:lstStyle/>
                    <a:p>
                      <a:r>
                        <a:rPr lang="en-IN" sz="1400" dirty="0"/>
                        <a:t>Driver KYC + gender verification mandatory before activation.</a:t>
                      </a:r>
                    </a:p>
                  </a:txBody>
                  <a:tcPr>
                    <a:solidFill>
                      <a:srgbClr val="C38E81"/>
                    </a:solidFill>
                  </a:tcPr>
                </a:tc>
                <a:extLst>
                  <a:ext uri="{0D108BD9-81ED-4DB2-BD59-A6C34878D82A}">
                    <a16:rowId xmlns:a16="http://schemas.microsoft.com/office/drawing/2014/main" val="2468053675"/>
                  </a:ext>
                </a:extLst>
              </a:tr>
            </a:tbl>
          </a:graphicData>
        </a:graphic>
      </p:graphicFrame>
      <p:sp>
        <p:nvSpPr>
          <p:cNvPr id="2" name="TextBox 1">
            <a:extLst>
              <a:ext uri="{FF2B5EF4-FFF2-40B4-BE49-F238E27FC236}">
                <a16:creationId xmlns:a16="http://schemas.microsoft.com/office/drawing/2014/main" id="{2284CB03-E3C5-472F-93ED-D0EB6626EF1C}"/>
              </a:ext>
            </a:extLst>
          </p:cNvPr>
          <p:cNvSpPr txBox="1"/>
          <p:nvPr/>
        </p:nvSpPr>
        <p:spPr>
          <a:xfrm>
            <a:off x="561474" y="1171329"/>
            <a:ext cx="3430061" cy="369332"/>
          </a:xfrm>
          <a:prstGeom prst="rect">
            <a:avLst/>
          </a:prstGeom>
          <a:noFill/>
        </p:spPr>
        <p:txBody>
          <a:bodyPr wrap="square" rtlCol="0">
            <a:spAutoFit/>
          </a:bodyPr>
          <a:lstStyle/>
          <a:p>
            <a:r>
              <a:rPr lang="en-US" b="1" dirty="0"/>
              <a:t>EPIC 1: User Safety &amp; Trust</a:t>
            </a:r>
            <a:endParaRPr lang="en-IN" b="1" dirty="0"/>
          </a:p>
        </p:txBody>
      </p:sp>
      <p:sp>
        <p:nvSpPr>
          <p:cNvPr id="5" name="TextBox 4">
            <a:extLst>
              <a:ext uri="{FF2B5EF4-FFF2-40B4-BE49-F238E27FC236}">
                <a16:creationId xmlns:a16="http://schemas.microsoft.com/office/drawing/2014/main" id="{53114A44-6184-4D77-998E-550862A475C5}"/>
              </a:ext>
            </a:extLst>
          </p:cNvPr>
          <p:cNvSpPr txBox="1"/>
          <p:nvPr/>
        </p:nvSpPr>
        <p:spPr>
          <a:xfrm>
            <a:off x="561474" y="3804819"/>
            <a:ext cx="3815545" cy="369332"/>
          </a:xfrm>
          <a:prstGeom prst="rect">
            <a:avLst/>
          </a:prstGeom>
          <a:noFill/>
        </p:spPr>
        <p:txBody>
          <a:bodyPr wrap="square" rtlCol="0">
            <a:spAutoFit/>
          </a:bodyPr>
          <a:lstStyle/>
          <a:p>
            <a:r>
              <a:rPr lang="en-US" b="1" dirty="0"/>
              <a:t>EPIC 2: Ride Booking &amp; Core Mobility</a:t>
            </a:r>
            <a:endParaRPr lang="en-IN" b="1" dirty="0"/>
          </a:p>
        </p:txBody>
      </p:sp>
      <p:graphicFrame>
        <p:nvGraphicFramePr>
          <p:cNvPr id="6" name="Table 3">
            <a:extLst>
              <a:ext uri="{FF2B5EF4-FFF2-40B4-BE49-F238E27FC236}">
                <a16:creationId xmlns:a16="http://schemas.microsoft.com/office/drawing/2014/main" id="{3474A307-AB9E-42A3-B735-2EF9ED813E1E}"/>
              </a:ext>
            </a:extLst>
          </p:cNvPr>
          <p:cNvGraphicFramePr>
            <a:graphicFrameLocks noGrp="1"/>
          </p:cNvGraphicFramePr>
          <p:nvPr>
            <p:extLst>
              <p:ext uri="{D42A27DB-BD31-4B8C-83A1-F6EECF244321}">
                <p14:modId xmlns:p14="http://schemas.microsoft.com/office/powerpoint/2010/main" val="2796424251"/>
              </p:ext>
            </p:extLst>
          </p:nvPr>
        </p:nvGraphicFramePr>
        <p:xfrm>
          <a:off x="1590655" y="4271552"/>
          <a:ext cx="8301789" cy="2478297"/>
        </p:xfrm>
        <a:graphic>
          <a:graphicData uri="http://schemas.openxmlformats.org/drawingml/2006/table">
            <a:tbl>
              <a:tblPr firstRow="1" bandRow="1">
                <a:tableStyleId>{2D5ABB26-0587-4C30-8999-92F81FD0307C}</a:tableStyleId>
              </a:tblPr>
              <a:tblGrid>
                <a:gridCol w="2767263">
                  <a:extLst>
                    <a:ext uri="{9D8B030D-6E8A-4147-A177-3AD203B41FA5}">
                      <a16:colId xmlns:a16="http://schemas.microsoft.com/office/drawing/2014/main" val="3987635383"/>
                    </a:ext>
                  </a:extLst>
                </a:gridCol>
                <a:gridCol w="2767263">
                  <a:extLst>
                    <a:ext uri="{9D8B030D-6E8A-4147-A177-3AD203B41FA5}">
                      <a16:colId xmlns:a16="http://schemas.microsoft.com/office/drawing/2014/main" val="3277238072"/>
                    </a:ext>
                  </a:extLst>
                </a:gridCol>
                <a:gridCol w="2767263">
                  <a:extLst>
                    <a:ext uri="{9D8B030D-6E8A-4147-A177-3AD203B41FA5}">
                      <a16:colId xmlns:a16="http://schemas.microsoft.com/office/drawing/2014/main" val="1939899400"/>
                    </a:ext>
                  </a:extLst>
                </a:gridCol>
              </a:tblGrid>
              <a:tr h="405657">
                <a:tc>
                  <a:txBody>
                    <a:bodyPr/>
                    <a:lstStyle/>
                    <a:p>
                      <a:r>
                        <a:rPr lang="en-IN" b="1" dirty="0">
                          <a:latin typeface="+mj-lt"/>
                        </a:rPr>
                        <a:t>User Story</a:t>
                      </a:r>
                    </a:p>
                  </a:txBody>
                  <a:tcPr>
                    <a:solidFill>
                      <a:srgbClr val="C38E81"/>
                    </a:solidFill>
                  </a:tcPr>
                </a:tc>
                <a:tc>
                  <a:txBody>
                    <a:bodyPr/>
                    <a:lstStyle/>
                    <a:p>
                      <a:pPr algn="l"/>
                      <a:r>
                        <a:rPr lang="en-IN" b="1" dirty="0">
                          <a:latin typeface="+mj-lt"/>
                        </a:rPr>
                        <a:t>Description</a:t>
                      </a:r>
                    </a:p>
                  </a:txBody>
                  <a:tcPr>
                    <a:solidFill>
                      <a:srgbClr val="C38E81"/>
                    </a:solidFill>
                  </a:tcPr>
                </a:tc>
                <a:tc>
                  <a:txBody>
                    <a:bodyPr/>
                    <a:lstStyle/>
                    <a:p>
                      <a:r>
                        <a:rPr lang="en-IN" b="1" dirty="0">
                          <a:latin typeface="+mj-lt"/>
                        </a:rPr>
                        <a:t>Acceptance criteria</a:t>
                      </a:r>
                    </a:p>
                  </a:txBody>
                  <a:tcPr>
                    <a:solidFill>
                      <a:srgbClr val="C38E81"/>
                    </a:solidFill>
                  </a:tcPr>
                </a:tc>
                <a:extLst>
                  <a:ext uri="{0D108BD9-81ED-4DB2-BD59-A6C34878D82A}">
                    <a16:rowId xmlns:a16="http://schemas.microsoft.com/office/drawing/2014/main" val="2554864240"/>
                  </a:ext>
                </a:extLst>
              </a:tr>
              <a:tr h="426272">
                <a:tc>
                  <a:txBody>
                    <a:bodyPr/>
                    <a:lstStyle/>
                    <a:p>
                      <a:r>
                        <a:rPr lang="en-IN" sz="1400" dirty="0"/>
                        <a:t>Ride-001</a:t>
                      </a:r>
                    </a:p>
                  </a:txBody>
                  <a:tcPr>
                    <a:solidFill>
                      <a:srgbClr val="C38E81"/>
                    </a:solidFill>
                  </a:tcPr>
                </a:tc>
                <a:tc>
                  <a:txBody>
                    <a:bodyPr/>
                    <a:lstStyle/>
                    <a:p>
                      <a:r>
                        <a:rPr lang="en-US" sz="1400" dirty="0"/>
                        <a:t>As a rider, I want to request a ride easily.</a:t>
                      </a:r>
                      <a:endParaRPr lang="en-IN" sz="1400" dirty="0"/>
                    </a:p>
                  </a:txBody>
                  <a:tcPr anchor="ctr">
                    <a:solidFill>
                      <a:srgbClr val="C38E81"/>
                    </a:solidFill>
                  </a:tcPr>
                </a:tc>
                <a:tc>
                  <a:txBody>
                    <a:bodyPr/>
                    <a:lstStyle/>
                    <a:p>
                      <a:r>
                        <a:rPr lang="en-US" sz="1400" dirty="0"/>
                        <a:t>Pickup → drop → fare → confirm flow built.</a:t>
                      </a:r>
                      <a:endParaRPr lang="en-IN" sz="1400" dirty="0"/>
                    </a:p>
                  </a:txBody>
                  <a:tcPr>
                    <a:solidFill>
                      <a:srgbClr val="C38E81"/>
                    </a:solidFill>
                  </a:tcPr>
                </a:tc>
                <a:extLst>
                  <a:ext uri="{0D108BD9-81ED-4DB2-BD59-A6C34878D82A}">
                    <a16:rowId xmlns:a16="http://schemas.microsoft.com/office/drawing/2014/main" val="382720384"/>
                  </a:ext>
                </a:extLst>
              </a:tr>
              <a:tr h="453167">
                <a:tc>
                  <a:txBody>
                    <a:bodyPr/>
                    <a:lstStyle/>
                    <a:p>
                      <a:r>
                        <a:rPr lang="en-IN" sz="1400" dirty="0"/>
                        <a:t>Ride-002</a:t>
                      </a:r>
                    </a:p>
                  </a:txBody>
                  <a:tcPr>
                    <a:solidFill>
                      <a:srgbClr val="C38E81"/>
                    </a:solidFill>
                  </a:tcPr>
                </a:tc>
                <a:tc>
                  <a:txBody>
                    <a:bodyPr/>
                    <a:lstStyle/>
                    <a:p>
                      <a:r>
                        <a:rPr lang="en-US" sz="1400" dirty="0"/>
                        <a:t>As a rider, I want to see my driver’s details before the ride.</a:t>
                      </a:r>
                      <a:endParaRPr lang="en-IN" sz="1400" dirty="0"/>
                    </a:p>
                  </a:txBody>
                  <a:tcPr anchor="ctr">
                    <a:solidFill>
                      <a:srgbClr val="C38E81"/>
                    </a:solidFill>
                  </a:tcPr>
                </a:tc>
                <a:tc>
                  <a:txBody>
                    <a:bodyPr/>
                    <a:lstStyle/>
                    <a:p>
                      <a:r>
                        <a:rPr lang="en-US" sz="1400" dirty="0"/>
                        <a:t>Driver photo, name, rating, vehicle number visible.</a:t>
                      </a:r>
                      <a:endParaRPr lang="en-IN" sz="1400" dirty="0"/>
                    </a:p>
                  </a:txBody>
                  <a:tcPr>
                    <a:solidFill>
                      <a:srgbClr val="C38E81"/>
                    </a:solidFill>
                  </a:tcPr>
                </a:tc>
                <a:extLst>
                  <a:ext uri="{0D108BD9-81ED-4DB2-BD59-A6C34878D82A}">
                    <a16:rowId xmlns:a16="http://schemas.microsoft.com/office/drawing/2014/main" val="2225074056"/>
                  </a:ext>
                </a:extLst>
              </a:tr>
              <a:tr h="435237">
                <a:tc>
                  <a:txBody>
                    <a:bodyPr/>
                    <a:lstStyle/>
                    <a:p>
                      <a:r>
                        <a:rPr lang="en-IN" sz="1400" dirty="0"/>
                        <a:t>Ride-003</a:t>
                      </a:r>
                    </a:p>
                  </a:txBody>
                  <a:tcPr>
                    <a:solidFill>
                      <a:srgbClr val="C38E81"/>
                    </a:solidFill>
                  </a:tcPr>
                </a:tc>
                <a:tc>
                  <a:txBody>
                    <a:bodyPr/>
                    <a:lstStyle/>
                    <a:p>
                      <a:pPr algn="l"/>
                      <a:r>
                        <a:rPr lang="en-US" sz="1400" dirty="0"/>
                        <a:t>As a driver, I want to accept or reject ride requests.</a:t>
                      </a:r>
                      <a:endParaRPr lang="en-IN" sz="1400" dirty="0"/>
                    </a:p>
                  </a:txBody>
                  <a:tcPr>
                    <a:solidFill>
                      <a:srgbClr val="C38E81"/>
                    </a:solidFill>
                  </a:tcPr>
                </a:tc>
                <a:tc>
                  <a:txBody>
                    <a:bodyPr/>
                    <a:lstStyle/>
                    <a:p>
                      <a:r>
                        <a:rPr lang="en-US" sz="1400" dirty="0"/>
                        <a:t>Driver app shows requests + swipe-to-accept option.</a:t>
                      </a:r>
                      <a:endParaRPr lang="en-IN" sz="1400" dirty="0"/>
                    </a:p>
                  </a:txBody>
                  <a:tcPr>
                    <a:solidFill>
                      <a:srgbClr val="C38E81"/>
                    </a:solidFill>
                  </a:tcPr>
                </a:tc>
                <a:extLst>
                  <a:ext uri="{0D108BD9-81ED-4DB2-BD59-A6C34878D82A}">
                    <a16:rowId xmlns:a16="http://schemas.microsoft.com/office/drawing/2014/main" val="2468053675"/>
                  </a:ext>
                </a:extLst>
              </a:tr>
              <a:tr h="4352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Ride-004</a:t>
                      </a:r>
                    </a:p>
                    <a:p>
                      <a:endParaRPr lang="en-IN" sz="1400" dirty="0"/>
                    </a:p>
                  </a:txBody>
                  <a:tcPr>
                    <a:solidFill>
                      <a:srgbClr val="C38E81"/>
                    </a:solidFill>
                  </a:tcPr>
                </a:tc>
                <a:tc>
                  <a:txBody>
                    <a:bodyPr/>
                    <a:lstStyle/>
                    <a:p>
                      <a:pPr algn="l"/>
                      <a:r>
                        <a:rPr lang="en-US" sz="1400" dirty="0"/>
                        <a:t>As a user, I want ETA and distance calculation.</a:t>
                      </a:r>
                      <a:endParaRPr lang="en-IN" sz="1400" dirty="0"/>
                    </a:p>
                  </a:txBody>
                  <a:tcPr>
                    <a:solidFill>
                      <a:srgbClr val="C38E81"/>
                    </a:solidFill>
                  </a:tcPr>
                </a:tc>
                <a:tc>
                  <a:txBody>
                    <a:bodyPr/>
                    <a:lstStyle/>
                    <a:p>
                      <a:r>
                        <a:rPr lang="en-US" sz="1400" dirty="0"/>
                        <a:t>Display based on maps integration.</a:t>
                      </a:r>
                      <a:endParaRPr lang="en-IN" sz="1400" dirty="0"/>
                    </a:p>
                  </a:txBody>
                  <a:tcPr>
                    <a:solidFill>
                      <a:srgbClr val="C38E81"/>
                    </a:solidFill>
                  </a:tcPr>
                </a:tc>
                <a:extLst>
                  <a:ext uri="{0D108BD9-81ED-4DB2-BD59-A6C34878D82A}">
                    <a16:rowId xmlns:a16="http://schemas.microsoft.com/office/drawing/2014/main" val="1158087049"/>
                  </a:ext>
                </a:extLst>
              </a:tr>
            </a:tbl>
          </a:graphicData>
        </a:graphic>
      </p:graphicFrame>
    </p:spTree>
    <p:extLst>
      <p:ext uri="{BB962C8B-B14F-4D97-AF65-F5344CB8AC3E}">
        <p14:creationId xmlns:p14="http://schemas.microsoft.com/office/powerpoint/2010/main" val="3717310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550267" y="409082"/>
            <a:ext cx="10360152" cy="663927"/>
          </a:xfrm>
        </p:spPr>
        <p:txBody>
          <a:bodyPr/>
          <a:lstStyle/>
          <a:p>
            <a:r>
              <a:rPr lang="en-IN" sz="4800" dirty="0">
                <a:solidFill>
                  <a:srgbClr val="543E34"/>
                </a:solidFill>
                <a:effectLst/>
              </a:rPr>
              <a:t>Product backlog</a:t>
            </a:r>
            <a:endParaRPr lang="en-US" sz="7200" dirty="0">
              <a:solidFill>
                <a:srgbClr val="543E34"/>
              </a:solidFill>
            </a:endParaRPr>
          </a:p>
        </p:txBody>
      </p:sp>
      <p:graphicFrame>
        <p:nvGraphicFramePr>
          <p:cNvPr id="3" name="Table 3">
            <a:extLst>
              <a:ext uri="{FF2B5EF4-FFF2-40B4-BE49-F238E27FC236}">
                <a16:creationId xmlns:a16="http://schemas.microsoft.com/office/drawing/2014/main" id="{188BF009-A3E8-4842-9D2E-79B442A23D8B}"/>
              </a:ext>
            </a:extLst>
          </p:cNvPr>
          <p:cNvGraphicFramePr>
            <a:graphicFrameLocks noGrp="1"/>
          </p:cNvGraphicFramePr>
          <p:nvPr>
            <p:extLst>
              <p:ext uri="{D42A27DB-BD31-4B8C-83A1-F6EECF244321}">
                <p14:modId xmlns:p14="http://schemas.microsoft.com/office/powerpoint/2010/main" val="3322671748"/>
              </p:ext>
            </p:extLst>
          </p:nvPr>
        </p:nvGraphicFramePr>
        <p:xfrm>
          <a:off x="1579448" y="2000671"/>
          <a:ext cx="8301789" cy="1961603"/>
        </p:xfrm>
        <a:graphic>
          <a:graphicData uri="http://schemas.openxmlformats.org/drawingml/2006/table">
            <a:tbl>
              <a:tblPr firstRow="1" bandRow="1">
                <a:tableStyleId>{2D5ABB26-0587-4C30-8999-92F81FD0307C}</a:tableStyleId>
              </a:tblPr>
              <a:tblGrid>
                <a:gridCol w="2767263">
                  <a:extLst>
                    <a:ext uri="{9D8B030D-6E8A-4147-A177-3AD203B41FA5}">
                      <a16:colId xmlns:a16="http://schemas.microsoft.com/office/drawing/2014/main" val="3987635383"/>
                    </a:ext>
                  </a:extLst>
                </a:gridCol>
                <a:gridCol w="2767263">
                  <a:extLst>
                    <a:ext uri="{9D8B030D-6E8A-4147-A177-3AD203B41FA5}">
                      <a16:colId xmlns:a16="http://schemas.microsoft.com/office/drawing/2014/main" val="3277238072"/>
                    </a:ext>
                  </a:extLst>
                </a:gridCol>
                <a:gridCol w="2767263">
                  <a:extLst>
                    <a:ext uri="{9D8B030D-6E8A-4147-A177-3AD203B41FA5}">
                      <a16:colId xmlns:a16="http://schemas.microsoft.com/office/drawing/2014/main" val="1939899400"/>
                    </a:ext>
                  </a:extLst>
                </a:gridCol>
              </a:tblGrid>
              <a:tr h="407123">
                <a:tc>
                  <a:txBody>
                    <a:bodyPr/>
                    <a:lstStyle/>
                    <a:p>
                      <a:r>
                        <a:rPr lang="en-IN" b="1" dirty="0">
                          <a:latin typeface="+mj-lt"/>
                        </a:rPr>
                        <a:t>User Story</a:t>
                      </a:r>
                    </a:p>
                  </a:txBody>
                  <a:tcPr>
                    <a:solidFill>
                      <a:srgbClr val="C38E81"/>
                    </a:solidFill>
                  </a:tcPr>
                </a:tc>
                <a:tc>
                  <a:txBody>
                    <a:bodyPr/>
                    <a:lstStyle/>
                    <a:p>
                      <a:pPr algn="l"/>
                      <a:r>
                        <a:rPr lang="en-IN" b="1">
                          <a:latin typeface="+mj-lt"/>
                        </a:rPr>
                        <a:t>Description</a:t>
                      </a:r>
                      <a:endParaRPr lang="en-IN" b="1" dirty="0">
                        <a:latin typeface="+mj-lt"/>
                      </a:endParaRPr>
                    </a:p>
                  </a:txBody>
                  <a:tcPr>
                    <a:solidFill>
                      <a:srgbClr val="C38E81"/>
                    </a:solidFill>
                  </a:tcPr>
                </a:tc>
                <a:tc>
                  <a:txBody>
                    <a:bodyPr/>
                    <a:lstStyle/>
                    <a:p>
                      <a:r>
                        <a:rPr lang="en-IN" b="1">
                          <a:latin typeface="+mj-lt"/>
                        </a:rPr>
                        <a:t>Acceptance criteria</a:t>
                      </a:r>
                      <a:endParaRPr lang="en-IN" b="1" dirty="0">
                        <a:latin typeface="+mj-lt"/>
                      </a:endParaRPr>
                    </a:p>
                  </a:txBody>
                  <a:tcPr>
                    <a:solidFill>
                      <a:srgbClr val="C38E81"/>
                    </a:solidFill>
                  </a:tcPr>
                </a:tc>
                <a:extLst>
                  <a:ext uri="{0D108BD9-81ED-4DB2-BD59-A6C34878D82A}">
                    <a16:rowId xmlns:a16="http://schemas.microsoft.com/office/drawing/2014/main" val="2554864240"/>
                  </a:ext>
                </a:extLst>
              </a:tr>
              <a:tr h="426272">
                <a:tc>
                  <a:txBody>
                    <a:bodyPr/>
                    <a:lstStyle/>
                    <a:p>
                      <a:r>
                        <a:rPr lang="en-IN" sz="1400"/>
                        <a:t>Pay-001</a:t>
                      </a:r>
                      <a:endParaRPr lang="en-IN" sz="1400" dirty="0"/>
                    </a:p>
                  </a:txBody>
                  <a:tcPr>
                    <a:solidFill>
                      <a:srgbClr val="C38E81"/>
                    </a:solidFill>
                  </a:tcPr>
                </a:tc>
                <a:tc>
                  <a:txBody>
                    <a:bodyPr/>
                    <a:lstStyle/>
                    <a:p>
                      <a:pPr algn="l"/>
                      <a:r>
                        <a:rPr lang="en-US" sz="1400" dirty="0"/>
                        <a:t>As a rider, I want basic fare calculation.</a:t>
                      </a:r>
                      <a:endParaRPr lang="en-IN" sz="1400" dirty="0"/>
                    </a:p>
                  </a:txBody>
                  <a:tcPr>
                    <a:solidFill>
                      <a:srgbClr val="C38E81"/>
                    </a:solidFill>
                  </a:tcPr>
                </a:tc>
                <a:tc>
                  <a:txBody>
                    <a:bodyPr/>
                    <a:lstStyle/>
                    <a:p>
                      <a:r>
                        <a:rPr lang="en-US" sz="1400" dirty="0"/>
                        <a:t>Transparent estimated fare before confirming ride.</a:t>
                      </a:r>
                      <a:endParaRPr lang="en-IN" sz="1400" dirty="0"/>
                    </a:p>
                  </a:txBody>
                  <a:tcPr anchor="ctr">
                    <a:solidFill>
                      <a:srgbClr val="C38E81"/>
                    </a:solidFill>
                  </a:tcPr>
                </a:tc>
                <a:extLst>
                  <a:ext uri="{0D108BD9-81ED-4DB2-BD59-A6C34878D82A}">
                    <a16:rowId xmlns:a16="http://schemas.microsoft.com/office/drawing/2014/main" val="382720384"/>
                  </a:ext>
                </a:extLst>
              </a:tr>
              <a:tr h="453167">
                <a:tc>
                  <a:txBody>
                    <a:bodyPr/>
                    <a:lstStyle/>
                    <a:p>
                      <a:r>
                        <a:rPr lang="en-IN" sz="1400"/>
                        <a:t>Pay-002</a:t>
                      </a:r>
                      <a:endParaRPr lang="en-IN" sz="1400" dirty="0"/>
                    </a:p>
                  </a:txBody>
                  <a:tcPr>
                    <a:solidFill>
                      <a:srgbClr val="C38E81"/>
                    </a:solidFill>
                  </a:tcPr>
                </a:tc>
                <a:tc>
                  <a:txBody>
                    <a:bodyPr/>
                    <a:lstStyle/>
                    <a:p>
                      <a:pPr algn="l"/>
                      <a:r>
                        <a:rPr lang="en-US" sz="1400" dirty="0"/>
                        <a:t>As a rider, I want to pay conveniently.</a:t>
                      </a:r>
                      <a:endParaRPr lang="en-IN" sz="1400" dirty="0"/>
                    </a:p>
                  </a:txBody>
                  <a:tcPr>
                    <a:solidFill>
                      <a:srgbClr val="C38E81"/>
                    </a:solidFill>
                  </a:tcPr>
                </a:tc>
                <a:tc>
                  <a:txBody>
                    <a:bodyPr/>
                    <a:lstStyle/>
                    <a:p>
                      <a:r>
                        <a:rPr lang="en-US" sz="1400" dirty="0"/>
                        <a:t>UPI and cash payment support.</a:t>
                      </a:r>
                      <a:endParaRPr lang="en-IN" sz="1400" dirty="0"/>
                    </a:p>
                  </a:txBody>
                  <a:tcPr>
                    <a:solidFill>
                      <a:srgbClr val="C38E81"/>
                    </a:solidFill>
                  </a:tcPr>
                </a:tc>
                <a:extLst>
                  <a:ext uri="{0D108BD9-81ED-4DB2-BD59-A6C34878D82A}">
                    <a16:rowId xmlns:a16="http://schemas.microsoft.com/office/drawing/2014/main" val="2225074056"/>
                  </a:ext>
                </a:extLst>
              </a:tr>
              <a:tr h="435237">
                <a:tc>
                  <a:txBody>
                    <a:bodyPr/>
                    <a:lstStyle/>
                    <a:p>
                      <a:r>
                        <a:rPr lang="en-IN" sz="1400"/>
                        <a:t>Pay-003</a:t>
                      </a:r>
                      <a:endParaRPr lang="en-IN" sz="1400" dirty="0"/>
                    </a:p>
                  </a:txBody>
                  <a:tcPr>
                    <a:solidFill>
                      <a:srgbClr val="C38E81"/>
                    </a:solidFill>
                  </a:tcPr>
                </a:tc>
                <a:tc>
                  <a:txBody>
                    <a:bodyPr/>
                    <a:lstStyle/>
                    <a:p>
                      <a:pPr algn="l"/>
                      <a:r>
                        <a:rPr lang="en-US" sz="1400" dirty="0"/>
                        <a:t>As a rider, I want a ride receipt after completion.</a:t>
                      </a:r>
                      <a:endParaRPr lang="en-IN" sz="1400" dirty="0"/>
                    </a:p>
                  </a:txBody>
                  <a:tcPr>
                    <a:solidFill>
                      <a:srgbClr val="C38E81"/>
                    </a:solidFill>
                  </a:tcPr>
                </a:tc>
                <a:tc>
                  <a:txBody>
                    <a:bodyPr/>
                    <a:lstStyle/>
                    <a:p>
                      <a:r>
                        <a:rPr lang="en-US" sz="1400" dirty="0"/>
                        <a:t>Receipt sent via app + SMS/email.</a:t>
                      </a:r>
                      <a:endParaRPr lang="en-IN" sz="1400" dirty="0"/>
                    </a:p>
                  </a:txBody>
                  <a:tcPr>
                    <a:solidFill>
                      <a:srgbClr val="C38E81"/>
                    </a:solidFill>
                  </a:tcPr>
                </a:tc>
                <a:extLst>
                  <a:ext uri="{0D108BD9-81ED-4DB2-BD59-A6C34878D82A}">
                    <a16:rowId xmlns:a16="http://schemas.microsoft.com/office/drawing/2014/main" val="2468053675"/>
                  </a:ext>
                </a:extLst>
              </a:tr>
            </a:tbl>
          </a:graphicData>
        </a:graphic>
      </p:graphicFrame>
      <p:sp>
        <p:nvSpPr>
          <p:cNvPr id="2" name="TextBox 1">
            <a:extLst>
              <a:ext uri="{FF2B5EF4-FFF2-40B4-BE49-F238E27FC236}">
                <a16:creationId xmlns:a16="http://schemas.microsoft.com/office/drawing/2014/main" id="{2284CB03-E3C5-472F-93ED-D0EB6626EF1C}"/>
              </a:ext>
            </a:extLst>
          </p:cNvPr>
          <p:cNvSpPr txBox="1"/>
          <p:nvPr/>
        </p:nvSpPr>
        <p:spPr>
          <a:xfrm>
            <a:off x="550267" y="1471401"/>
            <a:ext cx="4326533" cy="369332"/>
          </a:xfrm>
          <a:prstGeom prst="rect">
            <a:avLst/>
          </a:prstGeom>
          <a:noFill/>
        </p:spPr>
        <p:txBody>
          <a:bodyPr wrap="square" rtlCol="0">
            <a:spAutoFit/>
          </a:bodyPr>
          <a:lstStyle/>
          <a:p>
            <a:r>
              <a:rPr lang="en-US" b="1" dirty="0"/>
              <a:t>EPIC 3: Payments &amp; End-to-End Completion</a:t>
            </a:r>
          </a:p>
        </p:txBody>
      </p:sp>
      <p:sp>
        <p:nvSpPr>
          <p:cNvPr id="5" name="TextBox 4">
            <a:extLst>
              <a:ext uri="{FF2B5EF4-FFF2-40B4-BE49-F238E27FC236}">
                <a16:creationId xmlns:a16="http://schemas.microsoft.com/office/drawing/2014/main" id="{53114A44-6184-4D77-998E-550862A475C5}"/>
              </a:ext>
            </a:extLst>
          </p:cNvPr>
          <p:cNvSpPr txBox="1"/>
          <p:nvPr/>
        </p:nvSpPr>
        <p:spPr>
          <a:xfrm>
            <a:off x="561474" y="4075098"/>
            <a:ext cx="3815545" cy="369332"/>
          </a:xfrm>
          <a:prstGeom prst="rect">
            <a:avLst/>
          </a:prstGeom>
          <a:noFill/>
        </p:spPr>
        <p:txBody>
          <a:bodyPr wrap="square" rtlCol="0">
            <a:spAutoFit/>
          </a:bodyPr>
          <a:lstStyle/>
          <a:p>
            <a:r>
              <a:rPr lang="en-IN" b="1" dirty="0"/>
              <a:t>EPIC 4: Profiles &amp; Verification</a:t>
            </a:r>
          </a:p>
        </p:txBody>
      </p:sp>
      <p:graphicFrame>
        <p:nvGraphicFramePr>
          <p:cNvPr id="6" name="Table 3">
            <a:extLst>
              <a:ext uri="{FF2B5EF4-FFF2-40B4-BE49-F238E27FC236}">
                <a16:creationId xmlns:a16="http://schemas.microsoft.com/office/drawing/2014/main" id="{3474A307-AB9E-42A3-B735-2EF9ED813E1E}"/>
              </a:ext>
            </a:extLst>
          </p:cNvPr>
          <p:cNvGraphicFramePr>
            <a:graphicFrameLocks noGrp="1"/>
          </p:cNvGraphicFramePr>
          <p:nvPr>
            <p:extLst>
              <p:ext uri="{D42A27DB-BD31-4B8C-83A1-F6EECF244321}">
                <p14:modId xmlns:p14="http://schemas.microsoft.com/office/powerpoint/2010/main" val="3581544900"/>
              </p:ext>
            </p:extLst>
          </p:nvPr>
        </p:nvGraphicFramePr>
        <p:xfrm>
          <a:off x="1579447" y="4626009"/>
          <a:ext cx="8301789" cy="1883712"/>
        </p:xfrm>
        <a:graphic>
          <a:graphicData uri="http://schemas.openxmlformats.org/drawingml/2006/table">
            <a:tbl>
              <a:tblPr firstRow="1" bandRow="1">
                <a:tableStyleId>{2D5ABB26-0587-4C30-8999-92F81FD0307C}</a:tableStyleId>
              </a:tblPr>
              <a:tblGrid>
                <a:gridCol w="2767263">
                  <a:extLst>
                    <a:ext uri="{9D8B030D-6E8A-4147-A177-3AD203B41FA5}">
                      <a16:colId xmlns:a16="http://schemas.microsoft.com/office/drawing/2014/main" val="3987635383"/>
                    </a:ext>
                  </a:extLst>
                </a:gridCol>
                <a:gridCol w="2767263">
                  <a:extLst>
                    <a:ext uri="{9D8B030D-6E8A-4147-A177-3AD203B41FA5}">
                      <a16:colId xmlns:a16="http://schemas.microsoft.com/office/drawing/2014/main" val="3277238072"/>
                    </a:ext>
                  </a:extLst>
                </a:gridCol>
                <a:gridCol w="2767263">
                  <a:extLst>
                    <a:ext uri="{9D8B030D-6E8A-4147-A177-3AD203B41FA5}">
                      <a16:colId xmlns:a16="http://schemas.microsoft.com/office/drawing/2014/main" val="1939899400"/>
                    </a:ext>
                  </a:extLst>
                </a:gridCol>
              </a:tblGrid>
              <a:tr h="421120">
                <a:tc>
                  <a:txBody>
                    <a:bodyPr/>
                    <a:lstStyle/>
                    <a:p>
                      <a:r>
                        <a:rPr lang="en-IN" b="1" dirty="0">
                          <a:latin typeface="+mj-lt"/>
                        </a:rPr>
                        <a:t>User Story</a:t>
                      </a:r>
                    </a:p>
                  </a:txBody>
                  <a:tcPr>
                    <a:solidFill>
                      <a:srgbClr val="C38E81"/>
                    </a:solidFill>
                  </a:tcPr>
                </a:tc>
                <a:tc>
                  <a:txBody>
                    <a:bodyPr/>
                    <a:lstStyle/>
                    <a:p>
                      <a:pPr algn="l"/>
                      <a:r>
                        <a:rPr lang="en-IN" b="1" dirty="0">
                          <a:latin typeface="+mj-lt"/>
                        </a:rPr>
                        <a:t>Description</a:t>
                      </a:r>
                    </a:p>
                  </a:txBody>
                  <a:tcPr>
                    <a:solidFill>
                      <a:srgbClr val="C38E81"/>
                    </a:solidFill>
                  </a:tcPr>
                </a:tc>
                <a:tc>
                  <a:txBody>
                    <a:bodyPr/>
                    <a:lstStyle/>
                    <a:p>
                      <a:r>
                        <a:rPr lang="en-IN" b="1" dirty="0">
                          <a:latin typeface="+mj-lt"/>
                        </a:rPr>
                        <a:t>Acceptance criteria</a:t>
                      </a:r>
                    </a:p>
                  </a:txBody>
                  <a:tcPr>
                    <a:solidFill>
                      <a:srgbClr val="C38E81"/>
                    </a:solidFill>
                  </a:tcPr>
                </a:tc>
                <a:extLst>
                  <a:ext uri="{0D108BD9-81ED-4DB2-BD59-A6C34878D82A}">
                    <a16:rowId xmlns:a16="http://schemas.microsoft.com/office/drawing/2014/main" val="2554864240"/>
                  </a:ext>
                </a:extLst>
              </a:tr>
              <a:tr h="426272">
                <a:tc>
                  <a:txBody>
                    <a:bodyPr/>
                    <a:lstStyle/>
                    <a:p>
                      <a:r>
                        <a:rPr lang="en-IN" sz="1400" dirty="0"/>
                        <a:t>Profile-001</a:t>
                      </a:r>
                    </a:p>
                  </a:txBody>
                  <a:tcPr>
                    <a:solidFill>
                      <a:srgbClr val="C38E81"/>
                    </a:solidFill>
                  </a:tcPr>
                </a:tc>
                <a:tc>
                  <a:txBody>
                    <a:bodyPr/>
                    <a:lstStyle/>
                    <a:p>
                      <a:r>
                        <a:rPr lang="en-US" sz="1400" dirty="0"/>
                        <a:t>As a rider, I want OTP login.</a:t>
                      </a:r>
                      <a:endParaRPr lang="en-IN" sz="1400" dirty="0"/>
                    </a:p>
                  </a:txBody>
                  <a:tcPr anchor="ctr">
                    <a:solidFill>
                      <a:srgbClr val="C38E81"/>
                    </a:solidFill>
                  </a:tcPr>
                </a:tc>
                <a:tc>
                  <a:txBody>
                    <a:bodyPr/>
                    <a:lstStyle/>
                    <a:p>
                      <a:r>
                        <a:rPr lang="it-IT" sz="1400" dirty="0"/>
                        <a:t>OTP via SMS + secure session.</a:t>
                      </a:r>
                      <a:endParaRPr lang="en-IN" sz="1400" dirty="0"/>
                    </a:p>
                  </a:txBody>
                  <a:tcPr>
                    <a:solidFill>
                      <a:srgbClr val="C38E81"/>
                    </a:solidFill>
                  </a:tcPr>
                </a:tc>
                <a:extLst>
                  <a:ext uri="{0D108BD9-81ED-4DB2-BD59-A6C34878D82A}">
                    <a16:rowId xmlns:a16="http://schemas.microsoft.com/office/drawing/2014/main" val="382720384"/>
                  </a:ext>
                </a:extLst>
              </a:tr>
              <a:tr h="453167">
                <a:tc>
                  <a:txBody>
                    <a:bodyPr/>
                    <a:lstStyle/>
                    <a:p>
                      <a:r>
                        <a:rPr lang="en-IN" sz="1400" dirty="0"/>
                        <a:t>Profile-002</a:t>
                      </a:r>
                    </a:p>
                  </a:txBody>
                  <a:tcPr>
                    <a:solidFill>
                      <a:srgbClr val="C38E81"/>
                    </a:solidFill>
                  </a:tcPr>
                </a:tc>
                <a:tc>
                  <a:txBody>
                    <a:bodyPr/>
                    <a:lstStyle/>
                    <a:p>
                      <a:r>
                        <a:rPr lang="en-US" sz="1400" dirty="0"/>
                        <a:t>As a driver, I want to upload documents for verification.</a:t>
                      </a:r>
                      <a:endParaRPr lang="en-IN" sz="1400" dirty="0"/>
                    </a:p>
                  </a:txBody>
                  <a:tcPr anchor="ctr">
                    <a:solidFill>
                      <a:srgbClr val="C38E81"/>
                    </a:solidFill>
                  </a:tcPr>
                </a:tc>
                <a:tc>
                  <a:txBody>
                    <a:bodyPr/>
                    <a:lstStyle/>
                    <a:p>
                      <a:r>
                        <a:rPr lang="en-IN" sz="1400" dirty="0"/>
                        <a:t>License, Aadhaar, vehicle docs upload.</a:t>
                      </a:r>
                    </a:p>
                  </a:txBody>
                  <a:tcPr>
                    <a:solidFill>
                      <a:srgbClr val="C38E81"/>
                    </a:solidFill>
                  </a:tcPr>
                </a:tc>
                <a:extLst>
                  <a:ext uri="{0D108BD9-81ED-4DB2-BD59-A6C34878D82A}">
                    <a16:rowId xmlns:a16="http://schemas.microsoft.com/office/drawing/2014/main" val="2225074056"/>
                  </a:ext>
                </a:extLst>
              </a:tr>
              <a:tr h="435237">
                <a:tc>
                  <a:txBody>
                    <a:bodyPr/>
                    <a:lstStyle/>
                    <a:p>
                      <a:r>
                        <a:rPr lang="en-IN" sz="1400" dirty="0"/>
                        <a:t>Profile-003</a:t>
                      </a:r>
                    </a:p>
                  </a:txBody>
                  <a:tcPr>
                    <a:solidFill>
                      <a:srgbClr val="C38E81"/>
                    </a:solidFill>
                  </a:tcPr>
                </a:tc>
                <a:tc>
                  <a:txBody>
                    <a:bodyPr/>
                    <a:lstStyle/>
                    <a:p>
                      <a:pPr algn="l"/>
                      <a:r>
                        <a:rPr lang="en-US" sz="1400" dirty="0"/>
                        <a:t>As a rider, I want to add trusted contacts.</a:t>
                      </a:r>
                      <a:endParaRPr lang="en-IN" sz="1400" dirty="0"/>
                    </a:p>
                  </a:txBody>
                  <a:tcPr>
                    <a:solidFill>
                      <a:srgbClr val="C38E81"/>
                    </a:solidFill>
                  </a:tcPr>
                </a:tc>
                <a:tc>
                  <a:txBody>
                    <a:bodyPr/>
                    <a:lstStyle/>
                    <a:p>
                      <a:r>
                        <a:rPr lang="en-US" sz="1400" dirty="0"/>
                        <a:t>Minimum 1 emergency contact required.</a:t>
                      </a:r>
                      <a:endParaRPr lang="en-IN" sz="1400" dirty="0"/>
                    </a:p>
                  </a:txBody>
                  <a:tcPr>
                    <a:solidFill>
                      <a:srgbClr val="C38E81"/>
                    </a:solidFill>
                  </a:tcPr>
                </a:tc>
                <a:extLst>
                  <a:ext uri="{0D108BD9-81ED-4DB2-BD59-A6C34878D82A}">
                    <a16:rowId xmlns:a16="http://schemas.microsoft.com/office/drawing/2014/main" val="2468053675"/>
                  </a:ext>
                </a:extLst>
              </a:tr>
            </a:tbl>
          </a:graphicData>
        </a:graphic>
      </p:graphicFrame>
    </p:spTree>
    <p:extLst>
      <p:ext uri="{BB962C8B-B14F-4D97-AF65-F5344CB8AC3E}">
        <p14:creationId xmlns:p14="http://schemas.microsoft.com/office/powerpoint/2010/main" val="298093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550267" y="409082"/>
            <a:ext cx="10360152" cy="663927"/>
          </a:xfrm>
        </p:spPr>
        <p:txBody>
          <a:bodyPr/>
          <a:lstStyle/>
          <a:p>
            <a:r>
              <a:rPr lang="en-IN" sz="4800" dirty="0">
                <a:solidFill>
                  <a:srgbClr val="543E34"/>
                </a:solidFill>
                <a:effectLst/>
              </a:rPr>
              <a:t>Product backlog</a:t>
            </a:r>
            <a:endParaRPr lang="en-US" sz="7200" dirty="0">
              <a:solidFill>
                <a:srgbClr val="543E34"/>
              </a:solidFill>
            </a:endParaRPr>
          </a:p>
        </p:txBody>
      </p:sp>
      <p:graphicFrame>
        <p:nvGraphicFramePr>
          <p:cNvPr id="3" name="Table 3">
            <a:extLst>
              <a:ext uri="{FF2B5EF4-FFF2-40B4-BE49-F238E27FC236}">
                <a16:creationId xmlns:a16="http://schemas.microsoft.com/office/drawing/2014/main" id="{188BF009-A3E8-4842-9D2E-79B442A23D8B}"/>
              </a:ext>
            </a:extLst>
          </p:cNvPr>
          <p:cNvGraphicFramePr>
            <a:graphicFrameLocks noGrp="1"/>
          </p:cNvGraphicFramePr>
          <p:nvPr>
            <p:extLst>
              <p:ext uri="{D42A27DB-BD31-4B8C-83A1-F6EECF244321}">
                <p14:modId xmlns:p14="http://schemas.microsoft.com/office/powerpoint/2010/main" val="3226765512"/>
              </p:ext>
            </p:extLst>
          </p:nvPr>
        </p:nvGraphicFramePr>
        <p:xfrm>
          <a:off x="1579448" y="2035146"/>
          <a:ext cx="8301789" cy="1443443"/>
        </p:xfrm>
        <a:graphic>
          <a:graphicData uri="http://schemas.openxmlformats.org/drawingml/2006/table">
            <a:tbl>
              <a:tblPr firstRow="1" bandRow="1">
                <a:tableStyleId>{2D5ABB26-0587-4C30-8999-92F81FD0307C}</a:tableStyleId>
              </a:tblPr>
              <a:tblGrid>
                <a:gridCol w="2767263">
                  <a:extLst>
                    <a:ext uri="{9D8B030D-6E8A-4147-A177-3AD203B41FA5}">
                      <a16:colId xmlns:a16="http://schemas.microsoft.com/office/drawing/2014/main" val="3987635383"/>
                    </a:ext>
                  </a:extLst>
                </a:gridCol>
                <a:gridCol w="2767263">
                  <a:extLst>
                    <a:ext uri="{9D8B030D-6E8A-4147-A177-3AD203B41FA5}">
                      <a16:colId xmlns:a16="http://schemas.microsoft.com/office/drawing/2014/main" val="3277238072"/>
                    </a:ext>
                  </a:extLst>
                </a:gridCol>
                <a:gridCol w="2767263">
                  <a:extLst>
                    <a:ext uri="{9D8B030D-6E8A-4147-A177-3AD203B41FA5}">
                      <a16:colId xmlns:a16="http://schemas.microsoft.com/office/drawing/2014/main" val="1939899400"/>
                    </a:ext>
                  </a:extLst>
                </a:gridCol>
              </a:tblGrid>
              <a:tr h="407123">
                <a:tc>
                  <a:txBody>
                    <a:bodyPr/>
                    <a:lstStyle/>
                    <a:p>
                      <a:r>
                        <a:rPr lang="en-IN" b="1" dirty="0">
                          <a:latin typeface="+mj-lt"/>
                        </a:rPr>
                        <a:t>User Story</a:t>
                      </a:r>
                    </a:p>
                  </a:txBody>
                  <a:tcPr>
                    <a:solidFill>
                      <a:srgbClr val="C38E81"/>
                    </a:solidFill>
                  </a:tcPr>
                </a:tc>
                <a:tc>
                  <a:txBody>
                    <a:bodyPr/>
                    <a:lstStyle/>
                    <a:p>
                      <a:pPr algn="l"/>
                      <a:r>
                        <a:rPr lang="en-IN" b="1" dirty="0">
                          <a:latin typeface="+mj-lt"/>
                        </a:rPr>
                        <a:t>Description</a:t>
                      </a:r>
                    </a:p>
                  </a:txBody>
                  <a:tcPr>
                    <a:solidFill>
                      <a:srgbClr val="C38E81"/>
                    </a:solidFill>
                  </a:tcPr>
                </a:tc>
                <a:tc>
                  <a:txBody>
                    <a:bodyPr/>
                    <a:lstStyle/>
                    <a:p>
                      <a:r>
                        <a:rPr lang="en-IN" b="1">
                          <a:latin typeface="+mj-lt"/>
                        </a:rPr>
                        <a:t>Acceptance criteria</a:t>
                      </a:r>
                      <a:endParaRPr lang="en-IN" b="1" dirty="0">
                        <a:latin typeface="+mj-lt"/>
                      </a:endParaRPr>
                    </a:p>
                  </a:txBody>
                  <a:tcPr>
                    <a:solidFill>
                      <a:srgbClr val="C38E81"/>
                    </a:solidFill>
                  </a:tcPr>
                </a:tc>
                <a:extLst>
                  <a:ext uri="{0D108BD9-81ED-4DB2-BD59-A6C34878D82A}">
                    <a16:rowId xmlns:a16="http://schemas.microsoft.com/office/drawing/2014/main" val="2554864240"/>
                  </a:ext>
                </a:extLst>
              </a:tr>
              <a:tr h="426272">
                <a:tc>
                  <a:txBody>
                    <a:bodyPr/>
                    <a:lstStyle/>
                    <a:p>
                      <a:r>
                        <a:rPr lang="en-IN" sz="1400" dirty="0"/>
                        <a:t>Notif-001</a:t>
                      </a:r>
                    </a:p>
                  </a:txBody>
                  <a:tcPr>
                    <a:solidFill>
                      <a:srgbClr val="C38E81"/>
                    </a:solidFill>
                  </a:tcPr>
                </a:tc>
                <a:tc>
                  <a:txBody>
                    <a:bodyPr/>
                    <a:lstStyle/>
                    <a:p>
                      <a:pPr algn="l"/>
                      <a:r>
                        <a:rPr lang="en-US" sz="1400" dirty="0"/>
                        <a:t>As a rider, I want notifications for ride status.</a:t>
                      </a:r>
                      <a:endParaRPr lang="en-IN" sz="1400" dirty="0"/>
                    </a:p>
                  </a:txBody>
                  <a:tcPr>
                    <a:solidFill>
                      <a:srgbClr val="C38E81"/>
                    </a:solidFill>
                  </a:tcPr>
                </a:tc>
                <a:tc>
                  <a:txBody>
                    <a:bodyPr/>
                    <a:lstStyle/>
                    <a:p>
                      <a:r>
                        <a:rPr lang="en-IN" sz="1400" dirty="0"/>
                        <a:t>Notifications for driver arrival, ride start, ride end.</a:t>
                      </a:r>
                    </a:p>
                  </a:txBody>
                  <a:tcPr anchor="ctr">
                    <a:solidFill>
                      <a:srgbClr val="C38E81"/>
                    </a:solidFill>
                  </a:tcPr>
                </a:tc>
                <a:extLst>
                  <a:ext uri="{0D108BD9-81ED-4DB2-BD59-A6C34878D82A}">
                    <a16:rowId xmlns:a16="http://schemas.microsoft.com/office/drawing/2014/main" val="382720384"/>
                  </a:ext>
                </a:extLst>
              </a:tr>
              <a:tr h="453167">
                <a:tc>
                  <a:txBody>
                    <a:bodyPr/>
                    <a:lstStyle/>
                    <a:p>
                      <a:r>
                        <a:rPr lang="en-IN" sz="1400" dirty="0"/>
                        <a:t>Notif-002</a:t>
                      </a:r>
                    </a:p>
                  </a:txBody>
                  <a:tcPr>
                    <a:solidFill>
                      <a:srgbClr val="C38E81"/>
                    </a:solidFill>
                  </a:tcPr>
                </a:tc>
                <a:tc>
                  <a:txBody>
                    <a:bodyPr/>
                    <a:lstStyle/>
                    <a:p>
                      <a:pPr algn="l"/>
                      <a:r>
                        <a:rPr lang="en-US" sz="1400" dirty="0"/>
                        <a:t>As a user, I want trip alerts sent to my trusted contacts.</a:t>
                      </a:r>
                      <a:endParaRPr lang="en-IN" sz="1400" dirty="0"/>
                    </a:p>
                  </a:txBody>
                  <a:tcPr>
                    <a:solidFill>
                      <a:srgbClr val="C38E81"/>
                    </a:solidFill>
                  </a:tcPr>
                </a:tc>
                <a:tc>
                  <a:txBody>
                    <a:bodyPr/>
                    <a:lstStyle/>
                    <a:p>
                      <a:r>
                        <a:rPr lang="en-US" sz="1400" dirty="0"/>
                        <a:t>SMS/push when ride begins.</a:t>
                      </a:r>
                      <a:endParaRPr lang="en-IN" sz="1400" dirty="0"/>
                    </a:p>
                  </a:txBody>
                  <a:tcPr>
                    <a:solidFill>
                      <a:srgbClr val="C38E81"/>
                    </a:solidFill>
                  </a:tcPr>
                </a:tc>
                <a:extLst>
                  <a:ext uri="{0D108BD9-81ED-4DB2-BD59-A6C34878D82A}">
                    <a16:rowId xmlns:a16="http://schemas.microsoft.com/office/drawing/2014/main" val="2225074056"/>
                  </a:ext>
                </a:extLst>
              </a:tr>
            </a:tbl>
          </a:graphicData>
        </a:graphic>
      </p:graphicFrame>
      <p:sp>
        <p:nvSpPr>
          <p:cNvPr id="2" name="TextBox 1">
            <a:extLst>
              <a:ext uri="{FF2B5EF4-FFF2-40B4-BE49-F238E27FC236}">
                <a16:creationId xmlns:a16="http://schemas.microsoft.com/office/drawing/2014/main" id="{2284CB03-E3C5-472F-93ED-D0EB6626EF1C}"/>
              </a:ext>
            </a:extLst>
          </p:cNvPr>
          <p:cNvSpPr txBox="1"/>
          <p:nvPr/>
        </p:nvSpPr>
        <p:spPr>
          <a:xfrm>
            <a:off x="550267" y="1471401"/>
            <a:ext cx="4326533" cy="369332"/>
          </a:xfrm>
          <a:prstGeom prst="rect">
            <a:avLst/>
          </a:prstGeom>
          <a:noFill/>
        </p:spPr>
        <p:txBody>
          <a:bodyPr wrap="square" rtlCol="0">
            <a:spAutoFit/>
          </a:bodyPr>
          <a:lstStyle/>
          <a:p>
            <a:r>
              <a:rPr lang="en-IN" b="1" dirty="0"/>
              <a:t>EPIC 5: Notifications &amp; Communication</a:t>
            </a:r>
            <a:endParaRPr lang="en-US" b="1" dirty="0"/>
          </a:p>
        </p:txBody>
      </p:sp>
      <p:sp>
        <p:nvSpPr>
          <p:cNvPr id="5" name="TextBox 4">
            <a:extLst>
              <a:ext uri="{FF2B5EF4-FFF2-40B4-BE49-F238E27FC236}">
                <a16:creationId xmlns:a16="http://schemas.microsoft.com/office/drawing/2014/main" id="{53114A44-6184-4D77-998E-550862A475C5}"/>
              </a:ext>
            </a:extLst>
          </p:cNvPr>
          <p:cNvSpPr txBox="1"/>
          <p:nvPr/>
        </p:nvSpPr>
        <p:spPr>
          <a:xfrm>
            <a:off x="561474" y="4075098"/>
            <a:ext cx="3815545" cy="369332"/>
          </a:xfrm>
          <a:prstGeom prst="rect">
            <a:avLst/>
          </a:prstGeom>
          <a:noFill/>
        </p:spPr>
        <p:txBody>
          <a:bodyPr wrap="square" rtlCol="0">
            <a:spAutoFit/>
          </a:bodyPr>
          <a:lstStyle/>
          <a:p>
            <a:r>
              <a:rPr lang="en-IN" b="1" dirty="0"/>
              <a:t>EPIC 6: Support &amp; Quality</a:t>
            </a:r>
          </a:p>
        </p:txBody>
      </p:sp>
      <p:graphicFrame>
        <p:nvGraphicFramePr>
          <p:cNvPr id="6" name="Table 3">
            <a:extLst>
              <a:ext uri="{FF2B5EF4-FFF2-40B4-BE49-F238E27FC236}">
                <a16:creationId xmlns:a16="http://schemas.microsoft.com/office/drawing/2014/main" id="{3474A307-AB9E-42A3-B735-2EF9ED813E1E}"/>
              </a:ext>
            </a:extLst>
          </p:cNvPr>
          <p:cNvGraphicFramePr>
            <a:graphicFrameLocks noGrp="1"/>
          </p:cNvGraphicFramePr>
          <p:nvPr>
            <p:extLst>
              <p:ext uri="{D42A27DB-BD31-4B8C-83A1-F6EECF244321}">
                <p14:modId xmlns:p14="http://schemas.microsoft.com/office/powerpoint/2010/main" val="2947330562"/>
              </p:ext>
            </p:extLst>
          </p:nvPr>
        </p:nvGraphicFramePr>
        <p:xfrm>
          <a:off x="1579448" y="4617045"/>
          <a:ext cx="8301789" cy="1392447"/>
        </p:xfrm>
        <a:graphic>
          <a:graphicData uri="http://schemas.openxmlformats.org/drawingml/2006/table">
            <a:tbl>
              <a:tblPr firstRow="1" bandRow="1">
                <a:tableStyleId>{2D5ABB26-0587-4C30-8999-92F81FD0307C}</a:tableStyleId>
              </a:tblPr>
              <a:tblGrid>
                <a:gridCol w="2767263">
                  <a:extLst>
                    <a:ext uri="{9D8B030D-6E8A-4147-A177-3AD203B41FA5}">
                      <a16:colId xmlns:a16="http://schemas.microsoft.com/office/drawing/2014/main" val="3987635383"/>
                    </a:ext>
                  </a:extLst>
                </a:gridCol>
                <a:gridCol w="2767263">
                  <a:extLst>
                    <a:ext uri="{9D8B030D-6E8A-4147-A177-3AD203B41FA5}">
                      <a16:colId xmlns:a16="http://schemas.microsoft.com/office/drawing/2014/main" val="3277238072"/>
                    </a:ext>
                  </a:extLst>
                </a:gridCol>
                <a:gridCol w="2767263">
                  <a:extLst>
                    <a:ext uri="{9D8B030D-6E8A-4147-A177-3AD203B41FA5}">
                      <a16:colId xmlns:a16="http://schemas.microsoft.com/office/drawing/2014/main" val="1939899400"/>
                    </a:ext>
                  </a:extLst>
                </a:gridCol>
              </a:tblGrid>
              <a:tr h="421120">
                <a:tc>
                  <a:txBody>
                    <a:bodyPr/>
                    <a:lstStyle/>
                    <a:p>
                      <a:r>
                        <a:rPr lang="en-IN" b="1">
                          <a:latin typeface="+mj-lt"/>
                        </a:rPr>
                        <a:t>User Story</a:t>
                      </a:r>
                      <a:endParaRPr lang="en-IN" b="1" dirty="0">
                        <a:latin typeface="+mj-lt"/>
                      </a:endParaRPr>
                    </a:p>
                  </a:txBody>
                  <a:tcPr>
                    <a:solidFill>
                      <a:srgbClr val="C38E81"/>
                    </a:solidFill>
                  </a:tcPr>
                </a:tc>
                <a:tc>
                  <a:txBody>
                    <a:bodyPr/>
                    <a:lstStyle/>
                    <a:p>
                      <a:pPr algn="l"/>
                      <a:r>
                        <a:rPr lang="en-IN" b="1">
                          <a:latin typeface="+mj-lt"/>
                        </a:rPr>
                        <a:t>Description</a:t>
                      </a:r>
                      <a:endParaRPr lang="en-IN" b="1" dirty="0">
                        <a:latin typeface="+mj-lt"/>
                      </a:endParaRPr>
                    </a:p>
                  </a:txBody>
                  <a:tcPr>
                    <a:solidFill>
                      <a:srgbClr val="C38E81"/>
                    </a:solidFill>
                  </a:tcPr>
                </a:tc>
                <a:tc>
                  <a:txBody>
                    <a:bodyPr/>
                    <a:lstStyle/>
                    <a:p>
                      <a:r>
                        <a:rPr lang="en-IN" b="1">
                          <a:latin typeface="+mj-lt"/>
                        </a:rPr>
                        <a:t>Acceptance criteria</a:t>
                      </a:r>
                      <a:endParaRPr lang="en-IN" b="1" dirty="0">
                        <a:latin typeface="+mj-lt"/>
                      </a:endParaRPr>
                    </a:p>
                  </a:txBody>
                  <a:tcPr>
                    <a:solidFill>
                      <a:srgbClr val="C38E81"/>
                    </a:solidFill>
                  </a:tcPr>
                </a:tc>
                <a:extLst>
                  <a:ext uri="{0D108BD9-81ED-4DB2-BD59-A6C34878D82A}">
                    <a16:rowId xmlns:a16="http://schemas.microsoft.com/office/drawing/2014/main" val="2554864240"/>
                  </a:ext>
                </a:extLst>
              </a:tr>
              <a:tr h="426272">
                <a:tc>
                  <a:txBody>
                    <a:bodyPr/>
                    <a:lstStyle/>
                    <a:p>
                      <a:r>
                        <a:rPr lang="en-IN" sz="1400"/>
                        <a:t>Support-001</a:t>
                      </a:r>
                      <a:endParaRPr lang="en-IN" sz="1400" dirty="0"/>
                    </a:p>
                  </a:txBody>
                  <a:tcPr>
                    <a:solidFill>
                      <a:srgbClr val="C38E81"/>
                    </a:solidFill>
                  </a:tcPr>
                </a:tc>
                <a:tc>
                  <a:txBody>
                    <a:bodyPr/>
                    <a:lstStyle/>
                    <a:p>
                      <a:r>
                        <a:rPr lang="en-US" sz="1400" dirty="0"/>
                        <a:t>As a user, I want basic in-app support.</a:t>
                      </a:r>
                      <a:endParaRPr lang="en-IN" sz="1400" dirty="0"/>
                    </a:p>
                  </a:txBody>
                  <a:tcPr anchor="ctr">
                    <a:solidFill>
                      <a:srgbClr val="C38E81"/>
                    </a:solidFill>
                  </a:tcPr>
                </a:tc>
                <a:tc>
                  <a:txBody>
                    <a:bodyPr/>
                    <a:lstStyle/>
                    <a:p>
                      <a:r>
                        <a:rPr lang="en-IN" sz="1400" dirty="0"/>
                        <a:t>FAQs + issue reporting.</a:t>
                      </a:r>
                    </a:p>
                  </a:txBody>
                  <a:tcPr>
                    <a:solidFill>
                      <a:srgbClr val="C38E81"/>
                    </a:solidFill>
                  </a:tcPr>
                </a:tc>
                <a:extLst>
                  <a:ext uri="{0D108BD9-81ED-4DB2-BD59-A6C34878D82A}">
                    <a16:rowId xmlns:a16="http://schemas.microsoft.com/office/drawing/2014/main" val="382720384"/>
                  </a:ext>
                </a:extLst>
              </a:tr>
              <a:tr h="453167">
                <a:tc>
                  <a:txBody>
                    <a:bodyPr/>
                    <a:lstStyle/>
                    <a:p>
                      <a:r>
                        <a:rPr lang="en-IN" sz="1400"/>
                        <a:t>Support-002</a:t>
                      </a:r>
                      <a:endParaRPr lang="en-IN" sz="1400" dirty="0"/>
                    </a:p>
                  </a:txBody>
                  <a:tcPr>
                    <a:solidFill>
                      <a:srgbClr val="C38E81"/>
                    </a:solidFill>
                  </a:tcPr>
                </a:tc>
                <a:tc>
                  <a:txBody>
                    <a:bodyPr/>
                    <a:lstStyle/>
                    <a:p>
                      <a:r>
                        <a:rPr lang="en-US" sz="1400" dirty="0"/>
                        <a:t>As a rider, I want to rate drivers.</a:t>
                      </a:r>
                      <a:endParaRPr lang="en-IN" sz="1400" dirty="0"/>
                    </a:p>
                  </a:txBody>
                  <a:tcPr anchor="ctr">
                    <a:solidFill>
                      <a:srgbClr val="C38E81"/>
                    </a:solidFill>
                  </a:tcPr>
                </a:tc>
                <a:tc>
                  <a:txBody>
                    <a:bodyPr/>
                    <a:lstStyle/>
                    <a:p>
                      <a:r>
                        <a:rPr lang="en-US" sz="1400" dirty="0"/>
                        <a:t>1–5 star rating after trip.</a:t>
                      </a:r>
                      <a:endParaRPr lang="en-IN" sz="1400" dirty="0"/>
                    </a:p>
                  </a:txBody>
                  <a:tcPr>
                    <a:solidFill>
                      <a:srgbClr val="C38E81"/>
                    </a:solidFill>
                  </a:tcPr>
                </a:tc>
                <a:extLst>
                  <a:ext uri="{0D108BD9-81ED-4DB2-BD59-A6C34878D82A}">
                    <a16:rowId xmlns:a16="http://schemas.microsoft.com/office/drawing/2014/main" val="2225074056"/>
                  </a:ext>
                </a:extLst>
              </a:tr>
            </a:tbl>
          </a:graphicData>
        </a:graphic>
      </p:graphicFrame>
    </p:spTree>
    <p:extLst>
      <p:ext uri="{BB962C8B-B14F-4D97-AF65-F5344CB8AC3E}">
        <p14:creationId xmlns:p14="http://schemas.microsoft.com/office/powerpoint/2010/main" val="624171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561474" y="532056"/>
            <a:ext cx="10360152" cy="663927"/>
          </a:xfrm>
        </p:spPr>
        <p:txBody>
          <a:bodyPr/>
          <a:lstStyle/>
          <a:p>
            <a:r>
              <a:rPr lang="en-IN" sz="4800" dirty="0">
                <a:solidFill>
                  <a:srgbClr val="543E34"/>
                </a:solidFill>
                <a:effectLst/>
              </a:rPr>
              <a:t>MoSCoW prioritization</a:t>
            </a:r>
            <a:endParaRPr lang="en-US" sz="7200" dirty="0">
              <a:solidFill>
                <a:srgbClr val="543E34"/>
              </a:solidFill>
            </a:endParaRPr>
          </a:p>
        </p:txBody>
      </p:sp>
      <p:graphicFrame>
        <p:nvGraphicFramePr>
          <p:cNvPr id="3" name="Table 3">
            <a:extLst>
              <a:ext uri="{FF2B5EF4-FFF2-40B4-BE49-F238E27FC236}">
                <a16:creationId xmlns:a16="http://schemas.microsoft.com/office/drawing/2014/main" id="{188BF009-A3E8-4842-9D2E-79B442A23D8B}"/>
              </a:ext>
            </a:extLst>
          </p:cNvPr>
          <p:cNvGraphicFramePr>
            <a:graphicFrameLocks noGrp="1"/>
          </p:cNvGraphicFramePr>
          <p:nvPr>
            <p:extLst>
              <p:ext uri="{D42A27DB-BD31-4B8C-83A1-F6EECF244321}">
                <p14:modId xmlns:p14="http://schemas.microsoft.com/office/powerpoint/2010/main" val="410333696"/>
              </p:ext>
            </p:extLst>
          </p:nvPr>
        </p:nvGraphicFramePr>
        <p:xfrm>
          <a:off x="561474" y="1275478"/>
          <a:ext cx="11069052" cy="5358852"/>
        </p:xfrm>
        <a:graphic>
          <a:graphicData uri="http://schemas.openxmlformats.org/drawingml/2006/table">
            <a:tbl>
              <a:tblPr firstRow="1" bandRow="1">
                <a:tableStyleId>{2D5ABB26-0587-4C30-8999-92F81FD0307C}</a:tableStyleId>
              </a:tblPr>
              <a:tblGrid>
                <a:gridCol w="3689684">
                  <a:extLst>
                    <a:ext uri="{9D8B030D-6E8A-4147-A177-3AD203B41FA5}">
                      <a16:colId xmlns:a16="http://schemas.microsoft.com/office/drawing/2014/main" val="3987635383"/>
                    </a:ext>
                  </a:extLst>
                </a:gridCol>
                <a:gridCol w="3689684">
                  <a:extLst>
                    <a:ext uri="{9D8B030D-6E8A-4147-A177-3AD203B41FA5}">
                      <a16:colId xmlns:a16="http://schemas.microsoft.com/office/drawing/2014/main" val="3277238072"/>
                    </a:ext>
                  </a:extLst>
                </a:gridCol>
                <a:gridCol w="3689684">
                  <a:extLst>
                    <a:ext uri="{9D8B030D-6E8A-4147-A177-3AD203B41FA5}">
                      <a16:colId xmlns:a16="http://schemas.microsoft.com/office/drawing/2014/main" val="1939899400"/>
                    </a:ext>
                  </a:extLst>
                </a:gridCol>
              </a:tblGrid>
              <a:tr h="512532">
                <a:tc>
                  <a:txBody>
                    <a:bodyPr/>
                    <a:lstStyle/>
                    <a:p>
                      <a:r>
                        <a:rPr lang="en-IN" b="1" dirty="0">
                          <a:latin typeface="+mj-lt"/>
                        </a:rPr>
                        <a:t>Category</a:t>
                      </a:r>
                    </a:p>
                  </a:txBody>
                  <a:tcPr>
                    <a:solidFill>
                      <a:schemeClr val="accent4"/>
                    </a:solidFill>
                  </a:tcPr>
                </a:tc>
                <a:tc>
                  <a:txBody>
                    <a:bodyPr/>
                    <a:lstStyle/>
                    <a:p>
                      <a:pPr algn="l"/>
                      <a:r>
                        <a:rPr lang="en-IN" b="1" dirty="0">
                          <a:latin typeface="+mj-lt"/>
                        </a:rPr>
                        <a:t>Features</a:t>
                      </a:r>
                    </a:p>
                  </a:txBody>
                  <a:tcPr>
                    <a:solidFill>
                      <a:schemeClr val="accent4"/>
                    </a:solidFill>
                  </a:tcPr>
                </a:tc>
                <a:tc>
                  <a:txBody>
                    <a:bodyPr/>
                    <a:lstStyle/>
                    <a:p>
                      <a:r>
                        <a:rPr lang="en-IN" b="1" dirty="0">
                          <a:latin typeface="+mj-lt"/>
                        </a:rPr>
                        <a:t>Why It Belongs Here?</a:t>
                      </a:r>
                    </a:p>
                  </a:txBody>
                  <a:tcPr>
                    <a:solidFill>
                      <a:schemeClr val="accent4"/>
                    </a:solidFill>
                  </a:tcPr>
                </a:tc>
                <a:extLst>
                  <a:ext uri="{0D108BD9-81ED-4DB2-BD59-A6C34878D82A}">
                    <a16:rowId xmlns:a16="http://schemas.microsoft.com/office/drawing/2014/main" val="2554864240"/>
                  </a:ext>
                </a:extLst>
              </a:tr>
              <a:tr h="426272">
                <a:tc>
                  <a:txBody>
                    <a:bodyPr/>
                    <a:lstStyle/>
                    <a:p>
                      <a:r>
                        <a:rPr lang="en-IN" sz="1400" b="1" dirty="0"/>
                        <a:t>MUST</a:t>
                      </a:r>
                      <a:r>
                        <a:rPr lang="en-IN" sz="1400" dirty="0"/>
                        <a:t> Have</a:t>
                      </a:r>
                    </a:p>
                  </a:txBody>
                  <a:tcPr>
                    <a:solidFill>
                      <a:schemeClr val="accent4"/>
                    </a:solidFill>
                  </a:tcPr>
                </a:tc>
                <a:tc>
                  <a:txBody>
                    <a:bodyPr/>
                    <a:lstStyle/>
                    <a:p>
                      <a:pPr algn="l"/>
                      <a:r>
                        <a:rPr lang="en-US" sz="1400" dirty="0"/>
                        <a:t>- SOS &amp; Emergency Contact Alerts </a:t>
                      </a:r>
                      <a:br>
                        <a:rPr lang="en-US" sz="1400" dirty="0"/>
                      </a:br>
                      <a:r>
                        <a:rPr lang="en-US" sz="1400" dirty="0"/>
                        <a:t>- Women-Only Driver Verification </a:t>
                      </a:r>
                      <a:br>
                        <a:rPr lang="en-US" sz="1400" dirty="0"/>
                      </a:br>
                      <a:r>
                        <a:rPr lang="en-US" sz="1400" dirty="0"/>
                        <a:t>- Ride Booking Flow (pickup → drop) </a:t>
                      </a:r>
                      <a:br>
                        <a:rPr lang="en-US" sz="1400" dirty="0"/>
                      </a:br>
                      <a:r>
                        <a:rPr lang="en-US" sz="1400" dirty="0"/>
                        <a:t>- Live GPS Tracking </a:t>
                      </a:r>
                      <a:br>
                        <a:rPr lang="en-US" sz="1400" dirty="0"/>
                      </a:br>
                      <a:r>
                        <a:rPr lang="en-US" sz="1400" dirty="0"/>
                        <a:t>- Driver App (Accept/Reject) </a:t>
                      </a:r>
                      <a:br>
                        <a:rPr lang="en-US" sz="1400" dirty="0"/>
                      </a:br>
                      <a:r>
                        <a:rPr lang="en-US" sz="1400" dirty="0"/>
                        <a:t>- Basic Pricing Engine </a:t>
                      </a:r>
                      <a:br>
                        <a:rPr lang="en-US" sz="1400" dirty="0"/>
                      </a:br>
                      <a:r>
                        <a:rPr lang="en-US" sz="1400" dirty="0"/>
                        <a:t>- OTP Login &amp; Profile Setup</a:t>
                      </a:r>
                      <a:endParaRPr lang="en-IN" sz="1400" dirty="0"/>
                    </a:p>
                  </a:txBody>
                  <a:tcPr>
                    <a:solidFill>
                      <a:schemeClr val="accent4"/>
                    </a:solidFill>
                  </a:tcPr>
                </a:tc>
                <a:tc>
                  <a:txBody>
                    <a:bodyPr/>
                    <a:lstStyle/>
                    <a:p>
                      <a:r>
                        <a:rPr lang="en-US" sz="1400" dirty="0"/>
                        <a:t>Core value: </a:t>
                      </a:r>
                      <a:r>
                        <a:rPr lang="en-US" sz="1400" b="1" dirty="0"/>
                        <a:t>Safety + Trust + Basic Mobility</a:t>
                      </a:r>
                      <a:r>
                        <a:rPr lang="en-US" sz="1400" dirty="0"/>
                        <a:t>. Without these, the product cannot solve the core problem.</a:t>
                      </a:r>
                      <a:endParaRPr lang="en-IN" sz="1400" dirty="0"/>
                    </a:p>
                  </a:txBody>
                  <a:tcPr>
                    <a:solidFill>
                      <a:schemeClr val="accent4"/>
                    </a:solidFill>
                  </a:tcPr>
                </a:tc>
                <a:extLst>
                  <a:ext uri="{0D108BD9-81ED-4DB2-BD59-A6C34878D82A}">
                    <a16:rowId xmlns:a16="http://schemas.microsoft.com/office/drawing/2014/main" val="382720384"/>
                  </a:ext>
                </a:extLst>
              </a:tr>
              <a:tr h="453167">
                <a:tc>
                  <a:txBody>
                    <a:bodyPr/>
                    <a:lstStyle/>
                    <a:p>
                      <a:r>
                        <a:rPr lang="en-IN" sz="1400" b="1" dirty="0"/>
                        <a:t>SHOULD</a:t>
                      </a:r>
                      <a:r>
                        <a:rPr lang="en-IN" sz="1400" dirty="0"/>
                        <a:t> Have</a:t>
                      </a:r>
                    </a:p>
                  </a:txBody>
                  <a:tcPr>
                    <a:solidFill>
                      <a:schemeClr val="accent4"/>
                    </a:solidFill>
                  </a:tcPr>
                </a:tc>
                <a:tc>
                  <a:txBody>
                    <a:bodyPr/>
                    <a:lstStyle/>
                    <a:p>
                      <a:pPr algn="l"/>
                      <a:r>
                        <a:rPr lang="en-US" sz="1400" dirty="0"/>
                        <a:t>- In-App Payments (UPI) </a:t>
                      </a:r>
                      <a:br>
                        <a:rPr lang="en-US" sz="1400" dirty="0"/>
                      </a:br>
                      <a:r>
                        <a:rPr lang="en-US" sz="1400" dirty="0"/>
                        <a:t>- Trip History </a:t>
                      </a:r>
                      <a:br>
                        <a:rPr lang="en-US" sz="1400" dirty="0"/>
                      </a:br>
                      <a:r>
                        <a:rPr lang="en-US" sz="1400" dirty="0"/>
                        <a:t>- Driver Ratings &amp; Reviews </a:t>
                      </a:r>
                      <a:br>
                        <a:rPr lang="en-US" sz="1400" dirty="0"/>
                      </a:br>
                      <a:r>
                        <a:rPr lang="en-US" sz="1400" dirty="0"/>
                        <a:t>- Push Notifications </a:t>
                      </a:r>
                      <a:br>
                        <a:rPr lang="en-US" sz="1400" dirty="0"/>
                      </a:br>
                      <a:r>
                        <a:rPr lang="en-US" sz="1400" dirty="0"/>
                        <a:t>- Ride Cancellation Flow</a:t>
                      </a:r>
                      <a:endParaRPr lang="en-IN" sz="1400" dirty="0"/>
                    </a:p>
                  </a:txBody>
                  <a:tcPr>
                    <a:solidFill>
                      <a:schemeClr val="accent4"/>
                    </a:solidFill>
                  </a:tcPr>
                </a:tc>
                <a:tc>
                  <a:txBody>
                    <a:bodyPr/>
                    <a:lstStyle/>
                    <a:p>
                      <a:r>
                        <a:rPr lang="en-US" sz="1400" dirty="0"/>
                        <a:t>Important for reliability and user retention, but not essential for confirming PMF within MVP.</a:t>
                      </a:r>
                      <a:endParaRPr lang="en-IN" sz="1400" dirty="0"/>
                    </a:p>
                  </a:txBody>
                  <a:tcPr>
                    <a:solidFill>
                      <a:schemeClr val="accent4"/>
                    </a:solidFill>
                  </a:tcPr>
                </a:tc>
                <a:extLst>
                  <a:ext uri="{0D108BD9-81ED-4DB2-BD59-A6C34878D82A}">
                    <a16:rowId xmlns:a16="http://schemas.microsoft.com/office/drawing/2014/main" val="2225074056"/>
                  </a:ext>
                </a:extLst>
              </a:tr>
              <a:tr h="435237">
                <a:tc>
                  <a:txBody>
                    <a:bodyPr/>
                    <a:lstStyle/>
                    <a:p>
                      <a:r>
                        <a:rPr lang="en-IN" sz="1400" b="1" dirty="0"/>
                        <a:t>COULD</a:t>
                      </a:r>
                      <a:r>
                        <a:rPr lang="en-IN" sz="1400" dirty="0"/>
                        <a:t> Have</a:t>
                      </a:r>
                    </a:p>
                  </a:txBody>
                  <a:tcPr>
                    <a:solidFill>
                      <a:schemeClr val="accent4"/>
                    </a:solidFill>
                  </a:tcPr>
                </a:tc>
                <a:tc>
                  <a:txBody>
                    <a:bodyPr/>
                    <a:lstStyle/>
                    <a:p>
                      <a:pPr algn="l"/>
                      <a:r>
                        <a:rPr lang="en-US" sz="1400" dirty="0"/>
                        <a:t>- Promo Codes / Referrals </a:t>
                      </a:r>
                      <a:br>
                        <a:rPr lang="en-US" sz="1400" dirty="0"/>
                      </a:br>
                      <a:r>
                        <a:rPr lang="en-US" sz="1400" dirty="0"/>
                        <a:t>- Driver Incentives Dashboard </a:t>
                      </a:r>
                      <a:br>
                        <a:rPr lang="en-US" sz="1400" dirty="0"/>
                      </a:br>
                      <a:r>
                        <a:rPr lang="en-US" sz="1400" dirty="0"/>
                        <a:t>- Scheduled Rides </a:t>
                      </a:r>
                      <a:br>
                        <a:rPr lang="en-US" sz="1400" dirty="0"/>
                      </a:br>
                      <a:r>
                        <a:rPr lang="en-US" sz="1400" dirty="0"/>
                        <a:t>- Comfort/Cleanliness Tags</a:t>
                      </a:r>
                      <a:endParaRPr lang="en-IN" sz="1400" dirty="0"/>
                    </a:p>
                  </a:txBody>
                  <a:tcPr>
                    <a:solidFill>
                      <a:schemeClr val="accent4"/>
                    </a:solidFill>
                  </a:tcPr>
                </a:tc>
                <a:tc>
                  <a:txBody>
                    <a:bodyPr/>
                    <a:lstStyle/>
                    <a:p>
                      <a:r>
                        <a:rPr lang="en-US" sz="1400" dirty="0"/>
                        <a:t>Enhances user experience and competitiveness; not mandatory for early learning.</a:t>
                      </a:r>
                      <a:endParaRPr lang="en-IN" sz="1400" dirty="0"/>
                    </a:p>
                  </a:txBody>
                  <a:tcPr>
                    <a:solidFill>
                      <a:schemeClr val="accent4"/>
                    </a:solidFill>
                  </a:tcPr>
                </a:tc>
                <a:extLst>
                  <a:ext uri="{0D108BD9-81ED-4DB2-BD59-A6C34878D82A}">
                    <a16:rowId xmlns:a16="http://schemas.microsoft.com/office/drawing/2014/main" val="2468053675"/>
                  </a:ext>
                </a:extLst>
              </a:tr>
              <a:tr h="178399">
                <a:tc>
                  <a:txBody>
                    <a:bodyPr/>
                    <a:lstStyle/>
                    <a:p>
                      <a:r>
                        <a:rPr lang="en-IN" sz="1400" b="1" dirty="0"/>
                        <a:t>WON’T</a:t>
                      </a:r>
                      <a:r>
                        <a:rPr lang="en-IN" sz="1400" dirty="0"/>
                        <a:t> Have (For now)</a:t>
                      </a:r>
                    </a:p>
                  </a:txBody>
                  <a:tcPr>
                    <a:solidFill>
                      <a:schemeClr val="accent4"/>
                    </a:solidFill>
                  </a:tcPr>
                </a:tc>
                <a:tc>
                  <a:txBody>
                    <a:bodyPr/>
                    <a:lstStyle/>
                    <a:p>
                      <a:pPr algn="l"/>
                      <a:r>
                        <a:rPr lang="en-US" sz="1400" dirty="0"/>
                        <a:t>- Carpooling </a:t>
                      </a:r>
                      <a:br>
                        <a:rPr lang="en-US" sz="1400" dirty="0"/>
                      </a:br>
                      <a:r>
                        <a:rPr lang="en-US" sz="1400" dirty="0"/>
                        <a:t>- Multi-stop Trips </a:t>
                      </a:r>
                      <a:br>
                        <a:rPr lang="en-US" sz="1400" dirty="0"/>
                      </a:br>
                      <a:r>
                        <a:rPr lang="en-US" sz="1400" dirty="0"/>
                        <a:t>- Subscription Plans </a:t>
                      </a:r>
                      <a:br>
                        <a:rPr lang="en-US" sz="1400" dirty="0"/>
                      </a:br>
                      <a:r>
                        <a:rPr lang="en-US" sz="1400" dirty="0"/>
                        <a:t>- In-app Chat </a:t>
                      </a:r>
                      <a:br>
                        <a:rPr lang="en-US" sz="1400" dirty="0"/>
                      </a:br>
                      <a:r>
                        <a:rPr lang="en-US" sz="1400" dirty="0"/>
                        <a:t>- Community Features</a:t>
                      </a:r>
                      <a:endParaRPr lang="en-IN" sz="1400" dirty="0"/>
                    </a:p>
                  </a:txBody>
                  <a:tcPr>
                    <a:solidFill>
                      <a:schemeClr val="accent4"/>
                    </a:solidFill>
                  </a:tcPr>
                </a:tc>
                <a:tc>
                  <a:txBody>
                    <a:bodyPr/>
                    <a:lstStyle/>
                    <a:p>
                      <a:r>
                        <a:rPr lang="en-US" sz="1400" dirty="0"/>
                        <a:t>High complexity, not core to MVP, and can distract from initial safety-first vision.</a:t>
                      </a:r>
                      <a:endParaRPr lang="en-IN" sz="1400" dirty="0"/>
                    </a:p>
                  </a:txBody>
                  <a:tcPr>
                    <a:solidFill>
                      <a:schemeClr val="accent4"/>
                    </a:solidFill>
                  </a:tcPr>
                </a:tc>
                <a:extLst>
                  <a:ext uri="{0D108BD9-81ED-4DB2-BD59-A6C34878D82A}">
                    <a16:rowId xmlns:a16="http://schemas.microsoft.com/office/drawing/2014/main" val="2372547959"/>
                  </a:ext>
                </a:extLst>
              </a:tr>
            </a:tbl>
          </a:graphicData>
        </a:graphic>
      </p:graphicFrame>
    </p:spTree>
    <p:extLst>
      <p:ext uri="{BB962C8B-B14F-4D97-AF65-F5344CB8AC3E}">
        <p14:creationId xmlns:p14="http://schemas.microsoft.com/office/powerpoint/2010/main" val="3326806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770964" y="277906"/>
            <a:ext cx="5641848" cy="735106"/>
          </a:xfrm>
        </p:spPr>
        <p:txBody>
          <a:bodyPr/>
          <a:lstStyle/>
          <a:p>
            <a:r>
              <a:rPr lang="en-US" dirty="0"/>
              <a:t>User Flow- Driver</a:t>
            </a:r>
          </a:p>
        </p:txBody>
      </p:sp>
      <p:sp>
        <p:nvSpPr>
          <p:cNvPr id="4" name="Picture Placeholder 3">
            <a:extLst>
              <a:ext uri="{FF2B5EF4-FFF2-40B4-BE49-F238E27FC236}">
                <a16:creationId xmlns:a16="http://schemas.microsoft.com/office/drawing/2014/main" id="{1B77D19D-6572-4EBD-8304-3FEBEAD71092}"/>
              </a:ext>
            </a:extLst>
          </p:cNvPr>
          <p:cNvSpPr>
            <a:spLocks noGrp="1"/>
          </p:cNvSpPr>
          <p:nvPr>
            <p:ph type="pic" idx="1"/>
          </p:nvPr>
        </p:nvSpPr>
        <p:spPr/>
      </p:sp>
      <p:pic>
        <p:nvPicPr>
          <p:cNvPr id="6" name="Picture Placeholder 10">
            <a:extLst>
              <a:ext uri="{FF2B5EF4-FFF2-40B4-BE49-F238E27FC236}">
                <a16:creationId xmlns:a16="http://schemas.microsoft.com/office/drawing/2014/main" id="{8AC75DF5-F0CC-4A6C-8354-63F77D9900DE}"/>
              </a:ext>
            </a:extLst>
          </p:cNvPr>
          <p:cNvPicPr>
            <a:picLocks noChangeAspect="1"/>
          </p:cNvPicPr>
          <p:nvPr/>
        </p:nvPicPr>
        <p:blipFill>
          <a:blip r:embed="rId3"/>
          <a:srcRect l="1539" r="1539"/>
          <a:stretch>
            <a:fillRect/>
          </a:stretch>
        </p:blipFill>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pic>
      <p:sp>
        <p:nvSpPr>
          <p:cNvPr id="5" name="Rectangle: Rounded Corners 4">
            <a:extLst>
              <a:ext uri="{FF2B5EF4-FFF2-40B4-BE49-F238E27FC236}">
                <a16:creationId xmlns:a16="http://schemas.microsoft.com/office/drawing/2014/main" id="{EFBDDFD9-B3F8-49AF-A847-8DBCA0912E3E}"/>
              </a:ext>
            </a:extLst>
          </p:cNvPr>
          <p:cNvSpPr/>
          <p:nvPr/>
        </p:nvSpPr>
        <p:spPr>
          <a:xfrm>
            <a:off x="233083" y="1063004"/>
            <a:ext cx="2545976" cy="2491502"/>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1E226778-7DFB-4C42-B740-0B370F14E180}"/>
              </a:ext>
            </a:extLst>
          </p:cNvPr>
          <p:cNvSpPr txBox="1"/>
          <p:nvPr/>
        </p:nvSpPr>
        <p:spPr>
          <a:xfrm>
            <a:off x="233082" y="1139204"/>
            <a:ext cx="2545975" cy="2339102"/>
          </a:xfrm>
          <a:prstGeom prst="rect">
            <a:avLst/>
          </a:prstGeom>
          <a:noFill/>
        </p:spPr>
        <p:txBody>
          <a:bodyPr wrap="square" rtlCol="0">
            <a:spAutoFit/>
          </a:bodyPr>
          <a:lstStyle/>
          <a:p>
            <a:pPr algn="ctr"/>
            <a:r>
              <a:rPr lang="en-IN" sz="1400" b="1" dirty="0">
                <a:effectLst/>
                <a:latin typeface="+mj-lt"/>
                <a:ea typeface="Times New Roman" panose="02020603050405020304" pitchFamily="18" charset="0"/>
              </a:rPr>
              <a:t>Sign-up &amp; Verification</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Driver downloads app</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Registers with phone number</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Uploads documents:</a:t>
            </a:r>
          </a:p>
          <a:p>
            <a:pPr marL="742950" lvl="1" indent="-285750">
              <a:buSzPts val="1000"/>
              <a:buFont typeface="Courier New" panose="02070309020205020404" pitchFamily="49" charset="0"/>
              <a:buChar char="o"/>
              <a:tabLst>
                <a:tab pos="914400" algn="l"/>
              </a:tabLst>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Aadhaar</a:t>
            </a:r>
          </a:p>
          <a:p>
            <a:pPr marL="742950" lvl="1" indent="-285750">
              <a:buSzPts val="1000"/>
              <a:buFont typeface="Courier New" panose="02070309020205020404" pitchFamily="49" charset="0"/>
              <a:buChar char="o"/>
              <a:tabLst>
                <a:tab pos="914400" algn="l"/>
              </a:tabLst>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Driving license</a:t>
            </a:r>
          </a:p>
          <a:p>
            <a:pPr marL="742950" lvl="1" indent="-285750">
              <a:buSzPts val="1000"/>
              <a:buFont typeface="Courier New" panose="02070309020205020404" pitchFamily="49" charset="0"/>
              <a:buChar char="o"/>
              <a:tabLst>
                <a:tab pos="914400" algn="l"/>
              </a:tabLst>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Vehicle RC</a:t>
            </a:r>
          </a:p>
          <a:p>
            <a:pPr marL="742950" lvl="1" indent="-285750">
              <a:buSzPts val="1000"/>
              <a:buFont typeface="Courier New" panose="02070309020205020404" pitchFamily="49" charset="0"/>
              <a:buChar char="o"/>
              <a:tabLst>
                <a:tab pos="914400" algn="l"/>
              </a:tabLst>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Background check consent</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Verification team reviews</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Driver attends safety onboarding session</a:t>
            </a:r>
          </a:p>
        </p:txBody>
      </p:sp>
      <p:sp>
        <p:nvSpPr>
          <p:cNvPr id="9" name="Rectangle: Rounded Corners 8">
            <a:extLst>
              <a:ext uri="{FF2B5EF4-FFF2-40B4-BE49-F238E27FC236}">
                <a16:creationId xmlns:a16="http://schemas.microsoft.com/office/drawing/2014/main" id="{58CC3FC7-F9DA-441F-B1D8-67CDABE650DD}"/>
              </a:ext>
            </a:extLst>
          </p:cNvPr>
          <p:cNvSpPr/>
          <p:nvPr/>
        </p:nvSpPr>
        <p:spPr>
          <a:xfrm>
            <a:off x="4143129" y="1139204"/>
            <a:ext cx="2226294" cy="180638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7C879E14-296C-4095-ABED-1B75C17DE560}"/>
              </a:ext>
            </a:extLst>
          </p:cNvPr>
          <p:cNvSpPr txBox="1"/>
          <p:nvPr/>
        </p:nvSpPr>
        <p:spPr>
          <a:xfrm>
            <a:off x="4347880" y="1334512"/>
            <a:ext cx="1900518" cy="1415772"/>
          </a:xfrm>
          <a:prstGeom prst="rect">
            <a:avLst/>
          </a:prstGeom>
          <a:noFill/>
        </p:spPr>
        <p:txBody>
          <a:bodyPr wrap="square" rtlCol="0">
            <a:spAutoFit/>
          </a:bodyPr>
          <a:lstStyle/>
          <a:p>
            <a:r>
              <a:rPr lang="en-IN" sz="1400" b="1" dirty="0">
                <a:effectLst/>
                <a:latin typeface="+mj-lt"/>
                <a:ea typeface="Times New Roman" panose="02020603050405020304" pitchFamily="18" charset="0"/>
              </a:rPr>
              <a:t>Driver Dashboard</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Online/Offline toggle</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Requests screen</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Wallet earnings</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Trip history</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Navigation settings</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Help &amp; Support</a:t>
            </a:r>
          </a:p>
        </p:txBody>
      </p:sp>
      <p:sp>
        <p:nvSpPr>
          <p:cNvPr id="11" name="Rectangle: Rounded Corners 10">
            <a:extLst>
              <a:ext uri="{FF2B5EF4-FFF2-40B4-BE49-F238E27FC236}">
                <a16:creationId xmlns:a16="http://schemas.microsoft.com/office/drawing/2014/main" id="{E18CEE15-B790-4BF3-B2EC-BA7EDF958CA1}"/>
              </a:ext>
            </a:extLst>
          </p:cNvPr>
          <p:cNvSpPr/>
          <p:nvPr/>
        </p:nvSpPr>
        <p:spPr>
          <a:xfrm>
            <a:off x="4171616" y="3429000"/>
            <a:ext cx="2142565" cy="155158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0EE3B27D-520E-494A-B373-7577BBE05388}"/>
              </a:ext>
            </a:extLst>
          </p:cNvPr>
          <p:cNvSpPr txBox="1"/>
          <p:nvPr/>
        </p:nvSpPr>
        <p:spPr>
          <a:xfrm>
            <a:off x="4245505" y="3589237"/>
            <a:ext cx="2021541" cy="1046440"/>
          </a:xfrm>
          <a:prstGeom prst="rect">
            <a:avLst/>
          </a:prstGeom>
          <a:noFill/>
        </p:spPr>
        <p:txBody>
          <a:bodyPr wrap="square" rtlCol="0">
            <a:spAutoFit/>
          </a:bodyPr>
          <a:lstStyle/>
          <a:p>
            <a:pPr algn="ctr"/>
            <a:r>
              <a:rPr lang="en-IN" sz="1400" b="1" dirty="0">
                <a:effectLst/>
                <a:latin typeface="+mj-lt"/>
                <a:ea typeface="Times New Roman" panose="02020603050405020304" pitchFamily="18" charset="0"/>
              </a:rPr>
              <a:t>Ride Request</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Driver receives ride request</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Sees pickup location</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Accepts or rejects</a:t>
            </a:r>
          </a:p>
        </p:txBody>
      </p:sp>
      <p:sp>
        <p:nvSpPr>
          <p:cNvPr id="13" name="Rectangle: Rounded Corners 12">
            <a:extLst>
              <a:ext uri="{FF2B5EF4-FFF2-40B4-BE49-F238E27FC236}">
                <a16:creationId xmlns:a16="http://schemas.microsoft.com/office/drawing/2014/main" id="{AFCD8612-3E5F-4E08-B9A7-E25EBB0B0ECB}"/>
              </a:ext>
            </a:extLst>
          </p:cNvPr>
          <p:cNvSpPr/>
          <p:nvPr/>
        </p:nvSpPr>
        <p:spPr>
          <a:xfrm>
            <a:off x="508745" y="3871624"/>
            <a:ext cx="2008094" cy="143883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C7EBE5CC-1C59-4970-95AB-13F14839DA7E}"/>
              </a:ext>
            </a:extLst>
          </p:cNvPr>
          <p:cNvSpPr txBox="1"/>
          <p:nvPr/>
        </p:nvSpPr>
        <p:spPr>
          <a:xfrm>
            <a:off x="434786" y="3922318"/>
            <a:ext cx="2142565" cy="1415772"/>
          </a:xfrm>
          <a:prstGeom prst="rect">
            <a:avLst/>
          </a:prstGeom>
          <a:noFill/>
        </p:spPr>
        <p:txBody>
          <a:bodyPr wrap="square" rtlCol="0">
            <a:spAutoFit/>
          </a:bodyPr>
          <a:lstStyle/>
          <a:p>
            <a:pPr algn="ctr"/>
            <a:r>
              <a:rPr lang="en-IN" sz="1400" b="1" dirty="0">
                <a:effectLst/>
                <a:latin typeface="+mj-lt"/>
                <a:ea typeface="Times New Roman" panose="02020603050405020304" pitchFamily="18" charset="0"/>
              </a:rPr>
              <a:t>Navigate to Pickup</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Built-in navigation to rider location</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Call/Chat rider if needed (masked number)</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“Arrived” button on reaching</a:t>
            </a:r>
          </a:p>
        </p:txBody>
      </p:sp>
      <p:sp>
        <p:nvSpPr>
          <p:cNvPr id="15" name="Rectangle: Rounded Corners 14">
            <a:extLst>
              <a:ext uri="{FF2B5EF4-FFF2-40B4-BE49-F238E27FC236}">
                <a16:creationId xmlns:a16="http://schemas.microsoft.com/office/drawing/2014/main" id="{2F67009E-1CF0-45A6-8407-1F9038B86204}"/>
              </a:ext>
            </a:extLst>
          </p:cNvPr>
          <p:cNvSpPr/>
          <p:nvPr/>
        </p:nvSpPr>
        <p:spPr>
          <a:xfrm>
            <a:off x="486331" y="5605085"/>
            <a:ext cx="2277035" cy="112058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386C5FE8-0680-43D8-9E69-D8CEC103FF9A}"/>
              </a:ext>
            </a:extLst>
          </p:cNvPr>
          <p:cNvSpPr txBox="1"/>
          <p:nvPr/>
        </p:nvSpPr>
        <p:spPr>
          <a:xfrm>
            <a:off x="486330" y="5549826"/>
            <a:ext cx="2277035" cy="1231106"/>
          </a:xfrm>
          <a:prstGeom prst="rect">
            <a:avLst/>
          </a:prstGeom>
          <a:noFill/>
        </p:spPr>
        <p:txBody>
          <a:bodyPr wrap="square" rtlCol="0">
            <a:spAutoFit/>
          </a:bodyPr>
          <a:lstStyle/>
          <a:p>
            <a:pPr algn="ctr"/>
            <a:r>
              <a:rPr lang="en-IN" sz="1400" b="1" dirty="0">
                <a:effectLst/>
                <a:latin typeface="+mj-lt"/>
                <a:ea typeface="Times New Roman" panose="02020603050405020304" pitchFamily="18" charset="0"/>
              </a:rPr>
              <a:t>Start Ride</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Confirm rider identity</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Start trip</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Turn-by-turn navigation</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Safety options visible (SOS, emergency contact)</a:t>
            </a:r>
          </a:p>
        </p:txBody>
      </p:sp>
      <p:sp>
        <p:nvSpPr>
          <p:cNvPr id="17" name="Rectangle: Rounded Corners 16">
            <a:extLst>
              <a:ext uri="{FF2B5EF4-FFF2-40B4-BE49-F238E27FC236}">
                <a16:creationId xmlns:a16="http://schemas.microsoft.com/office/drawing/2014/main" id="{5BB69A9D-284B-4943-AF53-34B432B4BFAA}"/>
              </a:ext>
            </a:extLst>
          </p:cNvPr>
          <p:cNvSpPr/>
          <p:nvPr/>
        </p:nvSpPr>
        <p:spPr>
          <a:xfrm>
            <a:off x="4104380" y="5310460"/>
            <a:ext cx="2277035" cy="1470472"/>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B5BB83F5-11E2-48D3-851F-E0BF4E8A2E14}"/>
              </a:ext>
            </a:extLst>
          </p:cNvPr>
          <p:cNvSpPr txBox="1"/>
          <p:nvPr/>
        </p:nvSpPr>
        <p:spPr>
          <a:xfrm>
            <a:off x="4241450" y="5445531"/>
            <a:ext cx="2002893" cy="1200329"/>
          </a:xfrm>
          <a:prstGeom prst="rect">
            <a:avLst/>
          </a:prstGeom>
          <a:noFill/>
        </p:spPr>
        <p:txBody>
          <a:bodyPr wrap="square" rtlCol="0">
            <a:spAutoFit/>
          </a:bodyPr>
          <a:lstStyle/>
          <a:p>
            <a:pPr algn="ctr"/>
            <a:r>
              <a:rPr lang="en-IN" sz="1200" b="1" dirty="0">
                <a:effectLst/>
                <a:latin typeface="+mj-lt"/>
                <a:ea typeface="Times New Roman" panose="02020603050405020304" pitchFamily="18" charset="0"/>
              </a:rPr>
              <a:t>Complete Ride</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End trip</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Fare auto-calculated</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Rider makes payment</a:t>
            </a:r>
          </a:p>
          <a:p>
            <a:pPr marL="342900" lvl="0" indent="-342900">
              <a:buSzPts val="1000"/>
              <a:buFont typeface="Symbol" panose="05050102010706020507" pitchFamily="18" charset="2"/>
              <a:buChar char=""/>
              <a:tabLst>
                <a:tab pos="457200" algn="l"/>
              </a:tabLst>
            </a:pPr>
            <a:r>
              <a:rPr lang="en-IN" sz="1200" dirty="0">
                <a:effectLst/>
                <a:latin typeface="Times New Roman" panose="02020603050405020304" pitchFamily="18" charset="0"/>
                <a:ea typeface="Times New Roman" panose="02020603050405020304" pitchFamily="18" charset="0"/>
              </a:rPr>
              <a:t>Driver sees earning added to wallet</a:t>
            </a:r>
          </a:p>
        </p:txBody>
      </p:sp>
      <p:sp>
        <p:nvSpPr>
          <p:cNvPr id="19" name="Arrow: Right 18">
            <a:extLst>
              <a:ext uri="{FF2B5EF4-FFF2-40B4-BE49-F238E27FC236}">
                <a16:creationId xmlns:a16="http://schemas.microsoft.com/office/drawing/2014/main" id="{9E5F5D6B-D07B-4D51-A9EB-5E8F49B12904}"/>
              </a:ext>
            </a:extLst>
          </p:cNvPr>
          <p:cNvSpPr/>
          <p:nvPr/>
        </p:nvSpPr>
        <p:spPr>
          <a:xfrm>
            <a:off x="2779057" y="2042398"/>
            <a:ext cx="1364070" cy="82237"/>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20" name="Arrow: Down 19">
            <a:extLst>
              <a:ext uri="{FF2B5EF4-FFF2-40B4-BE49-F238E27FC236}">
                <a16:creationId xmlns:a16="http://schemas.microsoft.com/office/drawing/2014/main" id="{074C43DC-7CAC-452C-8D39-F3F13FD0C44D}"/>
              </a:ext>
            </a:extLst>
          </p:cNvPr>
          <p:cNvSpPr/>
          <p:nvPr/>
        </p:nvSpPr>
        <p:spPr>
          <a:xfrm>
            <a:off x="5230887" y="2945593"/>
            <a:ext cx="94148" cy="483406"/>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21" name="Arrow: Left 20">
            <a:extLst>
              <a:ext uri="{FF2B5EF4-FFF2-40B4-BE49-F238E27FC236}">
                <a16:creationId xmlns:a16="http://schemas.microsoft.com/office/drawing/2014/main" id="{65DD624D-3F62-4D24-AC42-907CA178BDBD}"/>
              </a:ext>
            </a:extLst>
          </p:cNvPr>
          <p:cNvSpPr/>
          <p:nvPr/>
        </p:nvSpPr>
        <p:spPr>
          <a:xfrm>
            <a:off x="2516839" y="4374776"/>
            <a:ext cx="1654777" cy="114726"/>
          </a:xfrm>
          <a:prstGeom prst="lef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22" name="Arrow: Down 21">
            <a:extLst>
              <a:ext uri="{FF2B5EF4-FFF2-40B4-BE49-F238E27FC236}">
                <a16:creationId xmlns:a16="http://schemas.microsoft.com/office/drawing/2014/main" id="{20420C17-22A4-4E8A-91F8-9E9D2F3005B6}"/>
              </a:ext>
            </a:extLst>
          </p:cNvPr>
          <p:cNvSpPr/>
          <p:nvPr/>
        </p:nvSpPr>
        <p:spPr>
          <a:xfrm>
            <a:off x="1434353" y="5310460"/>
            <a:ext cx="71718" cy="294625"/>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23" name="Arrow: Right 22">
            <a:extLst>
              <a:ext uri="{FF2B5EF4-FFF2-40B4-BE49-F238E27FC236}">
                <a16:creationId xmlns:a16="http://schemas.microsoft.com/office/drawing/2014/main" id="{56A255C9-E6EE-41B0-85D0-07ADF2C23C5C}"/>
              </a:ext>
            </a:extLst>
          </p:cNvPr>
          <p:cNvSpPr/>
          <p:nvPr/>
        </p:nvSpPr>
        <p:spPr>
          <a:xfrm>
            <a:off x="2763365" y="6129521"/>
            <a:ext cx="1341013" cy="114726"/>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97610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5827204" y="205830"/>
            <a:ext cx="5449824" cy="690282"/>
          </a:xfrm>
        </p:spPr>
        <p:txBody>
          <a:bodyPr anchor="b"/>
          <a:lstStyle/>
          <a:p>
            <a:r>
              <a:rPr lang="en-US" dirty="0"/>
              <a:t>User Flow- Rider</a:t>
            </a:r>
          </a:p>
        </p:txBody>
      </p:sp>
      <p:pic>
        <p:nvPicPr>
          <p:cNvPr id="4" name="Picture Placeholder 3" descr="A person holding a plant">
            <a:extLst>
              <a:ext uri="{FF2B5EF4-FFF2-40B4-BE49-F238E27FC236}">
                <a16:creationId xmlns:a16="http://schemas.microsoft.com/office/drawing/2014/main" id="{0DEBEDD0-2C97-CD36-23CF-99F082806824}"/>
              </a:ext>
            </a:extLst>
          </p:cNvPr>
          <p:cNvPicPr>
            <a:picLocks noGrp="1" noChangeAspect="1"/>
          </p:cNvPicPr>
          <p:nvPr>
            <p:ph type="pic" sz="quarter" idx="11"/>
          </p:nvPr>
        </p:nvPicPr>
        <p:blipFill rotWithShape="1">
          <a:blip r:embed="rId3"/>
          <a:srcRect l="24497" r="24497"/>
          <a:stretch/>
        </p:blipFill>
        <p:spPr>
          <a:xfrm>
            <a:off x="-1" y="261780"/>
            <a:ext cx="5046134" cy="6596220"/>
          </a:xfrm>
          <a:solidFill>
            <a:schemeClr val="tx1"/>
          </a:solidFill>
        </p:spPr>
      </p:pic>
      <p:pic>
        <p:nvPicPr>
          <p:cNvPr id="5" name="Picture Placeholder 11">
            <a:extLst>
              <a:ext uri="{FF2B5EF4-FFF2-40B4-BE49-F238E27FC236}">
                <a16:creationId xmlns:a16="http://schemas.microsoft.com/office/drawing/2014/main" id="{0F8005AA-00E9-4FF4-AEAF-2C910DE9529B}"/>
              </a:ext>
            </a:extLst>
          </p:cNvPr>
          <p:cNvPicPr>
            <a:picLocks noChangeAspect="1"/>
          </p:cNvPicPr>
          <p:nvPr/>
        </p:nvPicPr>
        <p:blipFill>
          <a:blip r:embed="rId4"/>
          <a:srcRect t="970" b="970"/>
          <a:stretch>
            <a:fillRect/>
          </a:stretch>
        </p:blipFill>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pic>
      <p:sp>
        <p:nvSpPr>
          <p:cNvPr id="7" name="Rectangle: Rounded Corners 6">
            <a:extLst>
              <a:ext uri="{FF2B5EF4-FFF2-40B4-BE49-F238E27FC236}">
                <a16:creationId xmlns:a16="http://schemas.microsoft.com/office/drawing/2014/main" id="{71D4FC77-C4E1-4846-9DB2-E58F2FC8AD55}"/>
              </a:ext>
            </a:extLst>
          </p:cNvPr>
          <p:cNvSpPr/>
          <p:nvPr/>
        </p:nvSpPr>
        <p:spPr>
          <a:xfrm>
            <a:off x="4698505" y="1183341"/>
            <a:ext cx="2447364" cy="1785104"/>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72318D35-7E52-4087-B666-DBD96F89C99B}"/>
              </a:ext>
            </a:extLst>
          </p:cNvPr>
          <p:cNvSpPr txBox="1"/>
          <p:nvPr/>
        </p:nvSpPr>
        <p:spPr>
          <a:xfrm>
            <a:off x="4797616" y="1183341"/>
            <a:ext cx="2249142" cy="1785104"/>
          </a:xfrm>
          <a:prstGeom prst="rect">
            <a:avLst/>
          </a:prstGeom>
          <a:noFill/>
        </p:spPr>
        <p:txBody>
          <a:bodyPr wrap="square" rtlCol="0">
            <a:spAutoFit/>
          </a:bodyPr>
          <a:lstStyle/>
          <a:p>
            <a:pPr algn="ctr"/>
            <a:r>
              <a:rPr lang="en-US" sz="1400" b="1" dirty="0">
                <a:solidFill>
                  <a:srgbClr val="D1D8B7"/>
                </a:solidFill>
                <a:latin typeface="+mj-lt"/>
                <a:cs typeface="Times New Roman" panose="02020603050405020304" pitchFamily="18" charset="0"/>
              </a:rPr>
              <a:t>Onboarding</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Download app → Open → “Get Started”</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Mobile OTP verification</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Fill profile (name, photo optional, age)</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Add </a:t>
            </a:r>
            <a:r>
              <a:rPr lang="en-US" sz="1200" b="1" dirty="0">
                <a:solidFill>
                  <a:srgbClr val="D1D8B7"/>
                </a:solidFill>
                <a:latin typeface="Times New Roman" panose="02020603050405020304" pitchFamily="18" charset="0"/>
                <a:cs typeface="Times New Roman" panose="02020603050405020304" pitchFamily="18" charset="0"/>
              </a:rPr>
              <a:t>emergency contacts</a:t>
            </a:r>
            <a:endParaRPr lang="en-US" sz="1200" dirty="0">
              <a:solidFill>
                <a:srgbClr val="D1D8B7"/>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Accept permissions (location, notifications)</a:t>
            </a:r>
          </a:p>
        </p:txBody>
      </p:sp>
      <p:sp>
        <p:nvSpPr>
          <p:cNvPr id="9" name="Rectangle: Rounded Corners 8">
            <a:extLst>
              <a:ext uri="{FF2B5EF4-FFF2-40B4-BE49-F238E27FC236}">
                <a16:creationId xmlns:a16="http://schemas.microsoft.com/office/drawing/2014/main" id="{C09FEA6A-7951-46AE-8F8F-F68AE55F6F81}"/>
              </a:ext>
            </a:extLst>
          </p:cNvPr>
          <p:cNvSpPr/>
          <p:nvPr/>
        </p:nvSpPr>
        <p:spPr>
          <a:xfrm>
            <a:off x="9126071" y="1183341"/>
            <a:ext cx="2447364" cy="1600438"/>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85061E70-576A-4985-A9A1-3D7E8CB2768A}"/>
              </a:ext>
            </a:extLst>
          </p:cNvPr>
          <p:cNvSpPr txBox="1"/>
          <p:nvPr/>
        </p:nvSpPr>
        <p:spPr>
          <a:xfrm>
            <a:off x="9224932" y="1275674"/>
            <a:ext cx="2249642" cy="1415772"/>
          </a:xfrm>
          <a:prstGeom prst="rect">
            <a:avLst/>
          </a:prstGeom>
          <a:noFill/>
        </p:spPr>
        <p:txBody>
          <a:bodyPr wrap="square" rtlCol="0">
            <a:spAutoFit/>
          </a:bodyPr>
          <a:lstStyle/>
          <a:p>
            <a:pPr algn="ctr"/>
            <a:r>
              <a:rPr lang="en-US" sz="1400" b="1" dirty="0">
                <a:solidFill>
                  <a:srgbClr val="D1D8B7"/>
                </a:solidFill>
                <a:latin typeface="+mj-lt"/>
                <a:cs typeface="Times New Roman" panose="02020603050405020304" pitchFamily="18" charset="0"/>
              </a:rPr>
              <a:t>Home Screen</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Access to trip history and payment details</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Map + “Book Ride”</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User selects her ride: Solo or Shared</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SOS button visible</a:t>
            </a:r>
          </a:p>
        </p:txBody>
      </p:sp>
      <p:sp>
        <p:nvSpPr>
          <p:cNvPr id="12" name="Rectangle: Rounded Corners 11">
            <a:extLst>
              <a:ext uri="{FF2B5EF4-FFF2-40B4-BE49-F238E27FC236}">
                <a16:creationId xmlns:a16="http://schemas.microsoft.com/office/drawing/2014/main" id="{C49D8B0E-3ADD-46BA-A30E-0D5F0341AF9C}"/>
              </a:ext>
            </a:extLst>
          </p:cNvPr>
          <p:cNvSpPr/>
          <p:nvPr/>
        </p:nvSpPr>
        <p:spPr>
          <a:xfrm>
            <a:off x="9224931" y="3202404"/>
            <a:ext cx="2348503" cy="174363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B14B52BD-5193-428E-97A8-1A31360BD76B}"/>
              </a:ext>
            </a:extLst>
          </p:cNvPr>
          <p:cNvSpPr txBox="1"/>
          <p:nvPr/>
        </p:nvSpPr>
        <p:spPr>
          <a:xfrm>
            <a:off x="9359153" y="3221461"/>
            <a:ext cx="2115421" cy="1785104"/>
          </a:xfrm>
          <a:prstGeom prst="rect">
            <a:avLst/>
          </a:prstGeom>
          <a:noFill/>
        </p:spPr>
        <p:txBody>
          <a:bodyPr wrap="square" rtlCol="0">
            <a:spAutoFit/>
          </a:bodyPr>
          <a:lstStyle/>
          <a:p>
            <a:pPr algn="ctr"/>
            <a:r>
              <a:rPr lang="en-US" sz="1400" b="1" dirty="0">
                <a:solidFill>
                  <a:srgbClr val="D1D8B7"/>
                </a:solidFill>
                <a:latin typeface="+mj-lt"/>
              </a:rPr>
              <a:t>Booking a Ride</a:t>
            </a:r>
          </a:p>
          <a:p>
            <a:pPr marL="171450" indent="-171450">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Enter pickup</a:t>
            </a:r>
          </a:p>
          <a:p>
            <a:pPr marL="171450" indent="-171450">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Enter destination</a:t>
            </a:r>
          </a:p>
          <a:p>
            <a:pPr marL="171450" indent="-171450">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App shows: Fare estimate, Ride type (Solo or Shared), ETA</a:t>
            </a:r>
          </a:p>
          <a:p>
            <a:pPr marL="171450" indent="-171450">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User confirms ride</a:t>
            </a:r>
          </a:p>
          <a:p>
            <a:pPr marL="171450" indent="-171450">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Ride request goes to nearby women drivers</a:t>
            </a:r>
          </a:p>
        </p:txBody>
      </p:sp>
      <p:sp>
        <p:nvSpPr>
          <p:cNvPr id="15" name="Rectangle: Rounded Corners 14">
            <a:extLst>
              <a:ext uri="{FF2B5EF4-FFF2-40B4-BE49-F238E27FC236}">
                <a16:creationId xmlns:a16="http://schemas.microsoft.com/office/drawing/2014/main" id="{D0D67AB3-9760-4D1A-80D1-A183FC30F987}"/>
              </a:ext>
            </a:extLst>
          </p:cNvPr>
          <p:cNvSpPr/>
          <p:nvPr/>
        </p:nvSpPr>
        <p:spPr>
          <a:xfrm>
            <a:off x="5180355" y="3342484"/>
            <a:ext cx="2348503" cy="1525351"/>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4099B63F-B428-43F6-BE79-D6F730D2F454}"/>
              </a:ext>
            </a:extLst>
          </p:cNvPr>
          <p:cNvSpPr txBox="1"/>
          <p:nvPr/>
        </p:nvSpPr>
        <p:spPr>
          <a:xfrm>
            <a:off x="5260912" y="3458668"/>
            <a:ext cx="2187388" cy="1231106"/>
          </a:xfrm>
          <a:prstGeom prst="rect">
            <a:avLst/>
          </a:prstGeom>
          <a:noFill/>
        </p:spPr>
        <p:txBody>
          <a:bodyPr wrap="square" rtlCol="0">
            <a:spAutoFit/>
          </a:bodyPr>
          <a:lstStyle/>
          <a:p>
            <a:pPr algn="ctr"/>
            <a:r>
              <a:rPr lang="en-US" sz="1400" b="1" dirty="0">
                <a:solidFill>
                  <a:srgbClr val="D1D8B7"/>
                </a:solidFill>
                <a:latin typeface="+mj-lt"/>
              </a:rPr>
              <a:t>Driver Assignment</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Driver accepts → App shows driver profile (photo, ratings, vehicle number, ride count)</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Live tracking begins</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User can: Call (masked), Chat</a:t>
            </a:r>
          </a:p>
        </p:txBody>
      </p:sp>
      <p:sp>
        <p:nvSpPr>
          <p:cNvPr id="17" name="Rectangle: Rounded Corners 16">
            <a:extLst>
              <a:ext uri="{FF2B5EF4-FFF2-40B4-BE49-F238E27FC236}">
                <a16:creationId xmlns:a16="http://schemas.microsoft.com/office/drawing/2014/main" id="{8F5C48DC-C9CA-4BF1-8D5A-503FB5540337}"/>
              </a:ext>
            </a:extLst>
          </p:cNvPr>
          <p:cNvSpPr/>
          <p:nvPr/>
        </p:nvSpPr>
        <p:spPr>
          <a:xfrm>
            <a:off x="5495365" y="5278996"/>
            <a:ext cx="2277035" cy="1409167"/>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96EDD75B-04FF-480D-86D9-FAF0566E4204}"/>
              </a:ext>
            </a:extLst>
          </p:cNvPr>
          <p:cNvSpPr txBox="1"/>
          <p:nvPr/>
        </p:nvSpPr>
        <p:spPr>
          <a:xfrm>
            <a:off x="5495365" y="5361163"/>
            <a:ext cx="2348503" cy="1231106"/>
          </a:xfrm>
          <a:prstGeom prst="rect">
            <a:avLst/>
          </a:prstGeom>
          <a:noFill/>
        </p:spPr>
        <p:txBody>
          <a:bodyPr wrap="square" rtlCol="0">
            <a:spAutoFit/>
          </a:bodyPr>
          <a:lstStyle/>
          <a:p>
            <a:pPr algn="ctr"/>
            <a:r>
              <a:rPr lang="en-US" sz="1400" b="1" dirty="0">
                <a:solidFill>
                  <a:srgbClr val="D1D8B7"/>
                </a:solidFill>
                <a:latin typeface="+mj-lt"/>
                <a:cs typeface="Times New Roman" panose="02020603050405020304" pitchFamily="18" charset="0"/>
              </a:rPr>
              <a:t>Ride Experience</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Driver arrives → Notification: “Your driver is here”</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Trip starts</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Rider sees: Live navigation, SOS, Share location, In-ride support</a:t>
            </a:r>
          </a:p>
        </p:txBody>
      </p:sp>
      <p:sp>
        <p:nvSpPr>
          <p:cNvPr id="19" name="Rectangle: Rounded Corners 18">
            <a:extLst>
              <a:ext uri="{FF2B5EF4-FFF2-40B4-BE49-F238E27FC236}">
                <a16:creationId xmlns:a16="http://schemas.microsoft.com/office/drawing/2014/main" id="{84D66FB6-B445-4DA2-9AC9-9753AE35674E}"/>
              </a:ext>
            </a:extLst>
          </p:cNvPr>
          <p:cNvSpPr/>
          <p:nvPr/>
        </p:nvSpPr>
        <p:spPr>
          <a:xfrm>
            <a:off x="9359153" y="5361163"/>
            <a:ext cx="2277035" cy="1409167"/>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49DA619C-6065-4A95-9427-3F7229BD7121}"/>
              </a:ext>
            </a:extLst>
          </p:cNvPr>
          <p:cNvSpPr txBox="1"/>
          <p:nvPr/>
        </p:nvSpPr>
        <p:spPr>
          <a:xfrm>
            <a:off x="9520767" y="5472301"/>
            <a:ext cx="1953807" cy="1231106"/>
          </a:xfrm>
          <a:prstGeom prst="rect">
            <a:avLst/>
          </a:prstGeom>
          <a:noFill/>
        </p:spPr>
        <p:txBody>
          <a:bodyPr wrap="square" rtlCol="0">
            <a:spAutoFit/>
          </a:bodyPr>
          <a:lstStyle/>
          <a:p>
            <a:pPr algn="ctr"/>
            <a:r>
              <a:rPr lang="en-US" sz="1400" b="1" dirty="0">
                <a:solidFill>
                  <a:srgbClr val="D1D8B7"/>
                </a:solidFill>
                <a:latin typeface="+mj-lt"/>
              </a:rPr>
              <a:t>Trip Completion</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Driver ends trip</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Fare displayed</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Payment through UPI/Wallet/Cash</a:t>
            </a:r>
          </a:p>
          <a:p>
            <a:pPr>
              <a:buFont typeface="Arial" panose="020B0604020202020204" pitchFamily="34" charset="0"/>
              <a:buChar char="•"/>
            </a:pPr>
            <a:r>
              <a:rPr lang="en-US" sz="1200" dirty="0">
                <a:solidFill>
                  <a:srgbClr val="D1D8B7"/>
                </a:solidFill>
                <a:latin typeface="Times New Roman" panose="02020603050405020304" pitchFamily="18" charset="0"/>
                <a:cs typeface="Times New Roman" panose="02020603050405020304" pitchFamily="18" charset="0"/>
              </a:rPr>
              <a:t>Digital invoice sent</a:t>
            </a:r>
          </a:p>
        </p:txBody>
      </p:sp>
      <p:sp>
        <p:nvSpPr>
          <p:cNvPr id="21" name="Arrow: Right 20">
            <a:extLst>
              <a:ext uri="{FF2B5EF4-FFF2-40B4-BE49-F238E27FC236}">
                <a16:creationId xmlns:a16="http://schemas.microsoft.com/office/drawing/2014/main" id="{DD61AA5B-86F6-417A-AF6F-AC38F5FD95C5}"/>
              </a:ext>
            </a:extLst>
          </p:cNvPr>
          <p:cNvSpPr/>
          <p:nvPr/>
        </p:nvSpPr>
        <p:spPr>
          <a:xfrm>
            <a:off x="7145869" y="1983560"/>
            <a:ext cx="1980202" cy="139252"/>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2" name="Arrow: Down 21">
            <a:extLst>
              <a:ext uri="{FF2B5EF4-FFF2-40B4-BE49-F238E27FC236}">
                <a16:creationId xmlns:a16="http://schemas.microsoft.com/office/drawing/2014/main" id="{43B6E863-3FC6-4D0C-916A-3D2A2B5A2D8C}"/>
              </a:ext>
            </a:extLst>
          </p:cNvPr>
          <p:cNvSpPr/>
          <p:nvPr/>
        </p:nvSpPr>
        <p:spPr>
          <a:xfrm>
            <a:off x="10327341" y="2783779"/>
            <a:ext cx="99111" cy="415124"/>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3" name="Arrow: Left 22">
            <a:extLst>
              <a:ext uri="{FF2B5EF4-FFF2-40B4-BE49-F238E27FC236}">
                <a16:creationId xmlns:a16="http://schemas.microsoft.com/office/drawing/2014/main" id="{0A03E3B3-AAEE-4487-B135-8448EBD33ED6}"/>
              </a:ext>
            </a:extLst>
          </p:cNvPr>
          <p:cNvSpPr/>
          <p:nvPr/>
        </p:nvSpPr>
        <p:spPr>
          <a:xfrm>
            <a:off x="7528857" y="3967480"/>
            <a:ext cx="1696074" cy="139252"/>
          </a:xfrm>
          <a:prstGeom prst="lef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4" name="Arrow: Down 23">
            <a:extLst>
              <a:ext uri="{FF2B5EF4-FFF2-40B4-BE49-F238E27FC236}">
                <a16:creationId xmlns:a16="http://schemas.microsoft.com/office/drawing/2014/main" id="{22741901-0DE5-4ADE-8665-EED9E194DA6E}"/>
              </a:ext>
            </a:extLst>
          </p:cNvPr>
          <p:cNvSpPr/>
          <p:nvPr/>
        </p:nvSpPr>
        <p:spPr>
          <a:xfrm>
            <a:off x="6373906" y="4867835"/>
            <a:ext cx="125506" cy="411161"/>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5" name="Arrow: Right 24">
            <a:extLst>
              <a:ext uri="{FF2B5EF4-FFF2-40B4-BE49-F238E27FC236}">
                <a16:creationId xmlns:a16="http://schemas.microsoft.com/office/drawing/2014/main" id="{3A063100-188F-4E76-9C88-4AC2CCDDF103}"/>
              </a:ext>
            </a:extLst>
          </p:cNvPr>
          <p:cNvSpPr/>
          <p:nvPr/>
        </p:nvSpPr>
        <p:spPr>
          <a:xfrm>
            <a:off x="7772400" y="6006353"/>
            <a:ext cx="1586753" cy="111950"/>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12082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609601" y="363071"/>
            <a:ext cx="10360152" cy="528917"/>
          </a:xfrm>
        </p:spPr>
        <p:txBody>
          <a:bodyPr/>
          <a:lstStyle/>
          <a:p>
            <a:r>
              <a:rPr lang="en-US" sz="3200" dirty="0"/>
              <a:t>Outcome-Based Roadmap</a:t>
            </a:r>
            <a:endParaRPr lang="en-US" dirty="0"/>
          </a:p>
        </p:txBody>
      </p:sp>
      <p:graphicFrame>
        <p:nvGraphicFramePr>
          <p:cNvPr id="4" name="Table 5">
            <a:extLst>
              <a:ext uri="{FF2B5EF4-FFF2-40B4-BE49-F238E27FC236}">
                <a16:creationId xmlns:a16="http://schemas.microsoft.com/office/drawing/2014/main" id="{D935913B-DEFF-4B04-A8FA-E44F598D46BF}"/>
              </a:ext>
            </a:extLst>
          </p:cNvPr>
          <p:cNvGraphicFramePr>
            <a:graphicFrameLocks noGrp="1"/>
          </p:cNvGraphicFramePr>
          <p:nvPr>
            <p:ph sz="quarter" idx="13"/>
            <p:extLst>
              <p:ext uri="{D42A27DB-BD31-4B8C-83A1-F6EECF244321}">
                <p14:modId xmlns:p14="http://schemas.microsoft.com/office/powerpoint/2010/main" val="2492625667"/>
              </p:ext>
            </p:extLst>
          </p:nvPr>
        </p:nvGraphicFramePr>
        <p:xfrm>
          <a:off x="609601" y="1044752"/>
          <a:ext cx="11116234" cy="5450177"/>
        </p:xfrm>
        <a:graphic>
          <a:graphicData uri="http://schemas.openxmlformats.org/drawingml/2006/table">
            <a:tbl>
              <a:tblPr firstRow="1" bandRow="1">
                <a:tableStyleId>{2D5ABB26-0587-4C30-8999-92F81FD0307C}</a:tableStyleId>
              </a:tblPr>
              <a:tblGrid>
                <a:gridCol w="2460773">
                  <a:extLst>
                    <a:ext uri="{9D8B030D-6E8A-4147-A177-3AD203B41FA5}">
                      <a16:colId xmlns:a16="http://schemas.microsoft.com/office/drawing/2014/main" val="148868522"/>
                    </a:ext>
                  </a:extLst>
                </a:gridCol>
                <a:gridCol w="3591398">
                  <a:extLst>
                    <a:ext uri="{9D8B030D-6E8A-4147-A177-3AD203B41FA5}">
                      <a16:colId xmlns:a16="http://schemas.microsoft.com/office/drawing/2014/main" val="4102992967"/>
                    </a:ext>
                  </a:extLst>
                </a:gridCol>
                <a:gridCol w="1146487">
                  <a:extLst>
                    <a:ext uri="{9D8B030D-6E8A-4147-A177-3AD203B41FA5}">
                      <a16:colId xmlns:a16="http://schemas.microsoft.com/office/drawing/2014/main" val="1692472599"/>
                    </a:ext>
                  </a:extLst>
                </a:gridCol>
                <a:gridCol w="3917576">
                  <a:extLst>
                    <a:ext uri="{9D8B030D-6E8A-4147-A177-3AD203B41FA5}">
                      <a16:colId xmlns:a16="http://schemas.microsoft.com/office/drawing/2014/main" val="4281496818"/>
                    </a:ext>
                  </a:extLst>
                </a:gridCol>
              </a:tblGrid>
              <a:tr h="420977">
                <a:tc>
                  <a:txBody>
                    <a:bodyPr/>
                    <a:lstStyle/>
                    <a:p>
                      <a:r>
                        <a:rPr lang="en-US" b="1" dirty="0">
                          <a:latin typeface="+mj-lt"/>
                        </a:rPr>
                        <a:t>Outcomes</a:t>
                      </a:r>
                      <a:endParaRPr lang="en-IN" b="1" dirty="0">
                        <a:latin typeface="+mj-lt"/>
                      </a:endParaRPr>
                    </a:p>
                  </a:txBody>
                  <a:tcPr>
                    <a:solidFill>
                      <a:srgbClr val="D7CFC6"/>
                    </a:solidFill>
                  </a:tcPr>
                </a:tc>
                <a:tc>
                  <a:txBody>
                    <a:bodyPr/>
                    <a:lstStyle/>
                    <a:p>
                      <a:r>
                        <a:rPr lang="en-US" b="1" dirty="0">
                          <a:latin typeface="+mj-lt"/>
                        </a:rPr>
                        <a:t>Features</a:t>
                      </a:r>
                      <a:endParaRPr lang="en-IN" b="1" dirty="0">
                        <a:latin typeface="+mj-lt"/>
                      </a:endParaRPr>
                    </a:p>
                  </a:txBody>
                  <a:tcPr>
                    <a:solidFill>
                      <a:srgbClr val="D7CFC6"/>
                    </a:solidFill>
                  </a:tcPr>
                </a:tc>
                <a:tc>
                  <a:txBody>
                    <a:bodyPr/>
                    <a:lstStyle/>
                    <a:p>
                      <a:r>
                        <a:rPr lang="en-US" b="1" dirty="0">
                          <a:latin typeface="+mj-lt"/>
                        </a:rPr>
                        <a:t>Priority</a:t>
                      </a:r>
                      <a:endParaRPr lang="en-IN" b="1" dirty="0">
                        <a:latin typeface="+mj-lt"/>
                      </a:endParaRPr>
                    </a:p>
                  </a:txBody>
                  <a:tcPr>
                    <a:solidFill>
                      <a:srgbClr val="D7CFC6"/>
                    </a:solidFill>
                  </a:tcPr>
                </a:tc>
                <a:tc>
                  <a:txBody>
                    <a:bodyPr/>
                    <a:lstStyle/>
                    <a:p>
                      <a:r>
                        <a:rPr lang="en-US" b="1" dirty="0">
                          <a:latin typeface="+mj-lt"/>
                        </a:rPr>
                        <a:t>Success metrics</a:t>
                      </a:r>
                      <a:endParaRPr lang="en-IN" b="1" dirty="0">
                        <a:latin typeface="+mj-lt"/>
                      </a:endParaRPr>
                    </a:p>
                  </a:txBody>
                  <a:tcPr>
                    <a:solidFill>
                      <a:srgbClr val="D7CFC6"/>
                    </a:solidFill>
                  </a:tcPr>
                </a:tc>
                <a:extLst>
                  <a:ext uri="{0D108BD9-81ED-4DB2-BD59-A6C34878D82A}">
                    <a16:rowId xmlns:a16="http://schemas.microsoft.com/office/drawing/2014/main" val="3577920074"/>
                  </a:ext>
                </a:extLst>
              </a:tr>
              <a:tr h="977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43E34"/>
                          </a:solidFill>
                          <a:effectLst/>
                        </a:rPr>
                        <a:t>Outcome 1: Increase Rider’s Sense of Safety by 50%</a:t>
                      </a:r>
                    </a:p>
                    <a:p>
                      <a:endParaRPr lang="en-IN" sz="1200" dirty="0"/>
                    </a:p>
                  </a:txBody>
                  <a:tcPr>
                    <a:solidFill>
                      <a:srgbClr val="D7CFC6"/>
                    </a:solidFill>
                  </a:tcPr>
                </a:tc>
                <a:tc>
                  <a:txBody>
                    <a:bodyPr/>
                    <a:lstStyle/>
                    <a:p>
                      <a:pPr marL="254000" indent="-254000">
                        <a:spcBef>
                          <a:spcPts val="0"/>
                        </a:spcBef>
                        <a:buFont typeface="Arial" panose="020B0604020202020204" pitchFamily="34" charset="0"/>
                        <a:buChar char="•"/>
                      </a:pPr>
                      <a:r>
                        <a:rPr lang="en-US" sz="1200" dirty="0">
                          <a:solidFill>
                            <a:srgbClr val="543E34"/>
                          </a:solidFill>
                          <a:effectLst/>
                        </a:rPr>
                        <a:t>SOS Emergency Button (Immediate dispatch + live location)</a:t>
                      </a:r>
                    </a:p>
                    <a:p>
                      <a:pPr marL="254000" indent="-254000">
                        <a:spcBef>
                          <a:spcPts val="0"/>
                        </a:spcBef>
                        <a:buFont typeface="Arial" panose="020B0604020202020204" pitchFamily="34" charset="0"/>
                        <a:buChar char="•"/>
                      </a:pPr>
                      <a:r>
                        <a:rPr lang="en-US" sz="1200" dirty="0">
                          <a:solidFill>
                            <a:srgbClr val="543E34"/>
                          </a:solidFill>
                          <a:effectLst/>
                        </a:rPr>
                        <a:t>Real-Time Ride Tracking (shared with trusted contacts)</a:t>
                      </a:r>
                    </a:p>
                    <a:p>
                      <a:pPr marL="254000" indent="-254000">
                        <a:spcBef>
                          <a:spcPts val="0"/>
                        </a:spcBef>
                        <a:buFont typeface="Arial" panose="020B0604020202020204" pitchFamily="34" charset="0"/>
                        <a:buChar char="•"/>
                      </a:pPr>
                      <a:r>
                        <a:rPr lang="en-US" sz="1200" dirty="0">
                          <a:solidFill>
                            <a:srgbClr val="543E34"/>
                          </a:solidFill>
                          <a:effectLst/>
                        </a:rPr>
                        <a:t>Verified Women Driver System</a:t>
                      </a:r>
                    </a:p>
                  </a:txBody>
                  <a:tcPr>
                    <a:solidFill>
                      <a:srgbClr val="D7CFC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43E34"/>
                          </a:solidFill>
                          <a:effectLst/>
                        </a:rPr>
                        <a:t>HIGH</a:t>
                      </a:r>
                    </a:p>
                  </a:txBody>
                  <a:tcPr>
                    <a:solidFill>
                      <a:srgbClr val="D7CFC6"/>
                    </a:solidFill>
                  </a:tcPr>
                </a:tc>
                <a:tc>
                  <a:txBody>
                    <a:bodyPr/>
                    <a:lstStyle/>
                    <a:p>
                      <a:pPr marL="171450" indent="-171450">
                        <a:spcBef>
                          <a:spcPts val="0"/>
                        </a:spcBef>
                        <a:buFont typeface="Wingdings" panose="05000000000000000000" pitchFamily="2" charset="2"/>
                        <a:buChar char="ü"/>
                      </a:pPr>
                      <a:r>
                        <a:rPr lang="en-US" sz="1200" dirty="0">
                          <a:solidFill>
                            <a:srgbClr val="543E34"/>
                          </a:solidFill>
                          <a:effectLst/>
                        </a:rPr>
                        <a:t>Safety perception score increases from baseline to 8.5/10</a:t>
                      </a:r>
                    </a:p>
                    <a:p>
                      <a:pPr marL="171450" indent="-171450">
                        <a:spcBef>
                          <a:spcPts val="0"/>
                        </a:spcBef>
                        <a:buFont typeface="Wingdings" panose="05000000000000000000" pitchFamily="2" charset="2"/>
                        <a:buChar char="ü"/>
                      </a:pPr>
                      <a:r>
                        <a:rPr lang="en-US" sz="1200" dirty="0">
                          <a:solidFill>
                            <a:srgbClr val="543E34"/>
                          </a:solidFill>
                          <a:effectLst/>
                        </a:rPr>
                        <a:t>% of rides with live tracking shared ≥ 60%</a:t>
                      </a:r>
                    </a:p>
                    <a:p>
                      <a:pPr marL="171450" indent="-171450">
                        <a:spcBef>
                          <a:spcPts val="0"/>
                        </a:spcBef>
                        <a:buFont typeface="Wingdings" panose="05000000000000000000" pitchFamily="2" charset="2"/>
                        <a:buChar char="ü"/>
                      </a:pPr>
                      <a:r>
                        <a:rPr lang="en-US" sz="1200" dirty="0">
                          <a:solidFill>
                            <a:srgbClr val="543E34"/>
                          </a:solidFill>
                          <a:effectLst/>
                        </a:rPr>
                        <a:t>Verified driver ratio = 100% women drivers</a:t>
                      </a:r>
                    </a:p>
                  </a:txBody>
                  <a:tcPr>
                    <a:solidFill>
                      <a:srgbClr val="D7CFC6"/>
                    </a:solidFill>
                  </a:tcPr>
                </a:tc>
                <a:extLst>
                  <a:ext uri="{0D108BD9-81ED-4DB2-BD59-A6C34878D82A}">
                    <a16:rowId xmlns:a16="http://schemas.microsoft.com/office/drawing/2014/main" val="2194820215"/>
                  </a:ext>
                </a:extLst>
              </a:tr>
              <a:tr h="1789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43E34"/>
                          </a:solidFill>
                          <a:effectLst/>
                        </a:rPr>
                        <a:t>Outcome 2: Build Trust in Drivers &amp; Platform</a:t>
                      </a:r>
                    </a:p>
                  </a:txBody>
                  <a:tcPr>
                    <a:solidFill>
                      <a:srgbClr val="D7CFC6"/>
                    </a:solidFill>
                  </a:tcPr>
                </a:tc>
                <a:tc>
                  <a:txBody>
                    <a:bodyPr/>
                    <a:lstStyle/>
                    <a:p>
                      <a:pPr marL="254000" indent="-254000">
                        <a:spcBef>
                          <a:spcPts val="0"/>
                        </a:spcBef>
                        <a:buFont typeface="Arial" panose="020B0604020202020204" pitchFamily="34" charset="0"/>
                        <a:buChar char="•"/>
                      </a:pPr>
                      <a:r>
                        <a:rPr lang="en-US" sz="1200" dirty="0">
                          <a:solidFill>
                            <a:srgbClr val="543E34"/>
                          </a:solidFill>
                          <a:effectLst/>
                        </a:rPr>
                        <a:t>Driver Safety Badge + Background Check Status</a:t>
                      </a:r>
                    </a:p>
                    <a:p>
                      <a:pPr marL="254000" indent="-254000">
                        <a:spcBef>
                          <a:spcPts val="0"/>
                        </a:spcBef>
                        <a:buFont typeface="Arial" panose="020B0604020202020204" pitchFamily="34" charset="0"/>
                        <a:buChar char="•"/>
                      </a:pPr>
                      <a:r>
                        <a:rPr lang="en-US" sz="1200" dirty="0">
                          <a:solidFill>
                            <a:srgbClr val="543E34"/>
                          </a:solidFill>
                          <a:effectLst/>
                        </a:rPr>
                        <a:t>Driver Training &amp; Safety Orientation</a:t>
                      </a:r>
                    </a:p>
                    <a:p>
                      <a:pPr marL="254000" indent="-254000">
                        <a:spcBef>
                          <a:spcPts val="0"/>
                        </a:spcBef>
                        <a:buFont typeface="Arial" panose="020B0604020202020204" pitchFamily="34" charset="0"/>
                        <a:buChar char="•"/>
                      </a:pPr>
                      <a:r>
                        <a:rPr lang="en-US" sz="1200" dirty="0">
                          <a:solidFill>
                            <a:srgbClr val="543E34"/>
                          </a:solidFill>
                          <a:effectLst/>
                        </a:rPr>
                        <a:t>Pre-Ride Identity Confirmation (Driver + Vehicle)</a:t>
                      </a:r>
                    </a:p>
                  </a:txBody>
                  <a:tcPr>
                    <a:solidFill>
                      <a:srgbClr val="D7CFC6"/>
                    </a:solidFill>
                  </a:tcPr>
                </a:tc>
                <a:tc>
                  <a:txBody>
                    <a:bodyPr/>
                    <a:lstStyle/>
                    <a:p>
                      <a:r>
                        <a:rPr lang="en-US" sz="1200" dirty="0">
                          <a:solidFill>
                            <a:srgbClr val="543E34"/>
                          </a:solidFill>
                          <a:effectLst/>
                        </a:rPr>
                        <a:t>HIGH</a:t>
                      </a:r>
                      <a:endParaRPr lang="en-IN" sz="1200" dirty="0"/>
                    </a:p>
                  </a:txBody>
                  <a:tcPr>
                    <a:solidFill>
                      <a:srgbClr val="D7CFC6"/>
                    </a:solidFill>
                  </a:tcPr>
                </a:tc>
                <a:tc>
                  <a:txBody>
                    <a:bodyPr/>
                    <a:lstStyle/>
                    <a:p>
                      <a:pPr marL="171450" indent="-171450">
                        <a:spcBef>
                          <a:spcPts val="0"/>
                        </a:spcBef>
                        <a:buFont typeface="Wingdings" panose="05000000000000000000" pitchFamily="2" charset="2"/>
                        <a:buChar char="ü"/>
                      </a:pPr>
                      <a:r>
                        <a:rPr lang="en-US" sz="1200" dirty="0">
                          <a:solidFill>
                            <a:srgbClr val="543E34"/>
                          </a:solidFill>
                          <a:effectLst/>
                        </a:rPr>
                        <a:t>Trust score improves to 8+/10</a:t>
                      </a:r>
                    </a:p>
                    <a:p>
                      <a:pPr marL="171450" indent="-171450">
                        <a:spcBef>
                          <a:spcPts val="0"/>
                        </a:spcBef>
                        <a:buFont typeface="Wingdings" panose="05000000000000000000" pitchFamily="2" charset="2"/>
                        <a:buChar char="ü"/>
                      </a:pPr>
                      <a:r>
                        <a:rPr lang="en-US" sz="1200" dirty="0">
                          <a:solidFill>
                            <a:srgbClr val="543E34"/>
                          </a:solidFill>
                          <a:effectLst/>
                        </a:rPr>
                        <a:t>Incidents per 10,000 rides &lt; 1</a:t>
                      </a:r>
                    </a:p>
                    <a:p>
                      <a:pPr marL="171450" indent="-171450">
                        <a:spcBef>
                          <a:spcPts val="0"/>
                        </a:spcBef>
                        <a:buFont typeface="Wingdings" panose="05000000000000000000" pitchFamily="2" charset="2"/>
                        <a:buChar char="ü"/>
                      </a:pPr>
                      <a:r>
                        <a:rPr lang="en-US" sz="1200" dirty="0">
                          <a:solidFill>
                            <a:srgbClr val="543E34"/>
                          </a:solidFill>
                          <a:effectLst/>
                        </a:rPr>
                        <a:t>Driver onboarding rejection rate &gt; 30% (shows strict quality)</a:t>
                      </a:r>
                    </a:p>
                  </a:txBody>
                  <a:tcPr>
                    <a:solidFill>
                      <a:srgbClr val="D7CFC6"/>
                    </a:solidFill>
                  </a:tcPr>
                </a:tc>
                <a:extLst>
                  <a:ext uri="{0D108BD9-81ED-4DB2-BD59-A6C34878D82A}">
                    <a16:rowId xmlns:a16="http://schemas.microsoft.com/office/drawing/2014/main" val="3031277844"/>
                  </a:ext>
                </a:extLst>
              </a:tr>
              <a:tr h="4209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dirty="0">
                          <a:solidFill>
                            <a:srgbClr val="543E34"/>
                          </a:solidFill>
                          <a:effectLst/>
                        </a:rPr>
                        <a:t>Outcome 3: Reduce Ride Cancellations by 30%</a:t>
                      </a:r>
                    </a:p>
                  </a:txBody>
                  <a:tcPr>
                    <a:solidFill>
                      <a:srgbClr val="D7CFC6"/>
                    </a:solidFill>
                  </a:tcPr>
                </a:tc>
                <a:tc>
                  <a:txBody>
                    <a:bodyPr/>
                    <a:lstStyle/>
                    <a:p>
                      <a:pPr marL="285750" indent="-285750">
                        <a:spcBef>
                          <a:spcPts val="0"/>
                        </a:spcBef>
                        <a:buFont typeface="Arial" panose="020B0604020202020204" pitchFamily="34" charset="0"/>
                        <a:buChar char="•"/>
                      </a:pPr>
                      <a:r>
                        <a:rPr lang="en-IN" sz="1200" dirty="0">
                          <a:solidFill>
                            <a:srgbClr val="543E34"/>
                          </a:solidFill>
                          <a:effectLst/>
                        </a:rPr>
                        <a:t>Smart Driver-Rider Matching Algorithm</a:t>
                      </a:r>
                    </a:p>
                    <a:p>
                      <a:pPr marL="285750" indent="-285750">
                        <a:spcBef>
                          <a:spcPts val="0"/>
                        </a:spcBef>
                        <a:buFont typeface="Arial" panose="020B0604020202020204" pitchFamily="34" charset="0"/>
                        <a:buChar char="•"/>
                      </a:pPr>
                      <a:r>
                        <a:rPr lang="en-IN" sz="1200" dirty="0">
                          <a:solidFill>
                            <a:srgbClr val="543E34"/>
                          </a:solidFill>
                          <a:effectLst/>
                        </a:rPr>
                        <a:t>Cancellation Shield (protect rider time)</a:t>
                      </a:r>
                    </a:p>
                    <a:p>
                      <a:pPr marL="285750" indent="-285750">
                        <a:spcBef>
                          <a:spcPts val="0"/>
                        </a:spcBef>
                        <a:buFont typeface="Arial" panose="020B0604020202020204" pitchFamily="34" charset="0"/>
                        <a:buChar char="•"/>
                      </a:pPr>
                      <a:r>
                        <a:rPr lang="en-IN" sz="1200" dirty="0">
                          <a:solidFill>
                            <a:srgbClr val="543E34"/>
                          </a:solidFill>
                          <a:effectLst/>
                        </a:rPr>
                        <a:t>Accurate ETA Prediction Engine</a:t>
                      </a:r>
                    </a:p>
                  </a:txBody>
                  <a:tcPr>
                    <a:solidFill>
                      <a:srgbClr val="D7CFC6"/>
                    </a:solidFill>
                  </a:tcPr>
                </a:tc>
                <a:tc>
                  <a:txBody>
                    <a:bodyPr/>
                    <a:lstStyle/>
                    <a:p>
                      <a:r>
                        <a:rPr lang="en-IN" sz="1200" dirty="0">
                          <a:solidFill>
                            <a:srgbClr val="543E34"/>
                          </a:solidFill>
                          <a:effectLst/>
                        </a:rPr>
                        <a:t>HIGH</a:t>
                      </a:r>
                      <a:endParaRPr lang="en-IN" sz="1200" dirty="0"/>
                    </a:p>
                  </a:txBody>
                  <a:tcPr>
                    <a:solidFill>
                      <a:srgbClr val="D7CFC6"/>
                    </a:solidFill>
                  </a:tcPr>
                </a:tc>
                <a:tc>
                  <a:txBody>
                    <a:bodyPr/>
                    <a:lstStyle/>
                    <a:p>
                      <a:pPr marL="285750" indent="-285750">
                        <a:spcBef>
                          <a:spcPts val="0"/>
                        </a:spcBef>
                        <a:buFont typeface="Wingdings" panose="05000000000000000000" pitchFamily="2" charset="2"/>
                        <a:buChar char="ü"/>
                      </a:pPr>
                      <a:r>
                        <a:rPr lang="en-IN" sz="1200" dirty="0">
                          <a:solidFill>
                            <a:srgbClr val="543E34"/>
                          </a:solidFill>
                          <a:effectLst/>
                        </a:rPr>
                        <a:t>Ride cancellation rate drops by 30%</a:t>
                      </a:r>
                    </a:p>
                    <a:p>
                      <a:pPr marL="285750" indent="-285750">
                        <a:spcBef>
                          <a:spcPts val="0"/>
                        </a:spcBef>
                        <a:buFont typeface="Wingdings" panose="05000000000000000000" pitchFamily="2" charset="2"/>
                        <a:buChar char="ü"/>
                      </a:pPr>
                      <a:r>
                        <a:rPr lang="en-IN" sz="1200" dirty="0">
                          <a:solidFill>
                            <a:srgbClr val="543E34"/>
                          </a:solidFill>
                          <a:effectLst/>
                        </a:rPr>
                        <a:t>Average wait time &lt; 6 minutes</a:t>
                      </a:r>
                    </a:p>
                    <a:p>
                      <a:pPr marL="285750" indent="-285750">
                        <a:spcBef>
                          <a:spcPts val="0"/>
                        </a:spcBef>
                        <a:buFont typeface="Wingdings" panose="05000000000000000000" pitchFamily="2" charset="2"/>
                        <a:buChar char="ü"/>
                      </a:pPr>
                      <a:r>
                        <a:rPr lang="en-IN" sz="1200" dirty="0">
                          <a:solidFill>
                            <a:srgbClr val="543E34"/>
                          </a:solidFill>
                          <a:effectLst/>
                        </a:rPr>
                        <a:t>ETA accuracy ≥ 85%</a:t>
                      </a:r>
                    </a:p>
                  </a:txBody>
                  <a:tcPr>
                    <a:solidFill>
                      <a:srgbClr val="D7CFC6"/>
                    </a:solidFill>
                  </a:tcPr>
                </a:tc>
                <a:extLst>
                  <a:ext uri="{0D108BD9-81ED-4DB2-BD59-A6C34878D82A}">
                    <a16:rowId xmlns:a16="http://schemas.microsoft.com/office/drawing/2014/main" val="691419440"/>
                  </a:ext>
                </a:extLst>
              </a:tr>
              <a:tr h="4209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dirty="0">
                          <a:solidFill>
                            <a:srgbClr val="543E34"/>
                          </a:solidFill>
                          <a:effectLst/>
                        </a:rPr>
                        <a:t>Outcome 4: Improve Comfort &amp; Cleanliness Experience</a:t>
                      </a:r>
                    </a:p>
                  </a:txBody>
                  <a:tcPr>
                    <a:solidFill>
                      <a:srgbClr val="D7CFC6"/>
                    </a:solidFill>
                  </a:tcPr>
                </a:tc>
                <a:tc>
                  <a:txBody>
                    <a:bodyPr/>
                    <a:lstStyle/>
                    <a:p>
                      <a:pPr marL="285750" indent="-285750">
                        <a:spcBef>
                          <a:spcPts val="0"/>
                        </a:spcBef>
                        <a:buFont typeface="Arial" panose="020B0604020202020204" pitchFamily="34" charset="0"/>
                        <a:buChar char="•"/>
                      </a:pPr>
                      <a:r>
                        <a:rPr lang="en-IN" sz="1200" dirty="0">
                          <a:solidFill>
                            <a:srgbClr val="543E34"/>
                          </a:solidFill>
                          <a:effectLst/>
                        </a:rPr>
                        <a:t>Comfort Rating System (Cleanliness, behaviour)</a:t>
                      </a:r>
                    </a:p>
                    <a:p>
                      <a:pPr marL="285750" indent="-285750">
                        <a:spcBef>
                          <a:spcPts val="0"/>
                        </a:spcBef>
                        <a:buFont typeface="Arial" panose="020B0604020202020204" pitchFamily="34" charset="0"/>
                        <a:buChar char="•"/>
                      </a:pPr>
                      <a:r>
                        <a:rPr lang="en-IN" sz="1200" dirty="0">
                          <a:solidFill>
                            <a:srgbClr val="543E34"/>
                          </a:solidFill>
                          <a:effectLst/>
                        </a:rPr>
                        <a:t>Driver Incentives for High Comfort Scores</a:t>
                      </a:r>
                    </a:p>
                    <a:p>
                      <a:pPr marL="285750" indent="-285750">
                        <a:spcBef>
                          <a:spcPts val="0"/>
                        </a:spcBef>
                        <a:buFont typeface="Arial" panose="020B0604020202020204" pitchFamily="34" charset="0"/>
                        <a:buChar char="•"/>
                      </a:pPr>
                      <a:r>
                        <a:rPr lang="en-IN" sz="1200" dirty="0">
                          <a:solidFill>
                            <a:srgbClr val="543E34"/>
                          </a:solidFill>
                          <a:effectLst/>
                        </a:rPr>
                        <a:t>Vehicle Condition Checklist (weekly)</a:t>
                      </a:r>
                    </a:p>
                  </a:txBody>
                  <a:tcPr>
                    <a:solidFill>
                      <a:srgbClr val="D7CFC6"/>
                    </a:solidFill>
                  </a:tcPr>
                </a:tc>
                <a:tc>
                  <a:txBody>
                    <a:bodyPr/>
                    <a:lstStyle/>
                    <a:p>
                      <a:r>
                        <a:rPr lang="en-IN" sz="1200" dirty="0">
                          <a:solidFill>
                            <a:srgbClr val="543E34"/>
                          </a:solidFill>
                          <a:effectLst/>
                        </a:rPr>
                        <a:t>MEDIUM</a:t>
                      </a:r>
                      <a:endParaRPr lang="en-IN" sz="1200" dirty="0"/>
                    </a:p>
                  </a:txBody>
                  <a:tcPr>
                    <a:solidFill>
                      <a:srgbClr val="D7CFC6"/>
                    </a:solidFill>
                  </a:tcPr>
                </a:tc>
                <a:tc>
                  <a:txBody>
                    <a:bodyPr/>
                    <a:lstStyle/>
                    <a:p>
                      <a:pPr marL="285750" indent="-285750">
                        <a:spcBef>
                          <a:spcPts val="0"/>
                        </a:spcBef>
                        <a:buFont typeface="Wingdings" panose="05000000000000000000" pitchFamily="2" charset="2"/>
                        <a:buChar char="ü"/>
                      </a:pPr>
                      <a:r>
                        <a:rPr lang="en-IN" sz="1200" dirty="0">
                          <a:solidFill>
                            <a:srgbClr val="543E34"/>
                          </a:solidFill>
                          <a:effectLst/>
                        </a:rPr>
                        <a:t>Average comfort rating ≥ 4.7/5</a:t>
                      </a:r>
                    </a:p>
                    <a:p>
                      <a:pPr marL="285750" indent="-285750">
                        <a:spcBef>
                          <a:spcPts val="0"/>
                        </a:spcBef>
                        <a:buFont typeface="Wingdings" panose="05000000000000000000" pitchFamily="2" charset="2"/>
                        <a:buChar char="ü"/>
                      </a:pPr>
                      <a:r>
                        <a:rPr lang="en-IN" sz="1200" dirty="0">
                          <a:solidFill>
                            <a:srgbClr val="543E34"/>
                          </a:solidFill>
                          <a:effectLst/>
                        </a:rPr>
                        <a:t>Vehicle cleanliness complaints reduced by 50%</a:t>
                      </a:r>
                    </a:p>
                    <a:p>
                      <a:pPr marL="285750" indent="-285750">
                        <a:spcBef>
                          <a:spcPts val="0"/>
                        </a:spcBef>
                        <a:buFont typeface="Wingdings" panose="05000000000000000000" pitchFamily="2" charset="2"/>
                        <a:buChar char="ü"/>
                      </a:pPr>
                      <a:r>
                        <a:rPr lang="en-IN" sz="1200" dirty="0">
                          <a:solidFill>
                            <a:srgbClr val="543E34"/>
                          </a:solidFill>
                          <a:effectLst/>
                        </a:rPr>
                        <a:t>Drivers earning bonuses ≥ 20% (behaviour improvement)</a:t>
                      </a:r>
                    </a:p>
                  </a:txBody>
                  <a:tcPr>
                    <a:solidFill>
                      <a:srgbClr val="D7CFC6"/>
                    </a:solidFill>
                  </a:tcPr>
                </a:tc>
                <a:extLst>
                  <a:ext uri="{0D108BD9-81ED-4DB2-BD59-A6C34878D82A}">
                    <a16:rowId xmlns:a16="http://schemas.microsoft.com/office/drawing/2014/main" val="158963632"/>
                  </a:ext>
                </a:extLst>
              </a:tr>
              <a:tr h="4209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43E34"/>
                          </a:solidFill>
                          <a:effectLst/>
                        </a:rPr>
                        <a:t>Outcome 5: Increase Driver Retention to 70%</a:t>
                      </a:r>
                    </a:p>
                  </a:txBody>
                  <a:tcPr>
                    <a:solidFill>
                      <a:srgbClr val="D7CFC6"/>
                    </a:solidFill>
                  </a:tcPr>
                </a:tc>
                <a:tc>
                  <a:txBody>
                    <a:bodyPr/>
                    <a:lstStyle/>
                    <a:p>
                      <a:pPr marL="285750" indent="-285750">
                        <a:spcBef>
                          <a:spcPts val="0"/>
                        </a:spcBef>
                        <a:buFont typeface="Arial" panose="020B0604020202020204" pitchFamily="34" charset="0"/>
                        <a:buChar char="•"/>
                      </a:pPr>
                      <a:r>
                        <a:rPr lang="en-US" sz="1200" dirty="0">
                          <a:solidFill>
                            <a:srgbClr val="543E34"/>
                          </a:solidFill>
                          <a:effectLst/>
                        </a:rPr>
                        <a:t>Driver Earnings Dashboard 2.0</a:t>
                      </a:r>
                    </a:p>
                    <a:p>
                      <a:pPr marL="285750" indent="-285750">
                        <a:spcBef>
                          <a:spcPts val="0"/>
                        </a:spcBef>
                        <a:buFont typeface="Arial" panose="020B0604020202020204" pitchFamily="34" charset="0"/>
                        <a:buChar char="•"/>
                      </a:pPr>
                      <a:r>
                        <a:rPr lang="en-US" sz="1200" dirty="0">
                          <a:solidFill>
                            <a:srgbClr val="543E34"/>
                          </a:solidFill>
                          <a:effectLst/>
                        </a:rPr>
                        <a:t>Weekly Goal Rewards</a:t>
                      </a:r>
                    </a:p>
                    <a:p>
                      <a:pPr marL="285750" indent="-285750">
                        <a:spcBef>
                          <a:spcPts val="0"/>
                        </a:spcBef>
                        <a:buFont typeface="Arial" panose="020B0604020202020204" pitchFamily="34" charset="0"/>
                        <a:buChar char="•"/>
                      </a:pPr>
                      <a:r>
                        <a:rPr lang="en-US" sz="1200" dirty="0">
                          <a:solidFill>
                            <a:srgbClr val="543E34"/>
                          </a:solidFill>
                          <a:effectLst/>
                        </a:rPr>
                        <a:t>Women Driver Skill Workshops (Driving + Safety)</a:t>
                      </a:r>
                    </a:p>
                  </a:txBody>
                  <a:tcPr>
                    <a:solidFill>
                      <a:srgbClr val="D7CFC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43E34"/>
                          </a:solidFill>
                          <a:effectLst/>
                        </a:rPr>
                        <a:t>MEDIUM</a:t>
                      </a:r>
                    </a:p>
                  </a:txBody>
                  <a:tcPr>
                    <a:solidFill>
                      <a:srgbClr val="D7CFC6"/>
                    </a:solidFill>
                  </a:tcPr>
                </a:tc>
                <a:tc>
                  <a:txBody>
                    <a:bodyPr/>
                    <a:lstStyle/>
                    <a:p>
                      <a:pPr marL="285750" indent="-285750">
                        <a:spcBef>
                          <a:spcPts val="0"/>
                        </a:spcBef>
                        <a:buFont typeface="Wingdings" panose="05000000000000000000" pitchFamily="2" charset="2"/>
                        <a:buChar char="ü"/>
                      </a:pPr>
                      <a:r>
                        <a:rPr lang="en-US" sz="1200" dirty="0">
                          <a:solidFill>
                            <a:srgbClr val="543E34"/>
                          </a:solidFill>
                          <a:effectLst/>
                        </a:rPr>
                        <a:t>Driver retention increases to 70%</a:t>
                      </a:r>
                    </a:p>
                    <a:p>
                      <a:pPr marL="285750" indent="-285750">
                        <a:spcBef>
                          <a:spcPts val="0"/>
                        </a:spcBef>
                        <a:buFont typeface="Wingdings" panose="05000000000000000000" pitchFamily="2" charset="2"/>
                        <a:buChar char="ü"/>
                      </a:pPr>
                      <a:r>
                        <a:rPr lang="en-US" sz="1200" dirty="0">
                          <a:solidFill>
                            <a:srgbClr val="543E34"/>
                          </a:solidFill>
                          <a:effectLst/>
                        </a:rPr>
                        <a:t>Avg driver earnings/hour increases by 20%</a:t>
                      </a:r>
                    </a:p>
                    <a:p>
                      <a:pPr marL="285750" indent="-285750">
                        <a:spcBef>
                          <a:spcPts val="0"/>
                        </a:spcBef>
                        <a:buFont typeface="Wingdings" panose="05000000000000000000" pitchFamily="2" charset="2"/>
                        <a:buChar char="ü"/>
                      </a:pPr>
                      <a:r>
                        <a:rPr lang="en-US" sz="1200" dirty="0">
                          <a:solidFill>
                            <a:srgbClr val="543E34"/>
                          </a:solidFill>
                          <a:effectLst/>
                        </a:rPr>
                        <a:t>Training completion rate ≥ 85%</a:t>
                      </a:r>
                    </a:p>
                  </a:txBody>
                  <a:tcPr>
                    <a:solidFill>
                      <a:srgbClr val="D7CFC6"/>
                    </a:solidFill>
                  </a:tcPr>
                </a:tc>
                <a:extLst>
                  <a:ext uri="{0D108BD9-81ED-4DB2-BD59-A6C34878D82A}">
                    <a16:rowId xmlns:a16="http://schemas.microsoft.com/office/drawing/2014/main" val="3869851432"/>
                  </a:ext>
                </a:extLst>
              </a:tr>
              <a:tr h="4209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43E34"/>
                          </a:solidFill>
                          <a:effectLst/>
                        </a:rPr>
                        <a:t>Outcome 6: Enable More Women to Join as Drivers</a:t>
                      </a:r>
                    </a:p>
                  </a:txBody>
                  <a:tcPr>
                    <a:solidFill>
                      <a:srgbClr val="D7CFC6"/>
                    </a:solidFill>
                  </a:tcPr>
                </a:tc>
                <a:tc>
                  <a:txBody>
                    <a:bodyPr/>
                    <a:lstStyle/>
                    <a:p>
                      <a:pPr marL="285750" indent="-285750">
                        <a:spcBef>
                          <a:spcPts val="0"/>
                        </a:spcBef>
                        <a:buFont typeface="Arial" panose="020B0604020202020204" pitchFamily="34" charset="0"/>
                        <a:buChar char="•"/>
                      </a:pPr>
                      <a:r>
                        <a:rPr lang="en-US" sz="1200" dirty="0">
                          <a:solidFill>
                            <a:srgbClr val="543E34"/>
                          </a:solidFill>
                          <a:effectLst/>
                        </a:rPr>
                        <a:t>Car Leasing / Rent-to-Own Program</a:t>
                      </a:r>
                    </a:p>
                    <a:p>
                      <a:pPr marL="285750" indent="-285750">
                        <a:spcBef>
                          <a:spcPts val="0"/>
                        </a:spcBef>
                        <a:buFont typeface="Arial" panose="020B0604020202020204" pitchFamily="34" charset="0"/>
                        <a:buChar char="•"/>
                      </a:pPr>
                      <a:r>
                        <a:rPr lang="en-US" sz="1200" dirty="0">
                          <a:solidFill>
                            <a:srgbClr val="543E34"/>
                          </a:solidFill>
                          <a:effectLst/>
                        </a:rPr>
                        <a:t>Zero-interest Microloan Partnerships</a:t>
                      </a:r>
                    </a:p>
                    <a:p>
                      <a:pPr marL="285750" indent="-285750">
                        <a:spcBef>
                          <a:spcPts val="0"/>
                        </a:spcBef>
                        <a:buFont typeface="Arial" panose="020B0604020202020204" pitchFamily="34" charset="0"/>
                        <a:buChar char="•"/>
                      </a:pPr>
                      <a:r>
                        <a:rPr lang="en-US" sz="1200" dirty="0">
                          <a:solidFill>
                            <a:srgbClr val="543E34"/>
                          </a:solidFill>
                          <a:effectLst/>
                        </a:rPr>
                        <a:t>Community Support Groups</a:t>
                      </a:r>
                    </a:p>
                  </a:txBody>
                  <a:tcPr>
                    <a:solidFill>
                      <a:srgbClr val="D7CFC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43E34"/>
                          </a:solidFill>
                          <a:effectLst/>
                        </a:rPr>
                        <a:t>LOW–MEDIUM</a:t>
                      </a:r>
                    </a:p>
                  </a:txBody>
                  <a:tcPr>
                    <a:solidFill>
                      <a:srgbClr val="D7CFC6"/>
                    </a:solidFill>
                  </a:tcPr>
                </a:tc>
                <a:tc>
                  <a:txBody>
                    <a:bodyPr/>
                    <a:lstStyle/>
                    <a:p>
                      <a:pPr marL="285750" indent="-285750">
                        <a:spcBef>
                          <a:spcPts val="0"/>
                        </a:spcBef>
                        <a:buFont typeface="Wingdings" panose="05000000000000000000" pitchFamily="2" charset="2"/>
                        <a:buChar char="ü"/>
                      </a:pPr>
                      <a:r>
                        <a:rPr lang="en-US" sz="1200" dirty="0">
                          <a:solidFill>
                            <a:srgbClr val="543E34"/>
                          </a:solidFill>
                          <a:effectLst/>
                        </a:rPr>
                        <a:t>New driver acquisition grows by 40%</a:t>
                      </a:r>
                    </a:p>
                    <a:p>
                      <a:pPr marL="285750" indent="-285750">
                        <a:spcBef>
                          <a:spcPts val="0"/>
                        </a:spcBef>
                        <a:buFont typeface="Wingdings" panose="05000000000000000000" pitchFamily="2" charset="2"/>
                        <a:buChar char="ü"/>
                      </a:pPr>
                      <a:r>
                        <a:rPr lang="en-US" sz="1200" dirty="0">
                          <a:solidFill>
                            <a:srgbClr val="543E34"/>
                          </a:solidFill>
                          <a:effectLst/>
                        </a:rPr>
                        <a:t>% of drivers without personal vehicle ≥ 30% onboarded</a:t>
                      </a:r>
                    </a:p>
                    <a:p>
                      <a:pPr marL="285750" indent="-285750">
                        <a:spcBef>
                          <a:spcPts val="0"/>
                        </a:spcBef>
                        <a:buFont typeface="Wingdings" panose="05000000000000000000" pitchFamily="2" charset="2"/>
                        <a:buChar char="ü"/>
                      </a:pPr>
                      <a:r>
                        <a:rPr lang="en-US" sz="1200" dirty="0">
                          <a:solidFill>
                            <a:srgbClr val="543E34"/>
                          </a:solidFill>
                          <a:effectLst/>
                        </a:rPr>
                        <a:t>Loan repayment rate ≥ 90%</a:t>
                      </a:r>
                    </a:p>
                  </a:txBody>
                  <a:tcPr>
                    <a:solidFill>
                      <a:srgbClr val="D7CFC6"/>
                    </a:solidFill>
                  </a:tcPr>
                </a:tc>
                <a:extLst>
                  <a:ext uri="{0D108BD9-81ED-4DB2-BD59-A6C34878D82A}">
                    <a16:rowId xmlns:a16="http://schemas.microsoft.com/office/drawing/2014/main" val="1906423895"/>
                  </a:ext>
                </a:extLst>
              </a:tr>
              <a:tr h="4209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dirty="0">
                          <a:solidFill>
                            <a:srgbClr val="543E34"/>
                          </a:solidFill>
                          <a:effectLst/>
                        </a:rPr>
                        <a:t>Outcome 7: Optimize Payments &amp; Reduce Operational Leakage</a:t>
                      </a:r>
                    </a:p>
                  </a:txBody>
                  <a:tcPr>
                    <a:solidFill>
                      <a:srgbClr val="D7CFC6"/>
                    </a:solidFill>
                  </a:tcPr>
                </a:tc>
                <a:tc>
                  <a:txBody>
                    <a:bodyPr/>
                    <a:lstStyle/>
                    <a:p>
                      <a:pPr marL="285750" indent="-285750">
                        <a:spcBef>
                          <a:spcPts val="0"/>
                        </a:spcBef>
                        <a:buFont typeface="Arial" panose="020B0604020202020204" pitchFamily="34" charset="0"/>
                        <a:buChar char="•"/>
                      </a:pPr>
                      <a:r>
                        <a:rPr lang="en-IN" sz="1200" dirty="0">
                          <a:solidFill>
                            <a:srgbClr val="543E34"/>
                          </a:solidFill>
                          <a:effectLst/>
                        </a:rPr>
                        <a:t>UPI Payment Integration (fast, secure)</a:t>
                      </a:r>
                    </a:p>
                    <a:p>
                      <a:pPr marL="285750" indent="-285750">
                        <a:spcBef>
                          <a:spcPts val="0"/>
                        </a:spcBef>
                        <a:buFont typeface="Arial" panose="020B0604020202020204" pitchFamily="34" charset="0"/>
                        <a:buChar char="•"/>
                      </a:pPr>
                      <a:r>
                        <a:rPr lang="en-IN" sz="1200" dirty="0">
                          <a:solidFill>
                            <a:srgbClr val="543E34"/>
                          </a:solidFill>
                          <a:effectLst/>
                        </a:rPr>
                        <a:t>Dynamic Pricing Engine</a:t>
                      </a:r>
                    </a:p>
                  </a:txBody>
                  <a:tcPr>
                    <a:solidFill>
                      <a:srgbClr val="D7CFC6"/>
                    </a:solidFill>
                  </a:tcPr>
                </a:tc>
                <a:tc>
                  <a:txBody>
                    <a:bodyPr/>
                    <a:lstStyle/>
                    <a:p>
                      <a:r>
                        <a:rPr lang="en-IN" sz="1200" dirty="0">
                          <a:solidFill>
                            <a:srgbClr val="543E34"/>
                          </a:solidFill>
                          <a:effectLst/>
                        </a:rPr>
                        <a:t>MEDIUM</a:t>
                      </a:r>
                      <a:endParaRPr lang="en-IN" sz="1200" dirty="0"/>
                    </a:p>
                  </a:txBody>
                  <a:tcPr>
                    <a:solidFill>
                      <a:srgbClr val="D7CFC6"/>
                    </a:solidFill>
                  </a:tcPr>
                </a:tc>
                <a:tc>
                  <a:txBody>
                    <a:bodyPr/>
                    <a:lstStyle/>
                    <a:p>
                      <a:pPr marL="285750" indent="-285750">
                        <a:spcBef>
                          <a:spcPts val="0"/>
                        </a:spcBef>
                        <a:buFont typeface="Wingdings" panose="05000000000000000000" pitchFamily="2" charset="2"/>
                        <a:buChar char="ü"/>
                      </a:pPr>
                      <a:r>
                        <a:rPr lang="en-IN" sz="1200" dirty="0">
                          <a:solidFill>
                            <a:srgbClr val="543E34"/>
                          </a:solidFill>
                          <a:effectLst/>
                        </a:rPr>
                        <a:t>Payment failure rate &lt; 1%</a:t>
                      </a:r>
                    </a:p>
                    <a:p>
                      <a:pPr marL="285750" indent="-285750">
                        <a:spcBef>
                          <a:spcPts val="0"/>
                        </a:spcBef>
                        <a:buFont typeface="Wingdings" panose="05000000000000000000" pitchFamily="2" charset="2"/>
                        <a:buChar char="ü"/>
                      </a:pPr>
                      <a:r>
                        <a:rPr lang="en-IN" sz="1200" dirty="0">
                          <a:solidFill>
                            <a:srgbClr val="543E34"/>
                          </a:solidFill>
                          <a:effectLst/>
                        </a:rPr>
                        <a:t>Successful transaction rate &gt; 98%</a:t>
                      </a:r>
                    </a:p>
                    <a:p>
                      <a:pPr marL="285750" indent="-285750">
                        <a:spcBef>
                          <a:spcPts val="0"/>
                        </a:spcBef>
                        <a:buFont typeface="Wingdings" panose="05000000000000000000" pitchFamily="2" charset="2"/>
                        <a:buChar char="ü"/>
                      </a:pPr>
                      <a:r>
                        <a:rPr lang="en-IN" sz="1200" dirty="0">
                          <a:solidFill>
                            <a:srgbClr val="543E34"/>
                          </a:solidFill>
                          <a:effectLst/>
                        </a:rPr>
                        <a:t>Revenue leakage reduced by 25%</a:t>
                      </a:r>
                    </a:p>
                  </a:txBody>
                  <a:tcPr>
                    <a:solidFill>
                      <a:srgbClr val="D7CFC6"/>
                    </a:solidFill>
                  </a:tcPr>
                </a:tc>
                <a:extLst>
                  <a:ext uri="{0D108BD9-81ED-4DB2-BD59-A6C34878D82A}">
                    <a16:rowId xmlns:a16="http://schemas.microsoft.com/office/drawing/2014/main" val="1269546381"/>
                  </a:ext>
                </a:extLst>
              </a:tr>
            </a:tbl>
          </a:graphicData>
        </a:graphic>
      </p:graphicFrame>
    </p:spTree>
    <p:extLst>
      <p:ext uri="{BB962C8B-B14F-4D97-AF65-F5344CB8AC3E}">
        <p14:creationId xmlns:p14="http://schemas.microsoft.com/office/powerpoint/2010/main" val="3748348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6E3FD31-D19A-BFEB-821F-C00103830DC9}"/>
              </a:ext>
            </a:extLst>
          </p:cNvPr>
          <p:cNvSpPr>
            <a:spLocks noGrp="1"/>
          </p:cNvSpPr>
          <p:nvPr>
            <p:ph type="title"/>
          </p:nvPr>
        </p:nvSpPr>
        <p:spPr>
          <a:xfrm>
            <a:off x="829997" y="493058"/>
            <a:ext cx="10446078" cy="564776"/>
          </a:xfrm>
        </p:spPr>
        <p:txBody>
          <a:bodyPr/>
          <a:lstStyle/>
          <a:p>
            <a:r>
              <a:rPr lang="en-US" sz="3600" dirty="0"/>
              <a:t>MVP Timeline</a:t>
            </a:r>
          </a:p>
        </p:txBody>
      </p:sp>
      <p:graphicFrame>
        <p:nvGraphicFramePr>
          <p:cNvPr id="9" name="Table 9">
            <a:extLst>
              <a:ext uri="{FF2B5EF4-FFF2-40B4-BE49-F238E27FC236}">
                <a16:creationId xmlns:a16="http://schemas.microsoft.com/office/drawing/2014/main" id="{AFB40D71-84DA-496D-993A-734BDC2CF5EE}"/>
              </a:ext>
            </a:extLst>
          </p:cNvPr>
          <p:cNvGraphicFramePr>
            <a:graphicFrameLocks noGrp="1"/>
          </p:cNvGraphicFramePr>
          <p:nvPr>
            <p:extLst>
              <p:ext uri="{D42A27DB-BD31-4B8C-83A1-F6EECF244321}">
                <p14:modId xmlns:p14="http://schemas.microsoft.com/office/powerpoint/2010/main" val="3638685763"/>
              </p:ext>
            </p:extLst>
          </p:nvPr>
        </p:nvGraphicFramePr>
        <p:xfrm>
          <a:off x="829997" y="1233544"/>
          <a:ext cx="10532005" cy="5212080"/>
        </p:xfrm>
        <a:graphic>
          <a:graphicData uri="http://schemas.openxmlformats.org/drawingml/2006/table">
            <a:tbl>
              <a:tblPr firstRow="1" bandRow="1">
                <a:tableStyleId>{775DCB02-9BB8-47FD-8907-85C794F793BA}</a:tableStyleId>
              </a:tblPr>
              <a:tblGrid>
                <a:gridCol w="2106401">
                  <a:extLst>
                    <a:ext uri="{9D8B030D-6E8A-4147-A177-3AD203B41FA5}">
                      <a16:colId xmlns:a16="http://schemas.microsoft.com/office/drawing/2014/main" val="1147596593"/>
                    </a:ext>
                  </a:extLst>
                </a:gridCol>
                <a:gridCol w="1545955">
                  <a:extLst>
                    <a:ext uri="{9D8B030D-6E8A-4147-A177-3AD203B41FA5}">
                      <a16:colId xmlns:a16="http://schemas.microsoft.com/office/drawing/2014/main" val="294527766"/>
                    </a:ext>
                  </a:extLst>
                </a:gridCol>
                <a:gridCol w="2232212">
                  <a:extLst>
                    <a:ext uri="{9D8B030D-6E8A-4147-A177-3AD203B41FA5}">
                      <a16:colId xmlns:a16="http://schemas.microsoft.com/office/drawing/2014/main" val="3444440874"/>
                    </a:ext>
                  </a:extLst>
                </a:gridCol>
                <a:gridCol w="2541036">
                  <a:extLst>
                    <a:ext uri="{9D8B030D-6E8A-4147-A177-3AD203B41FA5}">
                      <a16:colId xmlns:a16="http://schemas.microsoft.com/office/drawing/2014/main" val="140260503"/>
                    </a:ext>
                  </a:extLst>
                </a:gridCol>
                <a:gridCol w="2106401">
                  <a:extLst>
                    <a:ext uri="{9D8B030D-6E8A-4147-A177-3AD203B41FA5}">
                      <a16:colId xmlns:a16="http://schemas.microsoft.com/office/drawing/2014/main" val="3736146480"/>
                    </a:ext>
                  </a:extLst>
                </a:gridCol>
              </a:tblGrid>
              <a:tr h="664467">
                <a:tc>
                  <a:txBody>
                    <a:bodyPr/>
                    <a:lstStyle/>
                    <a:p>
                      <a:r>
                        <a:rPr lang="en-IN" dirty="0">
                          <a:latin typeface="+mj-lt"/>
                        </a:rPr>
                        <a:t>Phase</a:t>
                      </a:r>
                    </a:p>
                  </a:txBody>
                  <a:tcPr/>
                </a:tc>
                <a:tc>
                  <a:txBody>
                    <a:bodyPr/>
                    <a:lstStyle/>
                    <a:p>
                      <a:r>
                        <a:rPr lang="en-IN" dirty="0">
                          <a:latin typeface="+mj-lt"/>
                        </a:rPr>
                        <a:t>Timeline</a:t>
                      </a:r>
                    </a:p>
                  </a:txBody>
                  <a:tcPr/>
                </a:tc>
                <a:tc>
                  <a:txBody>
                    <a:bodyPr/>
                    <a:lstStyle/>
                    <a:p>
                      <a:r>
                        <a:rPr lang="en-IN" dirty="0">
                          <a:latin typeface="+mj-lt"/>
                        </a:rPr>
                        <a:t>Objectives</a:t>
                      </a:r>
                    </a:p>
                  </a:txBody>
                  <a:tcPr/>
                </a:tc>
                <a:tc>
                  <a:txBody>
                    <a:bodyPr/>
                    <a:lstStyle/>
                    <a:p>
                      <a:r>
                        <a:rPr lang="en-US" dirty="0">
                          <a:latin typeface="+mj-lt"/>
                        </a:rPr>
                        <a:t>Core Features (Prioritized for Max Value &amp; Learning)</a:t>
                      </a:r>
                      <a:endParaRPr lang="en-IN" dirty="0">
                        <a:latin typeface="+mj-lt"/>
                      </a:endParaRPr>
                    </a:p>
                  </a:txBody>
                  <a:tcPr/>
                </a:tc>
                <a:tc>
                  <a:txBody>
                    <a:bodyPr/>
                    <a:lstStyle/>
                    <a:p>
                      <a:r>
                        <a:rPr lang="en-IN" dirty="0">
                          <a:latin typeface="+mj-lt"/>
                        </a:rPr>
                        <a:t>Expected Outcomes</a:t>
                      </a:r>
                    </a:p>
                  </a:txBody>
                  <a:tcPr/>
                </a:tc>
                <a:extLst>
                  <a:ext uri="{0D108BD9-81ED-4DB2-BD59-A6C34878D82A}">
                    <a16:rowId xmlns:a16="http://schemas.microsoft.com/office/drawing/2014/main" val="3923378498"/>
                  </a:ext>
                </a:extLst>
              </a:tr>
              <a:tr h="664467">
                <a:tc>
                  <a:txBody>
                    <a:bodyPr/>
                    <a:lstStyle/>
                    <a:p>
                      <a:r>
                        <a:rPr lang="en-IN" sz="1200" dirty="0"/>
                        <a:t>Phase 1: Foundations &amp; Validation</a:t>
                      </a:r>
                    </a:p>
                  </a:txBody>
                  <a:tcPr/>
                </a:tc>
                <a:tc>
                  <a:txBody>
                    <a:bodyPr/>
                    <a:lstStyle/>
                    <a:p>
                      <a:r>
                        <a:rPr lang="en-IN" sz="1200" dirty="0"/>
                        <a:t>Week 1–2</a:t>
                      </a:r>
                    </a:p>
                  </a:txBody>
                  <a:tcPr/>
                </a:tc>
                <a:tc>
                  <a:txBody>
                    <a:bodyPr/>
                    <a:lstStyle/>
                    <a:p>
                      <a:r>
                        <a:rPr lang="en-US" sz="1200" dirty="0"/>
                        <a:t>Validate user needs and core problem-solution fit</a:t>
                      </a:r>
                      <a:endParaRPr lang="en-IN" sz="1200" dirty="0"/>
                    </a:p>
                  </a:txBody>
                  <a:tcPr/>
                </a:tc>
                <a:tc>
                  <a:txBody>
                    <a:bodyPr/>
                    <a:lstStyle/>
                    <a:p>
                      <a:r>
                        <a:rPr lang="en-US" sz="1200" dirty="0"/>
                        <a:t>• User Registration (Phone/Email) </a:t>
                      </a:r>
                      <a:br>
                        <a:rPr lang="en-US" sz="1200" dirty="0"/>
                      </a:br>
                      <a:r>
                        <a:rPr lang="en-US" sz="1200" dirty="0"/>
                        <a:t>• Basic Rider Profile </a:t>
                      </a:r>
                      <a:br>
                        <a:rPr lang="en-US" sz="1200" dirty="0"/>
                      </a:br>
                      <a:r>
                        <a:rPr lang="en-US" sz="1200" dirty="0"/>
                        <a:t>• Secure Login </a:t>
                      </a:r>
                      <a:br>
                        <a:rPr lang="en-US" sz="1200" dirty="0"/>
                      </a:br>
                      <a:r>
                        <a:rPr lang="en-US" sz="1200" dirty="0"/>
                        <a:t>• Safety Settings (Emergency Contact)</a:t>
                      </a:r>
                      <a:endParaRPr lang="en-IN" sz="1200" dirty="0"/>
                    </a:p>
                  </a:txBody>
                  <a:tcPr/>
                </a:tc>
                <a:tc>
                  <a:txBody>
                    <a:bodyPr/>
                    <a:lstStyle/>
                    <a:p>
                      <a:r>
                        <a:rPr lang="en-US" sz="1200" dirty="0"/>
                        <a:t>• Confirm demand and core usability </a:t>
                      </a:r>
                      <a:br>
                        <a:rPr lang="en-US" sz="1200" dirty="0"/>
                      </a:br>
                      <a:r>
                        <a:rPr lang="en-US" sz="1200" dirty="0"/>
                        <a:t>• Establish baseline safety expectations</a:t>
                      </a:r>
                      <a:endParaRPr lang="en-IN" sz="1200" dirty="0"/>
                    </a:p>
                  </a:txBody>
                  <a:tcPr/>
                </a:tc>
                <a:extLst>
                  <a:ext uri="{0D108BD9-81ED-4DB2-BD59-A6C34878D82A}">
                    <a16:rowId xmlns:a16="http://schemas.microsoft.com/office/drawing/2014/main" val="1973076546"/>
                  </a:ext>
                </a:extLst>
              </a:tr>
              <a:tr h="664467">
                <a:tc>
                  <a:txBody>
                    <a:bodyPr/>
                    <a:lstStyle/>
                    <a:p>
                      <a:r>
                        <a:rPr lang="en-US" sz="1200" dirty="0"/>
                        <a:t>Phase 2: Core Ride Booking MVP</a:t>
                      </a:r>
                      <a:endParaRPr lang="en-IN" sz="1200" dirty="0"/>
                    </a:p>
                  </a:txBody>
                  <a:tcPr/>
                </a:tc>
                <a:tc>
                  <a:txBody>
                    <a:bodyPr/>
                    <a:lstStyle/>
                    <a:p>
                      <a:r>
                        <a:rPr lang="en-IN" sz="1200" dirty="0"/>
                        <a:t>Week 3–5</a:t>
                      </a:r>
                    </a:p>
                  </a:txBody>
                  <a:tcPr/>
                </a:tc>
                <a:tc>
                  <a:txBody>
                    <a:bodyPr/>
                    <a:lstStyle/>
                    <a:p>
                      <a:r>
                        <a:rPr lang="en-US" sz="1200" dirty="0"/>
                        <a:t>Enable women to reliably book safe rides</a:t>
                      </a:r>
                      <a:endParaRPr lang="en-IN" sz="1200" dirty="0"/>
                    </a:p>
                  </a:txBody>
                  <a:tcPr/>
                </a:tc>
                <a:tc>
                  <a:txBody>
                    <a:bodyPr/>
                    <a:lstStyle/>
                    <a:p>
                      <a:r>
                        <a:rPr lang="en-US" sz="1200" dirty="0"/>
                        <a:t>• Location Search (Pickup/Drop) </a:t>
                      </a:r>
                      <a:br>
                        <a:rPr lang="en-US" sz="1200" dirty="0"/>
                      </a:br>
                      <a:r>
                        <a:rPr lang="en-US" sz="1200" dirty="0"/>
                        <a:t>• Ride Request Flow </a:t>
                      </a:r>
                      <a:br>
                        <a:rPr lang="en-US" sz="1200" dirty="0"/>
                      </a:br>
                      <a:r>
                        <a:rPr lang="en-US" sz="1200" dirty="0"/>
                        <a:t>• Driver Matching (Prototype) </a:t>
                      </a:r>
                      <a:br>
                        <a:rPr lang="en-US" sz="1200" dirty="0"/>
                      </a:br>
                      <a:r>
                        <a:rPr lang="en-US" sz="1200" dirty="0"/>
                        <a:t>• Fare Estimate (Basic)</a:t>
                      </a:r>
                      <a:endParaRPr lang="en-IN" sz="1200" dirty="0"/>
                    </a:p>
                  </a:txBody>
                  <a:tcPr/>
                </a:tc>
                <a:tc>
                  <a:txBody>
                    <a:bodyPr/>
                    <a:lstStyle/>
                    <a:p>
                      <a:r>
                        <a:rPr lang="en-US" sz="1200" dirty="0"/>
                        <a:t>• Users can request and complete rides </a:t>
                      </a:r>
                      <a:br>
                        <a:rPr lang="en-US" sz="1200" dirty="0"/>
                      </a:br>
                      <a:r>
                        <a:rPr lang="en-US" sz="1200" dirty="0"/>
                        <a:t>• Identify key friction points</a:t>
                      </a:r>
                      <a:endParaRPr lang="en-IN" sz="1200" dirty="0"/>
                    </a:p>
                  </a:txBody>
                  <a:tcPr/>
                </a:tc>
                <a:extLst>
                  <a:ext uri="{0D108BD9-81ED-4DB2-BD59-A6C34878D82A}">
                    <a16:rowId xmlns:a16="http://schemas.microsoft.com/office/drawing/2014/main" val="4131811381"/>
                  </a:ext>
                </a:extLst>
              </a:tr>
              <a:tr h="664467">
                <a:tc>
                  <a:txBody>
                    <a:bodyPr/>
                    <a:lstStyle/>
                    <a:p>
                      <a:r>
                        <a:rPr lang="en-US" sz="1200" dirty="0"/>
                        <a:t>Phase 3: Safety &amp; Trust Layer</a:t>
                      </a:r>
                      <a:endParaRPr lang="en-IN" sz="1200" dirty="0"/>
                    </a:p>
                  </a:txBody>
                  <a:tcPr/>
                </a:tc>
                <a:tc>
                  <a:txBody>
                    <a:bodyPr/>
                    <a:lstStyle/>
                    <a:p>
                      <a:r>
                        <a:rPr lang="en-IN" sz="1200" dirty="0"/>
                        <a:t>Week 6–7</a:t>
                      </a:r>
                    </a:p>
                  </a:txBody>
                  <a:tcPr/>
                </a:tc>
                <a:tc>
                  <a:txBody>
                    <a:bodyPr/>
                    <a:lstStyle/>
                    <a:p>
                      <a:r>
                        <a:rPr lang="en-US" sz="1200" dirty="0"/>
                        <a:t>Build essential trust to drive early adoption</a:t>
                      </a:r>
                      <a:endParaRPr lang="en-IN" sz="1200" dirty="0"/>
                    </a:p>
                  </a:txBody>
                  <a:tcPr/>
                </a:tc>
                <a:tc>
                  <a:txBody>
                    <a:bodyPr/>
                    <a:lstStyle/>
                    <a:p>
                      <a:r>
                        <a:rPr lang="en-US" sz="1200" dirty="0"/>
                        <a:t>• SOS Button </a:t>
                      </a:r>
                      <a:br>
                        <a:rPr lang="en-US" sz="1200" dirty="0"/>
                      </a:br>
                      <a:r>
                        <a:rPr lang="en-US" sz="1200" dirty="0"/>
                        <a:t>• Live Trip Tracking </a:t>
                      </a:r>
                      <a:br>
                        <a:rPr lang="en-US" sz="1200" dirty="0"/>
                      </a:br>
                      <a:r>
                        <a:rPr lang="en-US" sz="1200" dirty="0"/>
                        <a:t>• Verified Women Drivers </a:t>
                      </a:r>
                      <a:br>
                        <a:rPr lang="en-US" sz="1200" dirty="0"/>
                      </a:br>
                      <a:r>
                        <a:rPr lang="en-US" sz="1200" dirty="0"/>
                        <a:t>• Driver Rating &amp; Review</a:t>
                      </a:r>
                      <a:endParaRPr lang="en-IN" sz="1200" dirty="0"/>
                    </a:p>
                  </a:txBody>
                  <a:tcPr/>
                </a:tc>
                <a:tc>
                  <a:txBody>
                    <a:bodyPr/>
                    <a:lstStyle/>
                    <a:p>
                      <a:r>
                        <a:rPr lang="en-US" sz="1200" dirty="0"/>
                        <a:t>• Increased rider confidence </a:t>
                      </a:r>
                      <a:br>
                        <a:rPr lang="en-US" sz="1200" dirty="0"/>
                      </a:br>
                      <a:r>
                        <a:rPr lang="en-US" sz="1200" dirty="0"/>
                        <a:t>• Reduce early churn</a:t>
                      </a:r>
                      <a:endParaRPr lang="en-IN" sz="1200" dirty="0"/>
                    </a:p>
                  </a:txBody>
                  <a:tcPr/>
                </a:tc>
                <a:extLst>
                  <a:ext uri="{0D108BD9-81ED-4DB2-BD59-A6C34878D82A}">
                    <a16:rowId xmlns:a16="http://schemas.microsoft.com/office/drawing/2014/main" val="3739911019"/>
                  </a:ext>
                </a:extLst>
              </a:tr>
              <a:tr h="664467">
                <a:tc>
                  <a:txBody>
                    <a:bodyPr/>
                    <a:lstStyle/>
                    <a:p>
                      <a:r>
                        <a:rPr lang="en-IN" sz="1200" dirty="0"/>
                        <a:t>Phase 4: Payments &amp; Efficiency</a:t>
                      </a:r>
                    </a:p>
                  </a:txBody>
                  <a:tcPr/>
                </a:tc>
                <a:tc>
                  <a:txBody>
                    <a:bodyPr/>
                    <a:lstStyle/>
                    <a:p>
                      <a:r>
                        <a:rPr lang="en-IN" sz="1200" dirty="0"/>
                        <a:t>Week 8–10</a:t>
                      </a:r>
                    </a:p>
                  </a:txBody>
                  <a:tcPr/>
                </a:tc>
                <a:tc>
                  <a:txBody>
                    <a:bodyPr/>
                    <a:lstStyle/>
                    <a:p>
                      <a:r>
                        <a:rPr lang="en-IN" sz="1200" dirty="0"/>
                        <a:t>Improve end-to-end experience &amp; retention</a:t>
                      </a:r>
                    </a:p>
                  </a:txBody>
                  <a:tcPr anchor="ctr"/>
                </a:tc>
                <a:tc>
                  <a:txBody>
                    <a:bodyPr/>
                    <a:lstStyle/>
                    <a:p>
                      <a:r>
                        <a:rPr lang="en-US" sz="1200" dirty="0"/>
                        <a:t>• In-App Payments (UPI/Card) </a:t>
                      </a:r>
                      <a:br>
                        <a:rPr lang="en-US" sz="1200" dirty="0"/>
                      </a:br>
                      <a:r>
                        <a:rPr lang="en-US" sz="1200" dirty="0"/>
                        <a:t>• Trip History </a:t>
                      </a:r>
                      <a:br>
                        <a:rPr lang="en-US" sz="1200" dirty="0"/>
                      </a:br>
                      <a:r>
                        <a:rPr lang="en-US" sz="1200" dirty="0"/>
                        <a:t>• Ride Cancellation Flow </a:t>
                      </a:r>
                      <a:br>
                        <a:rPr lang="en-US" sz="1200" dirty="0"/>
                      </a:br>
                      <a:r>
                        <a:rPr lang="en-US" sz="1200" dirty="0"/>
                        <a:t>• Basic Customer Support Flow</a:t>
                      </a:r>
                      <a:endParaRPr lang="en-IN" sz="1200" dirty="0"/>
                    </a:p>
                  </a:txBody>
                  <a:tcPr/>
                </a:tc>
                <a:tc>
                  <a:txBody>
                    <a:bodyPr/>
                    <a:lstStyle/>
                    <a:p>
                      <a:r>
                        <a:rPr lang="en-US" sz="1200" dirty="0"/>
                        <a:t>• Reduced drop-offs at payment stage </a:t>
                      </a:r>
                      <a:br>
                        <a:rPr lang="en-US" sz="1200" dirty="0"/>
                      </a:br>
                      <a:r>
                        <a:rPr lang="en-US" sz="1200" dirty="0"/>
                        <a:t>• Improved repeat rides</a:t>
                      </a:r>
                      <a:endParaRPr lang="en-IN" sz="1200" dirty="0"/>
                    </a:p>
                  </a:txBody>
                  <a:tcPr/>
                </a:tc>
                <a:extLst>
                  <a:ext uri="{0D108BD9-81ED-4DB2-BD59-A6C34878D82A}">
                    <a16:rowId xmlns:a16="http://schemas.microsoft.com/office/drawing/2014/main" val="308691239"/>
                  </a:ext>
                </a:extLst>
              </a:tr>
              <a:tr h="664467">
                <a:tc>
                  <a:txBody>
                    <a:bodyPr/>
                    <a:lstStyle/>
                    <a:p>
                      <a:r>
                        <a:rPr lang="en-IN" sz="1200" dirty="0"/>
                        <a:t>Phase 5: Learning &amp; Optimization</a:t>
                      </a:r>
                    </a:p>
                  </a:txBody>
                  <a:tcPr/>
                </a:tc>
                <a:tc>
                  <a:txBody>
                    <a:bodyPr/>
                    <a:lstStyle/>
                    <a:p>
                      <a:r>
                        <a:rPr lang="en-IN" sz="1200" dirty="0"/>
                        <a:t>Week 11–12</a:t>
                      </a:r>
                    </a:p>
                  </a:txBody>
                  <a:tcPr/>
                </a:tc>
                <a:tc>
                  <a:txBody>
                    <a:bodyPr/>
                    <a:lstStyle/>
                    <a:p>
                      <a:r>
                        <a:rPr lang="en-US" sz="1200" dirty="0"/>
                        <a:t>Analyze validated learning and iterate</a:t>
                      </a:r>
                      <a:endParaRPr lang="en-IN" sz="1200" dirty="0"/>
                    </a:p>
                  </a:txBody>
                  <a:tcPr/>
                </a:tc>
                <a:tc>
                  <a:txBody>
                    <a:bodyPr/>
                    <a:lstStyle/>
                    <a:p>
                      <a:r>
                        <a:rPr lang="en-US" sz="1200" dirty="0"/>
                        <a:t>• Bug Fixes &amp; Performance Enhancements </a:t>
                      </a:r>
                      <a:br>
                        <a:rPr lang="en-US" sz="1200" dirty="0"/>
                      </a:br>
                      <a:r>
                        <a:rPr lang="en-US" sz="1200" dirty="0"/>
                        <a:t>• Journey Optimization </a:t>
                      </a:r>
                      <a:br>
                        <a:rPr lang="en-US" sz="1200" dirty="0"/>
                      </a:br>
                      <a:r>
                        <a:rPr lang="en-US" sz="1200" dirty="0"/>
                        <a:t>• Early A/B Tests </a:t>
                      </a:r>
                      <a:br>
                        <a:rPr lang="en-US" sz="1200" dirty="0"/>
                      </a:br>
                      <a:r>
                        <a:rPr lang="en-US" sz="1200" dirty="0"/>
                        <a:t>• Metrics Dashboard (Internal)</a:t>
                      </a:r>
                      <a:endParaRPr lang="en-IN" sz="1200" dirty="0"/>
                    </a:p>
                  </a:txBody>
                  <a:tcPr/>
                </a:tc>
                <a:tc>
                  <a:txBody>
                    <a:bodyPr/>
                    <a:lstStyle/>
                    <a:p>
                      <a:r>
                        <a:rPr lang="en-US" sz="1200" dirty="0"/>
                        <a:t>• Clear direction for Version 2.0 </a:t>
                      </a:r>
                      <a:br>
                        <a:rPr lang="en-US" sz="1200" dirty="0"/>
                      </a:br>
                      <a:r>
                        <a:rPr lang="en-US" sz="1200" dirty="0"/>
                        <a:t>• Prioritized backlog for next release</a:t>
                      </a:r>
                      <a:endParaRPr lang="en-IN" sz="1200" dirty="0"/>
                    </a:p>
                  </a:txBody>
                  <a:tcPr/>
                </a:tc>
                <a:extLst>
                  <a:ext uri="{0D108BD9-81ED-4DB2-BD59-A6C34878D82A}">
                    <a16:rowId xmlns:a16="http://schemas.microsoft.com/office/drawing/2014/main" val="3675793278"/>
                  </a:ext>
                </a:extLst>
              </a:tr>
            </a:tbl>
          </a:graphicData>
        </a:graphic>
      </p:graphicFrame>
    </p:spTree>
    <p:extLst>
      <p:ext uri="{BB962C8B-B14F-4D97-AF65-F5344CB8AC3E}">
        <p14:creationId xmlns:p14="http://schemas.microsoft.com/office/powerpoint/2010/main" val="537809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B33A77B-664F-FFD3-D61A-0D344C269A12}"/>
              </a:ext>
            </a:extLst>
          </p:cNvPr>
          <p:cNvSpPr>
            <a:spLocks noGrp="1"/>
          </p:cNvSpPr>
          <p:nvPr>
            <p:ph type="title"/>
          </p:nvPr>
        </p:nvSpPr>
        <p:spPr>
          <a:xfrm>
            <a:off x="412374" y="485061"/>
            <a:ext cx="10360152" cy="573742"/>
          </a:xfrm>
        </p:spPr>
        <p:txBody>
          <a:bodyPr/>
          <a:lstStyle/>
          <a:p>
            <a:r>
              <a:rPr lang="en-US" sz="4000" dirty="0"/>
              <a:t>Business model canvas</a:t>
            </a:r>
          </a:p>
        </p:txBody>
      </p:sp>
      <p:sp>
        <p:nvSpPr>
          <p:cNvPr id="4" name="Slide Number Placeholder 3">
            <a:extLst>
              <a:ext uri="{FF2B5EF4-FFF2-40B4-BE49-F238E27FC236}">
                <a16:creationId xmlns:a16="http://schemas.microsoft.com/office/drawing/2014/main" id="{AE59500A-4B75-29F9-CE37-C3E13D6A566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18</a:t>
            </a:fld>
            <a:endParaRPr lang="en-US" dirty="0"/>
          </a:p>
        </p:txBody>
      </p:sp>
      <p:sp>
        <p:nvSpPr>
          <p:cNvPr id="10" name="Rectangle 9">
            <a:extLst>
              <a:ext uri="{FF2B5EF4-FFF2-40B4-BE49-F238E27FC236}">
                <a16:creationId xmlns:a16="http://schemas.microsoft.com/office/drawing/2014/main" id="{0205FE1F-4E11-4DC7-B2B9-4BD842CC609F}"/>
              </a:ext>
            </a:extLst>
          </p:cNvPr>
          <p:cNvSpPr/>
          <p:nvPr/>
        </p:nvSpPr>
        <p:spPr>
          <a:xfrm>
            <a:off x="412373" y="1066225"/>
            <a:ext cx="11492753" cy="5378823"/>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IN" dirty="0"/>
          </a:p>
        </p:txBody>
      </p:sp>
      <p:cxnSp>
        <p:nvCxnSpPr>
          <p:cNvPr id="12" name="Straight Connector 11">
            <a:extLst>
              <a:ext uri="{FF2B5EF4-FFF2-40B4-BE49-F238E27FC236}">
                <a16:creationId xmlns:a16="http://schemas.microsoft.com/office/drawing/2014/main" id="{03F6C492-9889-4DBC-9715-8DA22352C5F8}"/>
              </a:ext>
            </a:extLst>
          </p:cNvPr>
          <p:cNvCxnSpPr>
            <a:cxnSpLocks/>
          </p:cNvCxnSpPr>
          <p:nvPr/>
        </p:nvCxnSpPr>
        <p:spPr>
          <a:xfrm>
            <a:off x="412375" y="2945144"/>
            <a:ext cx="249219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64803C9-E613-481D-9B09-3B473C46D102}"/>
              </a:ext>
            </a:extLst>
          </p:cNvPr>
          <p:cNvCxnSpPr>
            <a:cxnSpLocks/>
          </p:cNvCxnSpPr>
          <p:nvPr/>
        </p:nvCxnSpPr>
        <p:spPr>
          <a:xfrm>
            <a:off x="2904565" y="1080160"/>
            <a:ext cx="0" cy="5378822"/>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262CA51-BEDF-48F1-A2A0-805A581A96B2}"/>
              </a:ext>
            </a:extLst>
          </p:cNvPr>
          <p:cNvSpPr txBox="1"/>
          <p:nvPr/>
        </p:nvSpPr>
        <p:spPr>
          <a:xfrm>
            <a:off x="499783" y="1228020"/>
            <a:ext cx="2301417" cy="1600438"/>
          </a:xfrm>
          <a:prstGeom prst="rect">
            <a:avLst/>
          </a:prstGeom>
          <a:noFill/>
        </p:spPr>
        <p:txBody>
          <a:bodyPr wrap="square" rtlCol="0">
            <a:spAutoFit/>
          </a:bodyPr>
          <a:lstStyle/>
          <a:p>
            <a:r>
              <a:rPr lang="en-IN" sz="1400" b="1" dirty="0">
                <a:latin typeface="+mj-lt"/>
              </a:rPr>
              <a:t>Customer Segments </a:t>
            </a:r>
          </a:p>
          <a:p>
            <a:pPr marL="285750" indent="-285750">
              <a:buFont typeface="Arial" panose="020B0604020202020204" pitchFamily="34" charset="0"/>
              <a:buChar char="•"/>
            </a:pPr>
            <a:r>
              <a:rPr lang="en-US" sz="1400" dirty="0"/>
              <a:t>Daily commuters</a:t>
            </a:r>
          </a:p>
          <a:p>
            <a:pPr marL="285750" indent="-285750">
              <a:buFont typeface="Arial" panose="020B0604020202020204" pitchFamily="34" charset="0"/>
              <a:buChar char="•"/>
            </a:pPr>
            <a:r>
              <a:rPr lang="en-US" sz="1400" dirty="0"/>
              <a:t>Students</a:t>
            </a:r>
          </a:p>
          <a:p>
            <a:pPr marL="285750" indent="-285750">
              <a:buFont typeface="Arial" panose="020B0604020202020204" pitchFamily="34" charset="0"/>
              <a:buChar char="•"/>
            </a:pPr>
            <a:r>
              <a:rPr lang="en-US" sz="1400" dirty="0"/>
              <a:t>Night-shift employees</a:t>
            </a:r>
          </a:p>
          <a:p>
            <a:pPr marL="285750" indent="-285750">
              <a:buFont typeface="Arial" panose="020B0604020202020204" pitchFamily="34" charset="0"/>
              <a:buChar char="•"/>
            </a:pPr>
            <a:r>
              <a:rPr lang="en-US" sz="1400" dirty="0"/>
              <a:t>Women riders</a:t>
            </a:r>
          </a:p>
          <a:p>
            <a:pPr marL="285750" indent="-285750">
              <a:buFont typeface="Arial" panose="020B0604020202020204" pitchFamily="34" charset="0"/>
              <a:buChar char="•"/>
            </a:pPr>
            <a:r>
              <a:rPr lang="en-US" sz="1400" dirty="0"/>
              <a:t>Drivers seeking stable earnings </a:t>
            </a:r>
            <a:endParaRPr lang="en-IN" sz="1400" dirty="0"/>
          </a:p>
        </p:txBody>
      </p:sp>
      <p:sp>
        <p:nvSpPr>
          <p:cNvPr id="20" name="TextBox 19">
            <a:extLst>
              <a:ext uri="{FF2B5EF4-FFF2-40B4-BE49-F238E27FC236}">
                <a16:creationId xmlns:a16="http://schemas.microsoft.com/office/drawing/2014/main" id="{D48FEA45-53EE-4E92-8453-67F318F572FB}"/>
              </a:ext>
            </a:extLst>
          </p:cNvPr>
          <p:cNvSpPr txBox="1"/>
          <p:nvPr/>
        </p:nvSpPr>
        <p:spPr>
          <a:xfrm>
            <a:off x="3030070" y="1163197"/>
            <a:ext cx="2510114" cy="1384995"/>
          </a:xfrm>
          <a:prstGeom prst="rect">
            <a:avLst/>
          </a:prstGeom>
          <a:noFill/>
        </p:spPr>
        <p:txBody>
          <a:bodyPr wrap="square" rtlCol="0">
            <a:spAutoFit/>
          </a:bodyPr>
          <a:lstStyle/>
          <a:p>
            <a:r>
              <a:rPr lang="en-IN" sz="1400" b="1" dirty="0">
                <a:latin typeface="+mj-lt"/>
              </a:rPr>
              <a:t>Customer Characteristics</a:t>
            </a:r>
          </a:p>
          <a:p>
            <a:pPr marL="285750" indent="-285750">
              <a:buFont typeface="Arial" panose="020B0604020202020204" pitchFamily="34" charset="0"/>
              <a:buChar char="•"/>
            </a:pPr>
            <a:r>
              <a:rPr lang="en-US" sz="1400" dirty="0"/>
              <a:t>Safety-focused</a:t>
            </a:r>
          </a:p>
          <a:p>
            <a:pPr marL="285750" indent="-285750">
              <a:buFont typeface="Arial" panose="020B0604020202020204" pitchFamily="34" charset="0"/>
              <a:buChar char="•"/>
            </a:pPr>
            <a:r>
              <a:rPr lang="en-US" sz="1400" dirty="0"/>
              <a:t>Price-sensitive</a:t>
            </a:r>
          </a:p>
          <a:p>
            <a:pPr marL="285750" indent="-285750">
              <a:buFont typeface="Arial" panose="020B0604020202020204" pitchFamily="34" charset="0"/>
              <a:buChar char="•"/>
            </a:pPr>
            <a:r>
              <a:rPr lang="en-US" sz="1400" dirty="0"/>
              <a:t>Prefer digital payments</a:t>
            </a:r>
          </a:p>
          <a:p>
            <a:pPr marL="285750" indent="-285750">
              <a:buFont typeface="Arial" panose="020B0604020202020204" pitchFamily="34" charset="0"/>
              <a:buChar char="•"/>
            </a:pPr>
            <a:r>
              <a:rPr lang="en-US" sz="1400" dirty="0"/>
              <a:t>Expect transparency &amp; reliability </a:t>
            </a:r>
            <a:endParaRPr lang="en-IN" sz="1400" dirty="0"/>
          </a:p>
        </p:txBody>
      </p:sp>
      <p:cxnSp>
        <p:nvCxnSpPr>
          <p:cNvPr id="22" name="Straight Connector 21">
            <a:extLst>
              <a:ext uri="{FF2B5EF4-FFF2-40B4-BE49-F238E27FC236}">
                <a16:creationId xmlns:a16="http://schemas.microsoft.com/office/drawing/2014/main" id="{56CC565F-ED0A-4214-9330-ACD78143F1FE}"/>
              </a:ext>
            </a:extLst>
          </p:cNvPr>
          <p:cNvCxnSpPr>
            <a:cxnSpLocks/>
          </p:cNvCxnSpPr>
          <p:nvPr/>
        </p:nvCxnSpPr>
        <p:spPr>
          <a:xfrm>
            <a:off x="5728447" y="1080160"/>
            <a:ext cx="0" cy="5378822"/>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2B473EE-C974-471B-9AFA-4FA8A9333921}"/>
              </a:ext>
            </a:extLst>
          </p:cNvPr>
          <p:cNvSpPr txBox="1"/>
          <p:nvPr/>
        </p:nvSpPr>
        <p:spPr>
          <a:xfrm>
            <a:off x="5800168" y="1241362"/>
            <a:ext cx="5979459" cy="738664"/>
          </a:xfrm>
          <a:prstGeom prst="rect">
            <a:avLst/>
          </a:prstGeom>
          <a:noFill/>
        </p:spPr>
        <p:txBody>
          <a:bodyPr wrap="square" rtlCol="0">
            <a:spAutoFit/>
          </a:bodyPr>
          <a:lstStyle/>
          <a:p>
            <a:r>
              <a:rPr lang="en-IN" sz="1400" b="1" dirty="0">
                <a:latin typeface="+mj-lt"/>
              </a:rPr>
              <a:t>Customer Journey</a:t>
            </a:r>
          </a:p>
          <a:p>
            <a:r>
              <a:rPr lang="en-IN" sz="1400" dirty="0"/>
              <a:t>1) Open app → 2) Enter pickup/drop → 3) View fare → 4) Book → 5) Track ride → 6) Pay → 7) Rate</a:t>
            </a:r>
          </a:p>
        </p:txBody>
      </p:sp>
      <p:cxnSp>
        <p:nvCxnSpPr>
          <p:cNvPr id="26" name="Straight Connector 25">
            <a:extLst>
              <a:ext uri="{FF2B5EF4-FFF2-40B4-BE49-F238E27FC236}">
                <a16:creationId xmlns:a16="http://schemas.microsoft.com/office/drawing/2014/main" id="{33B2CABA-C822-43DA-8EE4-762F78A68AE3}"/>
              </a:ext>
            </a:extLst>
          </p:cNvPr>
          <p:cNvCxnSpPr/>
          <p:nvPr/>
        </p:nvCxnSpPr>
        <p:spPr>
          <a:xfrm>
            <a:off x="5746373" y="2115671"/>
            <a:ext cx="6158753"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4680F1E-11C9-4BF7-86F3-5F2E2DEFDD90}"/>
              </a:ext>
            </a:extLst>
          </p:cNvPr>
          <p:cNvSpPr txBox="1"/>
          <p:nvPr/>
        </p:nvSpPr>
        <p:spPr>
          <a:xfrm>
            <a:off x="5898778" y="2222000"/>
            <a:ext cx="3153061" cy="1384995"/>
          </a:xfrm>
          <a:prstGeom prst="rect">
            <a:avLst/>
          </a:prstGeom>
          <a:noFill/>
        </p:spPr>
        <p:txBody>
          <a:bodyPr wrap="square" rtlCol="0">
            <a:spAutoFit/>
          </a:bodyPr>
          <a:lstStyle/>
          <a:p>
            <a:r>
              <a:rPr lang="en-IN" sz="1400" b="1" dirty="0">
                <a:latin typeface="+mj-lt"/>
              </a:rPr>
              <a:t>Value Proposition </a:t>
            </a:r>
          </a:p>
          <a:p>
            <a:pPr marL="285750" indent="-285750">
              <a:buFont typeface="Arial" panose="020B0604020202020204" pitchFamily="34" charset="0"/>
              <a:buChar char="•"/>
            </a:pPr>
            <a:r>
              <a:rPr lang="en-US" sz="1400" dirty="0"/>
              <a:t>Safe &amp; reliable rides</a:t>
            </a:r>
          </a:p>
          <a:p>
            <a:pPr marL="285750" indent="-285750">
              <a:buFont typeface="Arial" panose="020B0604020202020204" pitchFamily="34" charset="0"/>
              <a:buChar char="•"/>
            </a:pPr>
            <a:r>
              <a:rPr lang="en-US" sz="1400" dirty="0"/>
              <a:t>Transparent pricing</a:t>
            </a:r>
          </a:p>
          <a:p>
            <a:pPr marL="285750" indent="-285750">
              <a:buFont typeface="Arial" panose="020B0604020202020204" pitchFamily="34" charset="0"/>
              <a:buChar char="•"/>
            </a:pPr>
            <a:r>
              <a:rPr lang="en-US" sz="1400" dirty="0"/>
              <a:t>Women-first safety features</a:t>
            </a:r>
          </a:p>
          <a:p>
            <a:pPr marL="285750" indent="-285750">
              <a:buFont typeface="Arial" panose="020B0604020202020204" pitchFamily="34" charset="0"/>
              <a:buChar char="•"/>
            </a:pPr>
            <a:r>
              <a:rPr lang="en-US" sz="1400" dirty="0"/>
              <a:t>Smooth payments</a:t>
            </a:r>
          </a:p>
          <a:p>
            <a:pPr marL="285750" indent="-285750">
              <a:buFont typeface="Arial" panose="020B0604020202020204" pitchFamily="34" charset="0"/>
              <a:buChar char="•"/>
            </a:pPr>
            <a:r>
              <a:rPr lang="en-US" sz="1400" dirty="0"/>
              <a:t>Corporate travel solutions </a:t>
            </a:r>
            <a:endParaRPr lang="en-IN" sz="1400" dirty="0"/>
          </a:p>
        </p:txBody>
      </p:sp>
      <p:cxnSp>
        <p:nvCxnSpPr>
          <p:cNvPr id="29" name="Straight Connector 28">
            <a:extLst>
              <a:ext uri="{FF2B5EF4-FFF2-40B4-BE49-F238E27FC236}">
                <a16:creationId xmlns:a16="http://schemas.microsoft.com/office/drawing/2014/main" id="{EC808253-622C-419F-8231-F8CD2A845276}"/>
              </a:ext>
            </a:extLst>
          </p:cNvPr>
          <p:cNvCxnSpPr>
            <a:cxnSpLocks/>
          </p:cNvCxnSpPr>
          <p:nvPr/>
        </p:nvCxnSpPr>
        <p:spPr>
          <a:xfrm>
            <a:off x="9161929" y="2115671"/>
            <a:ext cx="0" cy="4455457"/>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5829896-89B1-4519-B4BA-A93A04EA8233}"/>
              </a:ext>
            </a:extLst>
          </p:cNvPr>
          <p:cNvSpPr txBox="1"/>
          <p:nvPr/>
        </p:nvSpPr>
        <p:spPr>
          <a:xfrm>
            <a:off x="9332261" y="2685658"/>
            <a:ext cx="2330820" cy="2893100"/>
          </a:xfrm>
          <a:prstGeom prst="rect">
            <a:avLst/>
          </a:prstGeom>
          <a:noFill/>
        </p:spPr>
        <p:txBody>
          <a:bodyPr wrap="square" rtlCol="0">
            <a:spAutoFit/>
          </a:bodyPr>
          <a:lstStyle/>
          <a:p>
            <a:r>
              <a:rPr lang="en-IN" sz="1400" b="1" dirty="0">
                <a:latin typeface="+mj-lt"/>
              </a:rPr>
              <a:t>Financial KPIs </a:t>
            </a:r>
          </a:p>
          <a:p>
            <a:pPr marL="285750" indent="-285750">
              <a:buFont typeface="Arial" panose="020B0604020202020204" pitchFamily="34" charset="0"/>
              <a:buChar char="•"/>
            </a:pPr>
            <a:r>
              <a:rPr lang="en-US" sz="1400" dirty="0"/>
              <a:t>Take Rate (% commission per ride)</a:t>
            </a:r>
          </a:p>
          <a:p>
            <a:pPr marL="285750" indent="-285750">
              <a:buFont typeface="Arial" panose="020B0604020202020204" pitchFamily="34" charset="0"/>
              <a:buChar char="•"/>
            </a:pPr>
            <a:r>
              <a:rPr lang="en-US" sz="1400" dirty="0"/>
              <a:t>Cost per Acquisition (CAC)</a:t>
            </a:r>
          </a:p>
          <a:p>
            <a:pPr marL="285750" indent="-285750">
              <a:buFont typeface="Arial" panose="020B0604020202020204" pitchFamily="34" charset="0"/>
              <a:buChar char="•"/>
            </a:pPr>
            <a:r>
              <a:rPr lang="en-US" sz="1400" dirty="0"/>
              <a:t>Customer Lifetime Value (CLTV)</a:t>
            </a:r>
          </a:p>
          <a:p>
            <a:pPr marL="285750" indent="-285750">
              <a:buFont typeface="Arial" panose="020B0604020202020204" pitchFamily="34" charset="0"/>
              <a:buChar char="•"/>
            </a:pPr>
            <a:r>
              <a:rPr lang="en-US" sz="1400" dirty="0"/>
              <a:t>Monthly Active Riders (MAR)</a:t>
            </a:r>
          </a:p>
          <a:p>
            <a:pPr marL="285750" indent="-285750">
              <a:buFont typeface="Arial" panose="020B0604020202020204" pitchFamily="34" charset="0"/>
              <a:buChar char="•"/>
            </a:pPr>
            <a:r>
              <a:rPr lang="en-US" sz="1400" dirty="0"/>
              <a:t>Trip Success Rate</a:t>
            </a:r>
          </a:p>
          <a:p>
            <a:pPr marL="285750" indent="-285750">
              <a:buFont typeface="Arial" panose="020B0604020202020204" pitchFamily="34" charset="0"/>
              <a:buChar char="•"/>
            </a:pPr>
            <a:r>
              <a:rPr lang="en-US" sz="1400" dirty="0"/>
              <a:t>Revenue per Trip</a:t>
            </a:r>
          </a:p>
          <a:p>
            <a:pPr marL="285750" indent="-285750">
              <a:buFont typeface="Arial" panose="020B0604020202020204" pitchFamily="34" charset="0"/>
              <a:buChar char="•"/>
            </a:pPr>
            <a:r>
              <a:rPr lang="en-US" sz="1400" dirty="0"/>
              <a:t>Gross Margin</a:t>
            </a:r>
          </a:p>
          <a:p>
            <a:pPr marL="285750" indent="-285750">
              <a:buFont typeface="Arial" panose="020B0604020202020204" pitchFamily="34" charset="0"/>
              <a:buChar char="•"/>
            </a:pPr>
            <a:r>
              <a:rPr lang="en-US" sz="1400" dirty="0"/>
              <a:t>Driver Utilization Rate</a:t>
            </a:r>
            <a:endParaRPr lang="en-IN" sz="1400" dirty="0"/>
          </a:p>
        </p:txBody>
      </p:sp>
      <p:cxnSp>
        <p:nvCxnSpPr>
          <p:cNvPr id="33" name="Straight Connector 32">
            <a:extLst>
              <a:ext uri="{FF2B5EF4-FFF2-40B4-BE49-F238E27FC236}">
                <a16:creationId xmlns:a16="http://schemas.microsoft.com/office/drawing/2014/main" id="{DD6D32AA-3DA6-4ACF-A3D9-33744DD96129}"/>
              </a:ext>
            </a:extLst>
          </p:cNvPr>
          <p:cNvCxnSpPr/>
          <p:nvPr/>
        </p:nvCxnSpPr>
        <p:spPr>
          <a:xfrm>
            <a:off x="5728447" y="3606995"/>
            <a:ext cx="3397623"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EAAC4F5-9230-46BA-B575-F040965D135E}"/>
              </a:ext>
            </a:extLst>
          </p:cNvPr>
          <p:cNvSpPr txBox="1"/>
          <p:nvPr/>
        </p:nvSpPr>
        <p:spPr>
          <a:xfrm>
            <a:off x="5838536" y="3658185"/>
            <a:ext cx="3251673" cy="1384995"/>
          </a:xfrm>
          <a:prstGeom prst="rect">
            <a:avLst/>
          </a:prstGeom>
          <a:noFill/>
        </p:spPr>
        <p:txBody>
          <a:bodyPr wrap="square" rtlCol="0">
            <a:spAutoFit/>
          </a:bodyPr>
          <a:lstStyle/>
          <a:p>
            <a:r>
              <a:rPr lang="en-IN" sz="1400" b="1" dirty="0">
                <a:latin typeface="+mj-lt"/>
              </a:rPr>
              <a:t>Key Activities</a:t>
            </a:r>
          </a:p>
          <a:p>
            <a:pPr marL="285750" indent="-285750">
              <a:buFont typeface="Arial" panose="020B0604020202020204" pitchFamily="34" charset="0"/>
              <a:buChar char="•"/>
            </a:pPr>
            <a:r>
              <a:rPr lang="en-US" sz="1400" dirty="0"/>
              <a:t>Driver onboarding</a:t>
            </a:r>
          </a:p>
          <a:p>
            <a:pPr marL="285750" indent="-285750">
              <a:buFont typeface="Arial" panose="020B0604020202020204" pitchFamily="34" charset="0"/>
              <a:buChar char="•"/>
            </a:pPr>
            <a:r>
              <a:rPr lang="en-US" sz="1400" dirty="0"/>
              <a:t>Matching &amp; routing</a:t>
            </a:r>
          </a:p>
          <a:p>
            <a:pPr marL="285750" indent="-285750">
              <a:buFont typeface="Arial" panose="020B0604020202020204" pitchFamily="34" charset="0"/>
              <a:buChar char="•"/>
            </a:pPr>
            <a:r>
              <a:rPr lang="en-US" sz="1400" dirty="0"/>
              <a:t>Safety monitoring</a:t>
            </a:r>
          </a:p>
          <a:p>
            <a:pPr marL="285750" indent="-285750">
              <a:buFont typeface="Arial" panose="020B0604020202020204" pitchFamily="34" charset="0"/>
              <a:buChar char="•"/>
            </a:pPr>
            <a:r>
              <a:rPr lang="en-US" sz="1400" dirty="0"/>
              <a:t>App &amp; backend development</a:t>
            </a:r>
          </a:p>
          <a:p>
            <a:pPr marL="285750" indent="-285750">
              <a:buFont typeface="Arial" panose="020B0604020202020204" pitchFamily="34" charset="0"/>
              <a:buChar char="•"/>
            </a:pPr>
            <a:r>
              <a:rPr lang="en-US" sz="1400" dirty="0"/>
              <a:t>Customer/driver support</a:t>
            </a:r>
            <a:endParaRPr lang="en-IN" sz="1400" dirty="0"/>
          </a:p>
        </p:txBody>
      </p:sp>
      <p:cxnSp>
        <p:nvCxnSpPr>
          <p:cNvPr id="37" name="Straight Connector 36">
            <a:extLst>
              <a:ext uri="{FF2B5EF4-FFF2-40B4-BE49-F238E27FC236}">
                <a16:creationId xmlns:a16="http://schemas.microsoft.com/office/drawing/2014/main" id="{8A5B19BF-5276-4307-BD33-DB17E606D1E9}"/>
              </a:ext>
            </a:extLst>
          </p:cNvPr>
          <p:cNvCxnSpPr/>
          <p:nvPr/>
        </p:nvCxnSpPr>
        <p:spPr>
          <a:xfrm>
            <a:off x="2904565" y="2561587"/>
            <a:ext cx="2823882" cy="0"/>
          </a:xfrm>
          <a:prstGeom prst="line">
            <a:avLst/>
          </a:prstGeom>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4617663-58B4-4604-82B4-D1313820C820}"/>
              </a:ext>
            </a:extLst>
          </p:cNvPr>
          <p:cNvSpPr txBox="1"/>
          <p:nvPr/>
        </p:nvSpPr>
        <p:spPr>
          <a:xfrm>
            <a:off x="3007659" y="2657184"/>
            <a:ext cx="2588285" cy="1169551"/>
          </a:xfrm>
          <a:prstGeom prst="rect">
            <a:avLst/>
          </a:prstGeom>
          <a:noFill/>
        </p:spPr>
        <p:txBody>
          <a:bodyPr wrap="square" rtlCol="0">
            <a:spAutoFit/>
          </a:bodyPr>
          <a:lstStyle/>
          <a:p>
            <a:r>
              <a:rPr lang="en-IN" sz="1400" b="1" dirty="0">
                <a:latin typeface="+mj-lt"/>
              </a:rPr>
              <a:t>Revenue Streams</a:t>
            </a:r>
          </a:p>
          <a:p>
            <a:pPr marL="285750" indent="-285750">
              <a:buFont typeface="Arial" panose="020B0604020202020204" pitchFamily="34" charset="0"/>
              <a:buChar char="•"/>
            </a:pPr>
            <a:r>
              <a:rPr lang="en-IN" sz="1400" dirty="0"/>
              <a:t>Ride commissions</a:t>
            </a:r>
          </a:p>
          <a:p>
            <a:pPr marL="285750" indent="-285750">
              <a:buFont typeface="Arial" panose="020B0604020202020204" pitchFamily="34" charset="0"/>
              <a:buChar char="•"/>
            </a:pPr>
            <a:r>
              <a:rPr lang="en-IN" sz="1400" dirty="0"/>
              <a:t>Surge revenue</a:t>
            </a:r>
          </a:p>
          <a:p>
            <a:pPr marL="285750" indent="-285750">
              <a:buFont typeface="Arial" panose="020B0604020202020204" pitchFamily="34" charset="0"/>
              <a:buChar char="•"/>
            </a:pPr>
            <a:r>
              <a:rPr lang="en-IN" sz="1400" dirty="0"/>
              <a:t>Subscriptions</a:t>
            </a:r>
          </a:p>
          <a:p>
            <a:pPr marL="285750" indent="-285750">
              <a:buFont typeface="Arial" panose="020B0604020202020204" pitchFamily="34" charset="0"/>
              <a:buChar char="•"/>
            </a:pPr>
            <a:r>
              <a:rPr lang="en-IN" sz="1400" dirty="0"/>
              <a:t>Corporate transport billing </a:t>
            </a:r>
          </a:p>
        </p:txBody>
      </p:sp>
      <p:cxnSp>
        <p:nvCxnSpPr>
          <p:cNvPr id="41" name="Straight Connector 40">
            <a:extLst>
              <a:ext uri="{FF2B5EF4-FFF2-40B4-BE49-F238E27FC236}">
                <a16:creationId xmlns:a16="http://schemas.microsoft.com/office/drawing/2014/main" id="{2DD85EA8-D5A1-4D95-BA66-F45273957097}"/>
              </a:ext>
            </a:extLst>
          </p:cNvPr>
          <p:cNvCxnSpPr/>
          <p:nvPr/>
        </p:nvCxnSpPr>
        <p:spPr>
          <a:xfrm>
            <a:off x="2904565" y="3899545"/>
            <a:ext cx="2823882"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D845F6E-D71A-4331-BF52-7F91C627D87A}"/>
              </a:ext>
            </a:extLst>
          </p:cNvPr>
          <p:cNvSpPr txBox="1"/>
          <p:nvPr/>
        </p:nvSpPr>
        <p:spPr>
          <a:xfrm>
            <a:off x="2951899" y="3964633"/>
            <a:ext cx="2886637" cy="1169551"/>
          </a:xfrm>
          <a:prstGeom prst="rect">
            <a:avLst/>
          </a:prstGeom>
          <a:noFill/>
        </p:spPr>
        <p:txBody>
          <a:bodyPr wrap="square" rtlCol="0">
            <a:spAutoFit/>
          </a:bodyPr>
          <a:lstStyle/>
          <a:p>
            <a:r>
              <a:rPr lang="en-IN" sz="1400" b="1" dirty="0">
                <a:latin typeface="+mj-lt"/>
              </a:rPr>
              <a:t>Pricing Model</a:t>
            </a:r>
          </a:p>
          <a:p>
            <a:pPr marL="285750" indent="-285750">
              <a:buFont typeface="Arial" panose="020B0604020202020204" pitchFamily="34" charset="0"/>
              <a:buChar char="•"/>
            </a:pPr>
            <a:r>
              <a:rPr lang="en-US" sz="1400" dirty="0"/>
              <a:t>Base fare + km/min pricing</a:t>
            </a:r>
          </a:p>
          <a:p>
            <a:pPr marL="285750" indent="-285750">
              <a:buFont typeface="Arial" panose="020B0604020202020204" pitchFamily="34" charset="0"/>
              <a:buChar char="•"/>
            </a:pPr>
            <a:r>
              <a:rPr lang="en-US" sz="1400" dirty="0"/>
              <a:t>Surge multipliers</a:t>
            </a:r>
          </a:p>
          <a:p>
            <a:pPr marL="285750" indent="-285750">
              <a:buFont typeface="Arial" panose="020B0604020202020204" pitchFamily="34" charset="0"/>
              <a:buChar char="•"/>
            </a:pPr>
            <a:r>
              <a:rPr lang="en-US" sz="1400" dirty="0" err="1"/>
              <a:t>SafePass</a:t>
            </a:r>
            <a:r>
              <a:rPr lang="en-US" sz="1400" dirty="0"/>
              <a:t> subscription</a:t>
            </a:r>
          </a:p>
          <a:p>
            <a:pPr marL="285750" indent="-285750">
              <a:buFont typeface="Arial" panose="020B0604020202020204" pitchFamily="34" charset="0"/>
              <a:buChar char="•"/>
            </a:pPr>
            <a:r>
              <a:rPr lang="en-US" sz="1400" dirty="0"/>
              <a:t>B2B monthly billing </a:t>
            </a:r>
            <a:endParaRPr lang="en-IN" sz="1400" dirty="0"/>
          </a:p>
        </p:txBody>
      </p:sp>
      <p:cxnSp>
        <p:nvCxnSpPr>
          <p:cNvPr id="44" name="Straight Connector 43">
            <a:extLst>
              <a:ext uri="{FF2B5EF4-FFF2-40B4-BE49-F238E27FC236}">
                <a16:creationId xmlns:a16="http://schemas.microsoft.com/office/drawing/2014/main" id="{6D97DF67-3347-4163-881F-4493CE154BE6}"/>
              </a:ext>
            </a:extLst>
          </p:cNvPr>
          <p:cNvCxnSpPr/>
          <p:nvPr/>
        </p:nvCxnSpPr>
        <p:spPr>
          <a:xfrm>
            <a:off x="5728447" y="5053944"/>
            <a:ext cx="34334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F1193BB-58E9-419E-80A4-A27C38BBCA7D}"/>
              </a:ext>
            </a:extLst>
          </p:cNvPr>
          <p:cNvCxnSpPr/>
          <p:nvPr/>
        </p:nvCxnSpPr>
        <p:spPr>
          <a:xfrm>
            <a:off x="2893363" y="5134184"/>
            <a:ext cx="2835084" cy="0"/>
          </a:xfrm>
          <a:prstGeom prst="line">
            <a:avLst/>
          </a:prstGeom>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0BE6E738-CDFC-4956-B772-C628F821C4CA}"/>
              </a:ext>
            </a:extLst>
          </p:cNvPr>
          <p:cNvSpPr txBox="1"/>
          <p:nvPr/>
        </p:nvSpPr>
        <p:spPr>
          <a:xfrm>
            <a:off x="510986" y="3063864"/>
            <a:ext cx="2312894" cy="1600438"/>
          </a:xfrm>
          <a:prstGeom prst="rect">
            <a:avLst/>
          </a:prstGeom>
          <a:noFill/>
        </p:spPr>
        <p:txBody>
          <a:bodyPr wrap="square" rtlCol="0">
            <a:spAutoFit/>
          </a:bodyPr>
          <a:lstStyle/>
          <a:p>
            <a:r>
              <a:rPr lang="en-IN" sz="1400" b="1" dirty="0">
                <a:latin typeface="+mj-lt"/>
              </a:rPr>
              <a:t>Key Partners</a:t>
            </a:r>
          </a:p>
          <a:p>
            <a:pPr marL="285750" indent="-285750">
              <a:buFont typeface="Arial" panose="020B0604020202020204" pitchFamily="34" charset="0"/>
              <a:buChar char="•"/>
            </a:pPr>
            <a:r>
              <a:rPr lang="en-US" sz="1400" dirty="0"/>
              <a:t>UPI/Card payment gateways</a:t>
            </a:r>
          </a:p>
          <a:p>
            <a:pPr marL="285750" indent="-285750">
              <a:buFont typeface="Arial" panose="020B0604020202020204" pitchFamily="34" charset="0"/>
              <a:buChar char="•"/>
            </a:pPr>
            <a:r>
              <a:rPr lang="en-US" sz="1400" dirty="0"/>
              <a:t>Map &amp; routing providers</a:t>
            </a:r>
          </a:p>
          <a:p>
            <a:pPr marL="285750" indent="-285750">
              <a:buFont typeface="Arial" panose="020B0604020202020204" pitchFamily="34" charset="0"/>
              <a:buChar char="•"/>
            </a:pPr>
            <a:r>
              <a:rPr lang="en-US" sz="1400" dirty="0"/>
              <a:t>KYC/verification vendors</a:t>
            </a:r>
          </a:p>
          <a:p>
            <a:pPr marL="285750" indent="-285750">
              <a:buFont typeface="Arial" panose="020B0604020202020204" pitchFamily="34" charset="0"/>
              <a:buChar char="•"/>
            </a:pPr>
            <a:r>
              <a:rPr lang="en-US" sz="1400" dirty="0"/>
              <a:t>Corporate employers</a:t>
            </a:r>
          </a:p>
          <a:p>
            <a:pPr marL="285750" indent="-285750">
              <a:buFont typeface="Arial" panose="020B0604020202020204" pitchFamily="34" charset="0"/>
              <a:buChar char="•"/>
            </a:pPr>
            <a:r>
              <a:rPr lang="en-US" sz="1400" dirty="0"/>
              <a:t>Insurance partners </a:t>
            </a:r>
            <a:endParaRPr lang="en-IN" sz="1400" dirty="0"/>
          </a:p>
        </p:txBody>
      </p:sp>
      <p:cxnSp>
        <p:nvCxnSpPr>
          <p:cNvPr id="49" name="Straight Connector 48">
            <a:extLst>
              <a:ext uri="{FF2B5EF4-FFF2-40B4-BE49-F238E27FC236}">
                <a16:creationId xmlns:a16="http://schemas.microsoft.com/office/drawing/2014/main" id="{F0242779-C617-4D29-B8B2-C55816F4EEDB}"/>
              </a:ext>
            </a:extLst>
          </p:cNvPr>
          <p:cNvCxnSpPr/>
          <p:nvPr/>
        </p:nvCxnSpPr>
        <p:spPr>
          <a:xfrm>
            <a:off x="412374" y="4664302"/>
            <a:ext cx="2492191" cy="0"/>
          </a:xfrm>
          <a:prstGeom prst="line">
            <a:avLst/>
          </a:prstGeom>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DC2674FF-F985-49A4-885B-34BA4C41354A}"/>
              </a:ext>
            </a:extLst>
          </p:cNvPr>
          <p:cNvSpPr txBox="1"/>
          <p:nvPr/>
        </p:nvSpPr>
        <p:spPr>
          <a:xfrm>
            <a:off x="515473" y="4783021"/>
            <a:ext cx="2306171" cy="1600438"/>
          </a:xfrm>
          <a:prstGeom prst="rect">
            <a:avLst/>
          </a:prstGeom>
          <a:noFill/>
        </p:spPr>
        <p:txBody>
          <a:bodyPr wrap="square" rtlCol="0">
            <a:spAutoFit/>
          </a:bodyPr>
          <a:lstStyle/>
          <a:p>
            <a:r>
              <a:rPr lang="en-IN" sz="1400" b="1" dirty="0">
                <a:latin typeface="+mj-lt"/>
              </a:rPr>
              <a:t>Cost Structure</a:t>
            </a:r>
          </a:p>
          <a:p>
            <a:pPr marL="285750" indent="-285750">
              <a:buFont typeface="Arial" panose="020B0604020202020204" pitchFamily="34" charset="0"/>
              <a:buChar char="•"/>
            </a:pPr>
            <a:r>
              <a:rPr lang="en-IN" sz="1400" dirty="0"/>
              <a:t>Cloud &amp; map API costs</a:t>
            </a:r>
          </a:p>
          <a:p>
            <a:pPr marL="285750" indent="-285750">
              <a:buFont typeface="Arial" panose="020B0604020202020204" pitchFamily="34" charset="0"/>
              <a:buChar char="•"/>
            </a:pPr>
            <a:r>
              <a:rPr lang="en-IN" sz="1400" dirty="0"/>
              <a:t>Support &amp; operations team</a:t>
            </a:r>
          </a:p>
          <a:p>
            <a:pPr marL="285750" indent="-285750">
              <a:buFont typeface="Arial" panose="020B0604020202020204" pitchFamily="34" charset="0"/>
              <a:buChar char="•"/>
            </a:pPr>
            <a:r>
              <a:rPr lang="en-IN" sz="1400" dirty="0"/>
              <a:t>Driver incentives</a:t>
            </a:r>
          </a:p>
          <a:p>
            <a:pPr marL="285750" indent="-285750">
              <a:buFont typeface="Arial" panose="020B0604020202020204" pitchFamily="34" charset="0"/>
              <a:buChar char="•"/>
            </a:pPr>
            <a:r>
              <a:rPr lang="en-IN" sz="1400" dirty="0"/>
              <a:t>Marketing &amp; acquisition</a:t>
            </a:r>
          </a:p>
          <a:p>
            <a:pPr marL="285750" indent="-285750">
              <a:buFont typeface="Arial" panose="020B0604020202020204" pitchFamily="34" charset="0"/>
              <a:buChar char="•"/>
            </a:pPr>
            <a:r>
              <a:rPr lang="en-IN" sz="1400" dirty="0"/>
              <a:t>Compliance &amp; insurance</a:t>
            </a:r>
          </a:p>
        </p:txBody>
      </p:sp>
      <p:sp>
        <p:nvSpPr>
          <p:cNvPr id="51" name="TextBox 50">
            <a:extLst>
              <a:ext uri="{FF2B5EF4-FFF2-40B4-BE49-F238E27FC236}">
                <a16:creationId xmlns:a16="http://schemas.microsoft.com/office/drawing/2014/main" id="{8875AD6D-8AE6-486A-9A76-2CF84C02CA41}"/>
              </a:ext>
            </a:extLst>
          </p:cNvPr>
          <p:cNvSpPr txBox="1"/>
          <p:nvPr/>
        </p:nvSpPr>
        <p:spPr>
          <a:xfrm>
            <a:off x="3110753" y="5099277"/>
            <a:ext cx="2438397" cy="1384995"/>
          </a:xfrm>
          <a:prstGeom prst="rect">
            <a:avLst/>
          </a:prstGeom>
          <a:noFill/>
        </p:spPr>
        <p:txBody>
          <a:bodyPr wrap="square" rtlCol="0">
            <a:spAutoFit/>
          </a:bodyPr>
          <a:lstStyle/>
          <a:p>
            <a:r>
              <a:rPr lang="en-IN" sz="1400" b="1" dirty="0">
                <a:latin typeface="+mj-lt"/>
              </a:rPr>
              <a:t>Key Resources / IP</a:t>
            </a:r>
          </a:p>
          <a:p>
            <a:pPr marL="285750" indent="-285750">
              <a:buFont typeface="Arial" panose="020B0604020202020204" pitchFamily="34" charset="0"/>
              <a:buChar char="•"/>
            </a:pPr>
            <a:r>
              <a:rPr lang="en-US" sz="1400" dirty="0"/>
              <a:t>Matching algorithm</a:t>
            </a:r>
          </a:p>
          <a:p>
            <a:pPr marL="285750" indent="-285750">
              <a:buFont typeface="Arial" panose="020B0604020202020204" pitchFamily="34" charset="0"/>
              <a:buChar char="•"/>
            </a:pPr>
            <a:r>
              <a:rPr lang="en-US" sz="1400" dirty="0"/>
              <a:t>Routing + ETA engine</a:t>
            </a:r>
          </a:p>
          <a:p>
            <a:pPr marL="285750" indent="-285750">
              <a:buFont typeface="Arial" panose="020B0604020202020204" pitchFamily="34" charset="0"/>
              <a:buChar char="•"/>
            </a:pPr>
            <a:r>
              <a:rPr lang="en-US" sz="1400" dirty="0"/>
              <a:t>Safety &amp; SOS stack</a:t>
            </a:r>
          </a:p>
          <a:p>
            <a:pPr marL="285750" indent="-285750">
              <a:buFont typeface="Arial" panose="020B0604020202020204" pitchFamily="34" charset="0"/>
              <a:buChar char="•"/>
            </a:pPr>
            <a:r>
              <a:rPr lang="en-US" sz="1400" dirty="0"/>
              <a:t>Operations dashboards</a:t>
            </a:r>
          </a:p>
          <a:p>
            <a:pPr marL="285750" indent="-285750">
              <a:buFont typeface="Arial" panose="020B0604020202020204" pitchFamily="34" charset="0"/>
              <a:buChar char="•"/>
            </a:pPr>
            <a:r>
              <a:rPr lang="en-US" sz="1400" dirty="0"/>
              <a:t>Driver scoring models </a:t>
            </a:r>
            <a:endParaRPr lang="en-IN" sz="1400" dirty="0"/>
          </a:p>
        </p:txBody>
      </p:sp>
      <p:sp>
        <p:nvSpPr>
          <p:cNvPr id="52" name="TextBox 51">
            <a:extLst>
              <a:ext uri="{FF2B5EF4-FFF2-40B4-BE49-F238E27FC236}">
                <a16:creationId xmlns:a16="http://schemas.microsoft.com/office/drawing/2014/main" id="{252B46BB-9A0E-448D-8584-E264D1B02C37}"/>
              </a:ext>
            </a:extLst>
          </p:cNvPr>
          <p:cNvSpPr txBox="1"/>
          <p:nvPr/>
        </p:nvSpPr>
        <p:spPr>
          <a:xfrm>
            <a:off x="5857178" y="5079665"/>
            <a:ext cx="3249706" cy="1384995"/>
          </a:xfrm>
          <a:prstGeom prst="rect">
            <a:avLst/>
          </a:prstGeom>
          <a:noFill/>
        </p:spPr>
        <p:txBody>
          <a:bodyPr wrap="square" rtlCol="0">
            <a:spAutoFit/>
          </a:bodyPr>
          <a:lstStyle/>
          <a:p>
            <a:r>
              <a:rPr lang="en-IN" sz="1400" b="1" dirty="0">
                <a:latin typeface="+mj-lt"/>
              </a:rPr>
              <a:t>Risks / Concerns</a:t>
            </a:r>
          </a:p>
          <a:p>
            <a:pPr marL="285750" indent="-285750">
              <a:buFont typeface="Arial" panose="020B0604020202020204" pitchFamily="34" charset="0"/>
              <a:buChar char="•"/>
            </a:pPr>
            <a:r>
              <a:rPr lang="en-US" sz="1400" dirty="0"/>
              <a:t>Strong competition</a:t>
            </a:r>
          </a:p>
          <a:p>
            <a:pPr marL="285750" indent="-285750">
              <a:buFont typeface="Arial" panose="020B0604020202020204" pitchFamily="34" charset="0"/>
              <a:buChar char="•"/>
            </a:pPr>
            <a:r>
              <a:rPr lang="en-US" sz="1400" dirty="0"/>
              <a:t>Driver churn</a:t>
            </a:r>
          </a:p>
          <a:p>
            <a:pPr marL="285750" indent="-285750">
              <a:buFont typeface="Arial" panose="020B0604020202020204" pitchFamily="34" charset="0"/>
              <a:buChar char="•"/>
            </a:pPr>
            <a:r>
              <a:rPr lang="en-US" sz="1400" dirty="0"/>
              <a:t>Safety incidents</a:t>
            </a:r>
          </a:p>
          <a:p>
            <a:pPr marL="285750" indent="-285750">
              <a:buFont typeface="Arial" panose="020B0604020202020204" pitchFamily="34" charset="0"/>
              <a:buChar char="•"/>
            </a:pPr>
            <a:r>
              <a:rPr lang="en-US" sz="1400" dirty="0"/>
              <a:t>Regulatory caps</a:t>
            </a:r>
          </a:p>
          <a:p>
            <a:pPr marL="285750" indent="-285750">
              <a:buFont typeface="Arial" panose="020B0604020202020204" pitchFamily="34" charset="0"/>
              <a:buChar char="•"/>
            </a:pPr>
            <a:r>
              <a:rPr lang="en-US" sz="1400" dirty="0"/>
              <a:t>Map API cost spikes</a:t>
            </a:r>
            <a:endParaRPr lang="en-IN" sz="1400" dirty="0"/>
          </a:p>
        </p:txBody>
      </p:sp>
    </p:spTree>
    <p:extLst>
      <p:ext uri="{BB962C8B-B14F-4D97-AF65-F5344CB8AC3E}">
        <p14:creationId xmlns:p14="http://schemas.microsoft.com/office/powerpoint/2010/main" val="41321475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4F88F8-17E5-45E3-77B1-77FACD99FF63}"/>
              </a:ext>
            </a:extLst>
          </p:cNvPr>
          <p:cNvSpPr>
            <a:spLocks noGrp="1"/>
          </p:cNvSpPr>
          <p:nvPr>
            <p:ph type="title"/>
          </p:nvPr>
        </p:nvSpPr>
        <p:spPr>
          <a:xfrm>
            <a:off x="914400" y="582705"/>
            <a:ext cx="10360152" cy="914400"/>
          </a:xfrm>
        </p:spPr>
        <p:txBody>
          <a:bodyPr/>
          <a:lstStyle/>
          <a:p>
            <a:r>
              <a:rPr lang="en-US" sz="4400" dirty="0"/>
              <a:t>User feedback integration</a:t>
            </a:r>
          </a:p>
        </p:txBody>
      </p:sp>
      <p:graphicFrame>
        <p:nvGraphicFramePr>
          <p:cNvPr id="8" name="Content Placeholder 4">
            <a:extLst>
              <a:ext uri="{FF2B5EF4-FFF2-40B4-BE49-F238E27FC236}">
                <a16:creationId xmlns:a16="http://schemas.microsoft.com/office/drawing/2014/main" id="{5B6855E3-2188-20C8-4DD6-E45BC792C983}"/>
              </a:ext>
            </a:extLst>
          </p:cNvPr>
          <p:cNvGraphicFramePr>
            <a:graphicFrameLocks noGrp="1"/>
          </p:cNvGraphicFramePr>
          <p:nvPr>
            <p:ph type="tbl" sz="quarter" idx="14"/>
            <p:extLst>
              <p:ext uri="{D42A27DB-BD31-4B8C-83A1-F6EECF244321}">
                <p14:modId xmlns:p14="http://schemas.microsoft.com/office/powerpoint/2010/main" val="2917702344"/>
              </p:ext>
            </p:extLst>
          </p:nvPr>
        </p:nvGraphicFramePr>
        <p:xfrm>
          <a:off x="800817" y="1868021"/>
          <a:ext cx="10587318" cy="4562206"/>
        </p:xfrm>
        <a:graphic>
          <a:graphicData uri="http://schemas.openxmlformats.org/drawingml/2006/table">
            <a:tbl>
              <a:tblPr firstRow="1" bandRow="1">
                <a:tableStyleId>{C4B1156A-380E-4F78-BDF5-A606A8083BF9}</a:tableStyleId>
              </a:tblPr>
              <a:tblGrid>
                <a:gridCol w="4464423">
                  <a:extLst>
                    <a:ext uri="{9D8B030D-6E8A-4147-A177-3AD203B41FA5}">
                      <a16:colId xmlns:a16="http://schemas.microsoft.com/office/drawing/2014/main" val="1689330750"/>
                    </a:ext>
                  </a:extLst>
                </a:gridCol>
                <a:gridCol w="6122895">
                  <a:extLst>
                    <a:ext uri="{9D8B030D-6E8A-4147-A177-3AD203B41FA5}">
                      <a16:colId xmlns:a16="http://schemas.microsoft.com/office/drawing/2014/main" val="2660631934"/>
                    </a:ext>
                  </a:extLst>
                </a:gridCol>
              </a:tblGrid>
              <a:tr h="650423">
                <a:tc>
                  <a:txBody>
                    <a:bodyPr/>
                    <a:lstStyle/>
                    <a:p>
                      <a:r>
                        <a:rPr lang="en-US" sz="2000" b="1" dirty="0">
                          <a:solidFill>
                            <a:schemeClr val="tx1"/>
                          </a:solidFill>
                          <a:latin typeface="+mj-lt"/>
                        </a:rPr>
                        <a:t>What</a:t>
                      </a:r>
                    </a:p>
                  </a:txBody>
                  <a:tcPr anchor="ctr"/>
                </a:tc>
                <a:tc>
                  <a:txBody>
                    <a:bodyPr/>
                    <a:lstStyle/>
                    <a:p>
                      <a:r>
                        <a:rPr lang="en-IN" sz="2000" b="1" dirty="0">
                          <a:latin typeface="+mj-lt"/>
                        </a:rPr>
                        <a:t>Simple Explanation </a:t>
                      </a:r>
                      <a:endParaRPr lang="en-US" sz="2000" b="1" dirty="0">
                        <a:solidFill>
                          <a:schemeClr val="tx1"/>
                        </a:solidFill>
                        <a:latin typeface="+mj-lt"/>
                      </a:endParaRPr>
                    </a:p>
                  </a:txBody>
                  <a:tcPr anchor="ctr"/>
                </a:tc>
                <a:extLst>
                  <a:ext uri="{0D108BD9-81ED-4DB2-BD59-A6C34878D82A}">
                    <a16:rowId xmlns:a16="http://schemas.microsoft.com/office/drawing/2014/main" val="479928716"/>
                  </a:ext>
                </a:extLst>
              </a:tr>
              <a:tr h="650423">
                <a:tc>
                  <a:txBody>
                    <a:bodyPr/>
                    <a:lstStyle/>
                    <a:p>
                      <a:r>
                        <a:rPr lang="en-IN" sz="1400" dirty="0"/>
                        <a:t>How We Collect Feedback</a:t>
                      </a:r>
                      <a:endParaRPr lang="en-US" sz="1400" b="0" dirty="0">
                        <a:solidFill>
                          <a:schemeClr val="tx1"/>
                        </a:solidFill>
                      </a:endParaRPr>
                    </a:p>
                  </a:txBody>
                  <a:tcPr anchor="ctr"/>
                </a:tc>
                <a:tc>
                  <a:txBody>
                    <a:bodyPr/>
                    <a:lstStyle/>
                    <a:p>
                      <a:pPr marL="285750" indent="-285750">
                        <a:buFont typeface="Arial" panose="020B0604020202020204" pitchFamily="34" charset="0"/>
                        <a:buChar char="•"/>
                      </a:pPr>
                      <a:r>
                        <a:rPr lang="en-US" sz="1400" dirty="0"/>
                        <a:t>Ask for rating after every ride</a:t>
                      </a:r>
                    </a:p>
                    <a:p>
                      <a:pPr marL="285750" indent="-285750">
                        <a:buFont typeface="Arial" panose="020B0604020202020204" pitchFamily="34" charset="0"/>
                        <a:buChar char="•"/>
                      </a:pPr>
                      <a:r>
                        <a:rPr lang="en-US" sz="1400" dirty="0"/>
                        <a:t>Let users choose quick reasons (e.g., “Driver was polite”, “Cab was late”) </a:t>
                      </a:r>
                    </a:p>
                    <a:p>
                      <a:pPr marL="285750" indent="-285750">
                        <a:buFont typeface="Arial" panose="020B0604020202020204" pitchFamily="34" charset="0"/>
                        <a:buChar char="•"/>
                      </a:pPr>
                      <a:r>
                        <a:rPr lang="en-US" sz="1400" dirty="0"/>
                        <a:t>Allow short comments </a:t>
                      </a:r>
                    </a:p>
                    <a:p>
                      <a:pPr marL="285750" indent="-285750">
                        <a:buFont typeface="Arial" panose="020B0604020202020204" pitchFamily="34" charset="0"/>
                        <a:buChar char="•"/>
                      </a:pPr>
                      <a:r>
                        <a:rPr lang="en-US" sz="1400" dirty="0"/>
                        <a:t>Small surveys sometimes</a:t>
                      </a:r>
                    </a:p>
                    <a:p>
                      <a:pPr marL="285750" indent="-285750">
                        <a:buFont typeface="Arial" panose="020B0604020202020204" pitchFamily="34" charset="0"/>
                        <a:buChar char="•"/>
                      </a:pPr>
                      <a:r>
                        <a:rPr lang="en-US" sz="1400" dirty="0"/>
                        <a:t>Support messages from chat/email</a:t>
                      </a:r>
                    </a:p>
                    <a:p>
                      <a:pPr marL="285750" indent="-285750">
                        <a:buFont typeface="Arial" panose="020B0604020202020204" pitchFamily="34" charset="0"/>
                        <a:buChar char="•"/>
                      </a:pPr>
                      <a:r>
                        <a:rPr lang="en-US" sz="1400" dirty="0"/>
                        <a:t>App Store reviews </a:t>
                      </a:r>
                      <a:endParaRPr lang="en-US" sz="1400" b="0" dirty="0">
                        <a:solidFill>
                          <a:schemeClr val="tx1"/>
                        </a:solidFill>
                      </a:endParaRPr>
                    </a:p>
                  </a:txBody>
                  <a:tcPr anchor="ctr"/>
                </a:tc>
                <a:extLst>
                  <a:ext uri="{0D108BD9-81ED-4DB2-BD59-A6C34878D82A}">
                    <a16:rowId xmlns:a16="http://schemas.microsoft.com/office/drawing/2014/main" val="1760208656"/>
                  </a:ext>
                </a:extLst>
              </a:tr>
              <a:tr h="650423">
                <a:tc>
                  <a:txBody>
                    <a:bodyPr/>
                    <a:lstStyle/>
                    <a:p>
                      <a:r>
                        <a:rPr lang="en-IN" sz="1400" dirty="0"/>
                        <a:t>How Feedback Is Organized</a:t>
                      </a:r>
                      <a:endParaRPr lang="en-US" sz="1400" b="0" dirty="0">
                        <a:solidFill>
                          <a:schemeClr val="tx1"/>
                        </a:solidFill>
                      </a:endParaRPr>
                    </a:p>
                  </a:txBody>
                  <a:tcPr anchor="ctr"/>
                </a:tc>
                <a:tc>
                  <a:txBody>
                    <a:bodyPr/>
                    <a:lstStyle/>
                    <a:p>
                      <a:pPr marL="285750" indent="-285750">
                        <a:buFont typeface="Arial" panose="020B0604020202020204" pitchFamily="34" charset="0"/>
                        <a:buChar char="•"/>
                      </a:pPr>
                      <a:r>
                        <a:rPr lang="en-US" sz="1400" dirty="0"/>
                        <a:t>All feedback stored in one place</a:t>
                      </a:r>
                    </a:p>
                    <a:p>
                      <a:pPr marL="285750" indent="-285750">
                        <a:buFont typeface="Arial" panose="020B0604020202020204" pitchFamily="34" charset="0"/>
                        <a:buChar char="•"/>
                      </a:pPr>
                      <a:r>
                        <a:rPr lang="en-US" sz="1400" dirty="0"/>
                        <a:t>Grouped by type: bugs, design issues, safety, driver behavior </a:t>
                      </a:r>
                      <a:endParaRPr lang="en-US" sz="1400" b="0" dirty="0">
                        <a:solidFill>
                          <a:schemeClr val="tx1"/>
                        </a:solidFill>
                      </a:endParaRPr>
                    </a:p>
                  </a:txBody>
                  <a:tcPr anchor="ctr"/>
                </a:tc>
                <a:extLst>
                  <a:ext uri="{0D108BD9-81ED-4DB2-BD59-A6C34878D82A}">
                    <a16:rowId xmlns:a16="http://schemas.microsoft.com/office/drawing/2014/main" val="3634243071"/>
                  </a:ext>
                </a:extLst>
              </a:tr>
              <a:tr h="650423">
                <a:tc>
                  <a:txBody>
                    <a:bodyPr/>
                    <a:lstStyle/>
                    <a:p>
                      <a:r>
                        <a:rPr lang="en-US" sz="1400" dirty="0"/>
                        <a:t>How Feedback Goes Into Development </a:t>
                      </a:r>
                      <a:endParaRPr lang="en-US" sz="1400" b="0" dirty="0">
                        <a:solidFill>
                          <a:schemeClr val="tx1"/>
                        </a:solidFill>
                      </a:endParaRPr>
                    </a:p>
                  </a:txBody>
                  <a:tcPr anchor="ctr"/>
                </a:tc>
                <a:tc>
                  <a:txBody>
                    <a:bodyPr/>
                    <a:lstStyle/>
                    <a:p>
                      <a:pPr marL="285750" indent="-285750">
                        <a:buFont typeface="Arial" panose="020B0604020202020204" pitchFamily="34" charset="0"/>
                        <a:buChar char="•"/>
                      </a:pPr>
                      <a:r>
                        <a:rPr lang="en-US" sz="1400" dirty="0"/>
                        <a:t>Safety issues sent to Operations team immediately</a:t>
                      </a:r>
                    </a:p>
                    <a:p>
                      <a:pPr marL="285750" indent="-285750">
                        <a:buFont typeface="Arial" panose="020B0604020202020204" pitchFamily="34" charset="0"/>
                        <a:buChar char="•"/>
                      </a:pPr>
                      <a:r>
                        <a:rPr lang="en-US" sz="1400" dirty="0"/>
                        <a:t>Repeated problems added to upcoming sprints</a:t>
                      </a:r>
                    </a:p>
                    <a:p>
                      <a:pPr marL="285750" indent="-285750">
                        <a:buFont typeface="Arial" panose="020B0604020202020204" pitchFamily="34" charset="0"/>
                        <a:buChar char="•"/>
                      </a:pPr>
                      <a:r>
                        <a:rPr lang="en-US" sz="1400" dirty="0"/>
                        <a:t>Developers fix highest-impact issues first </a:t>
                      </a:r>
                      <a:endParaRPr lang="en-US" sz="1400" b="0" dirty="0">
                        <a:solidFill>
                          <a:schemeClr val="tx1"/>
                        </a:solidFill>
                      </a:endParaRPr>
                    </a:p>
                  </a:txBody>
                  <a:tcPr anchor="ctr"/>
                </a:tc>
                <a:extLst>
                  <a:ext uri="{0D108BD9-81ED-4DB2-BD59-A6C34878D82A}">
                    <a16:rowId xmlns:a16="http://schemas.microsoft.com/office/drawing/2014/main" val="415808797"/>
                  </a:ext>
                </a:extLst>
              </a:tr>
              <a:tr h="650423">
                <a:tc>
                  <a:txBody>
                    <a:bodyPr/>
                    <a:lstStyle/>
                    <a:p>
                      <a:r>
                        <a:rPr lang="en-IN" sz="1400" dirty="0"/>
                        <a:t>How We Improve Continuously </a:t>
                      </a:r>
                      <a:endParaRPr lang="en-US" sz="1400" b="0" dirty="0">
                        <a:solidFill>
                          <a:schemeClr val="tx1"/>
                        </a:solidFill>
                      </a:endParaRPr>
                    </a:p>
                  </a:txBody>
                  <a:tcPr anchor="ctr"/>
                </a:tc>
                <a:tc>
                  <a:txBody>
                    <a:bodyPr/>
                    <a:lstStyle/>
                    <a:p>
                      <a:pPr marL="285750" indent="-285750">
                        <a:buFont typeface="Arial" panose="020B0604020202020204" pitchFamily="34" charset="0"/>
                        <a:buChar char="•"/>
                      </a:pPr>
                      <a:r>
                        <a:rPr lang="en-US" sz="1400" dirty="0"/>
                        <a:t>Weekly review of top complaints</a:t>
                      </a:r>
                    </a:p>
                    <a:p>
                      <a:pPr marL="285750" indent="-285750">
                        <a:buFont typeface="Arial" panose="020B0604020202020204" pitchFamily="34" charset="0"/>
                        <a:buChar char="•"/>
                      </a:pPr>
                      <a:r>
                        <a:rPr lang="en-US" sz="1400" dirty="0"/>
                        <a:t>Fix repeated issues quickly</a:t>
                      </a:r>
                    </a:p>
                    <a:p>
                      <a:pPr marL="285750" indent="-285750">
                        <a:buFont typeface="Arial" panose="020B0604020202020204" pitchFamily="34" charset="0"/>
                        <a:buChar char="•"/>
                      </a:pPr>
                      <a:r>
                        <a:rPr lang="en-US" sz="1400" dirty="0"/>
                        <a:t>Use feedback to help drivers improve</a:t>
                      </a:r>
                    </a:p>
                    <a:p>
                      <a:pPr marL="285750" indent="-285750">
                        <a:buFont typeface="Arial" panose="020B0604020202020204" pitchFamily="34" charset="0"/>
                        <a:buChar char="•"/>
                      </a:pPr>
                      <a:r>
                        <a:rPr lang="en-US" sz="1400" dirty="0"/>
                        <a:t>Update app features where users struggle</a:t>
                      </a:r>
                    </a:p>
                    <a:p>
                      <a:pPr marL="285750" indent="-285750">
                        <a:buFont typeface="Arial" panose="020B0604020202020204" pitchFamily="34" charset="0"/>
                        <a:buChar char="•"/>
                      </a:pPr>
                      <a:r>
                        <a:rPr lang="en-US" sz="1400" dirty="0"/>
                        <a:t>Inform users when improvements are made</a:t>
                      </a:r>
                      <a:endParaRPr lang="en-US" sz="1400" b="0" dirty="0">
                        <a:solidFill>
                          <a:schemeClr val="tx1"/>
                        </a:solidFill>
                      </a:endParaRPr>
                    </a:p>
                  </a:txBody>
                  <a:tcPr anchor="ctr"/>
                </a:tc>
                <a:extLst>
                  <a:ext uri="{0D108BD9-81ED-4DB2-BD59-A6C34878D82A}">
                    <a16:rowId xmlns:a16="http://schemas.microsoft.com/office/drawing/2014/main" val="3150194648"/>
                  </a:ext>
                </a:extLst>
              </a:tr>
            </a:tbl>
          </a:graphicData>
        </a:graphic>
      </p:graphicFrame>
    </p:spTree>
    <p:extLst>
      <p:ext uri="{BB962C8B-B14F-4D97-AF65-F5344CB8AC3E}">
        <p14:creationId xmlns:p14="http://schemas.microsoft.com/office/powerpoint/2010/main" val="3064996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4F88F8-17E5-45E3-77B1-77FACD99FF63}"/>
              </a:ext>
            </a:extLst>
          </p:cNvPr>
          <p:cNvSpPr>
            <a:spLocks noGrp="1"/>
          </p:cNvSpPr>
          <p:nvPr>
            <p:ph type="title"/>
          </p:nvPr>
        </p:nvSpPr>
        <p:spPr>
          <a:xfrm>
            <a:off x="796338" y="412375"/>
            <a:ext cx="10360152" cy="699248"/>
          </a:xfrm>
        </p:spPr>
        <p:txBody>
          <a:bodyPr/>
          <a:lstStyle/>
          <a:p>
            <a:r>
              <a:rPr lang="en-US" sz="4000" dirty="0"/>
              <a:t>Sprint planning</a:t>
            </a:r>
          </a:p>
        </p:txBody>
      </p:sp>
      <p:graphicFrame>
        <p:nvGraphicFramePr>
          <p:cNvPr id="6" name="Google Shape;54;p13">
            <a:extLst>
              <a:ext uri="{FF2B5EF4-FFF2-40B4-BE49-F238E27FC236}">
                <a16:creationId xmlns:a16="http://schemas.microsoft.com/office/drawing/2014/main" id="{C8A2998D-7A99-4A78-9C05-504B63034CAB}"/>
              </a:ext>
            </a:extLst>
          </p:cNvPr>
          <p:cNvGraphicFramePr/>
          <p:nvPr>
            <p:extLst>
              <p:ext uri="{D42A27DB-BD31-4B8C-83A1-F6EECF244321}">
                <p14:modId xmlns:p14="http://schemas.microsoft.com/office/powerpoint/2010/main" val="2922246050"/>
              </p:ext>
            </p:extLst>
          </p:nvPr>
        </p:nvGraphicFramePr>
        <p:xfrm>
          <a:off x="645459" y="1434353"/>
          <a:ext cx="11017623" cy="5253583"/>
        </p:xfrm>
        <a:graphic>
          <a:graphicData uri="http://schemas.openxmlformats.org/drawingml/2006/table">
            <a:tbl>
              <a:tblPr>
                <a:noFill/>
              </a:tblPr>
              <a:tblGrid>
                <a:gridCol w="1218585">
                  <a:extLst>
                    <a:ext uri="{9D8B030D-6E8A-4147-A177-3AD203B41FA5}">
                      <a16:colId xmlns:a16="http://schemas.microsoft.com/office/drawing/2014/main" val="20000"/>
                    </a:ext>
                  </a:extLst>
                </a:gridCol>
                <a:gridCol w="1396684">
                  <a:extLst>
                    <a:ext uri="{9D8B030D-6E8A-4147-A177-3AD203B41FA5}">
                      <a16:colId xmlns:a16="http://schemas.microsoft.com/office/drawing/2014/main" val="20001"/>
                    </a:ext>
                  </a:extLst>
                </a:gridCol>
                <a:gridCol w="1602908">
                  <a:extLst>
                    <a:ext uri="{9D8B030D-6E8A-4147-A177-3AD203B41FA5}">
                      <a16:colId xmlns:a16="http://schemas.microsoft.com/office/drawing/2014/main" val="20002"/>
                    </a:ext>
                  </a:extLst>
                </a:gridCol>
                <a:gridCol w="1602908">
                  <a:extLst>
                    <a:ext uri="{9D8B030D-6E8A-4147-A177-3AD203B41FA5}">
                      <a16:colId xmlns:a16="http://schemas.microsoft.com/office/drawing/2014/main" val="20003"/>
                    </a:ext>
                  </a:extLst>
                </a:gridCol>
                <a:gridCol w="2090341">
                  <a:extLst>
                    <a:ext uri="{9D8B030D-6E8A-4147-A177-3AD203B41FA5}">
                      <a16:colId xmlns:a16="http://schemas.microsoft.com/office/drawing/2014/main" val="20004"/>
                    </a:ext>
                  </a:extLst>
                </a:gridCol>
                <a:gridCol w="1277453">
                  <a:extLst>
                    <a:ext uri="{9D8B030D-6E8A-4147-A177-3AD203B41FA5}">
                      <a16:colId xmlns:a16="http://schemas.microsoft.com/office/drawing/2014/main" val="20005"/>
                    </a:ext>
                  </a:extLst>
                </a:gridCol>
                <a:gridCol w="1828744">
                  <a:extLst>
                    <a:ext uri="{9D8B030D-6E8A-4147-A177-3AD203B41FA5}">
                      <a16:colId xmlns:a16="http://schemas.microsoft.com/office/drawing/2014/main" val="20006"/>
                    </a:ext>
                  </a:extLst>
                </a:gridCol>
              </a:tblGrid>
              <a:tr h="404248">
                <a:tc>
                  <a:txBody>
                    <a:bodyPr/>
                    <a:lstStyle/>
                    <a:p>
                      <a:pPr marL="0" lvl="0" indent="0" algn="ctr" rtl="0">
                        <a:lnSpc>
                          <a:spcPct val="115000"/>
                        </a:lnSpc>
                        <a:spcBef>
                          <a:spcPts val="0"/>
                        </a:spcBef>
                        <a:spcAft>
                          <a:spcPts val="0"/>
                        </a:spcAft>
                        <a:buNone/>
                      </a:pPr>
                      <a:r>
                        <a:rPr lang="en" sz="1800" b="1" dirty="0">
                          <a:latin typeface="+mj-lt"/>
                        </a:rPr>
                        <a:t>Sprint</a:t>
                      </a:r>
                      <a:endParaRPr sz="1800" b="1" dirty="0">
                        <a:latin typeface="+mj-lt"/>
                      </a:endParaRPr>
                    </a:p>
                  </a:txBody>
                  <a:tcPr marL="91425" marR="91425" marT="91425" marB="91425">
                    <a:solidFill>
                      <a:schemeClr val="bg1"/>
                    </a:solidFill>
                  </a:tcPr>
                </a:tc>
                <a:tc>
                  <a:txBody>
                    <a:bodyPr/>
                    <a:lstStyle/>
                    <a:p>
                      <a:pPr marL="0" lvl="0" indent="0" algn="ctr" rtl="0">
                        <a:lnSpc>
                          <a:spcPct val="115000"/>
                        </a:lnSpc>
                        <a:spcBef>
                          <a:spcPts val="0"/>
                        </a:spcBef>
                        <a:spcAft>
                          <a:spcPts val="0"/>
                        </a:spcAft>
                        <a:buNone/>
                      </a:pPr>
                      <a:r>
                        <a:rPr lang="en" sz="1800" b="1" dirty="0">
                          <a:latin typeface="+mj-lt"/>
                        </a:rPr>
                        <a:t>Timeline </a:t>
                      </a:r>
                      <a:endParaRPr sz="1800" b="1" dirty="0">
                        <a:latin typeface="+mj-lt"/>
                      </a:endParaRPr>
                    </a:p>
                  </a:txBody>
                  <a:tcPr marL="91425" marR="91425" marT="91425" marB="91425">
                    <a:solidFill>
                      <a:schemeClr val="bg1"/>
                    </a:solidFill>
                  </a:tcPr>
                </a:tc>
                <a:tc>
                  <a:txBody>
                    <a:bodyPr/>
                    <a:lstStyle/>
                    <a:p>
                      <a:pPr marL="0" lvl="0" indent="0" algn="ctr" rtl="0">
                        <a:lnSpc>
                          <a:spcPct val="115000"/>
                        </a:lnSpc>
                        <a:spcBef>
                          <a:spcPts val="0"/>
                        </a:spcBef>
                        <a:spcAft>
                          <a:spcPts val="0"/>
                        </a:spcAft>
                        <a:buNone/>
                      </a:pPr>
                      <a:r>
                        <a:rPr lang="en" sz="1800" b="1" dirty="0">
                          <a:latin typeface="+mj-lt"/>
                        </a:rPr>
                        <a:t>Epic</a:t>
                      </a:r>
                      <a:endParaRPr sz="1800" b="1" dirty="0">
                        <a:latin typeface="+mj-lt"/>
                      </a:endParaRPr>
                    </a:p>
                  </a:txBody>
                  <a:tcPr marL="91425" marR="91425" marT="91425" marB="91425">
                    <a:solidFill>
                      <a:schemeClr val="bg1"/>
                    </a:solidFill>
                  </a:tcPr>
                </a:tc>
                <a:tc>
                  <a:txBody>
                    <a:bodyPr/>
                    <a:lstStyle/>
                    <a:p>
                      <a:pPr marL="0" lvl="0" indent="0" algn="ctr" rtl="0">
                        <a:lnSpc>
                          <a:spcPct val="115000"/>
                        </a:lnSpc>
                        <a:spcBef>
                          <a:spcPts val="0"/>
                        </a:spcBef>
                        <a:spcAft>
                          <a:spcPts val="0"/>
                        </a:spcAft>
                        <a:buNone/>
                      </a:pPr>
                      <a:r>
                        <a:rPr lang="en" sz="1800" b="1" dirty="0">
                          <a:latin typeface="+mj-lt"/>
                        </a:rPr>
                        <a:t>User Story</a:t>
                      </a:r>
                      <a:endParaRPr sz="1800" b="1" dirty="0">
                        <a:latin typeface="+mj-lt"/>
                      </a:endParaRPr>
                    </a:p>
                  </a:txBody>
                  <a:tcPr marL="91425" marR="91425" marT="91425" marB="91425">
                    <a:solidFill>
                      <a:schemeClr val="bg1"/>
                    </a:solidFill>
                  </a:tcPr>
                </a:tc>
                <a:tc>
                  <a:txBody>
                    <a:bodyPr/>
                    <a:lstStyle/>
                    <a:p>
                      <a:pPr marL="0" lvl="0" indent="0" algn="ctr" rtl="0">
                        <a:lnSpc>
                          <a:spcPct val="115000"/>
                        </a:lnSpc>
                        <a:spcBef>
                          <a:spcPts val="0"/>
                        </a:spcBef>
                        <a:spcAft>
                          <a:spcPts val="0"/>
                        </a:spcAft>
                        <a:buNone/>
                      </a:pPr>
                      <a:r>
                        <a:rPr lang="en" sz="1800" b="1" dirty="0">
                          <a:latin typeface="+mj-lt"/>
                        </a:rPr>
                        <a:t>Tasks</a:t>
                      </a:r>
                      <a:endParaRPr sz="1800" b="1" dirty="0">
                        <a:latin typeface="+mj-lt"/>
                      </a:endParaRPr>
                    </a:p>
                  </a:txBody>
                  <a:tcPr marL="91425" marR="91425" marT="91425" marB="91425">
                    <a:solidFill>
                      <a:schemeClr val="bg1"/>
                    </a:solidFill>
                  </a:tcPr>
                </a:tc>
                <a:tc>
                  <a:txBody>
                    <a:bodyPr/>
                    <a:lstStyle/>
                    <a:p>
                      <a:pPr marL="0" lvl="0" indent="0" algn="ctr" rtl="0">
                        <a:lnSpc>
                          <a:spcPct val="115000"/>
                        </a:lnSpc>
                        <a:spcBef>
                          <a:spcPts val="0"/>
                        </a:spcBef>
                        <a:spcAft>
                          <a:spcPts val="0"/>
                        </a:spcAft>
                        <a:buNone/>
                      </a:pPr>
                      <a:r>
                        <a:rPr lang="en" sz="1800" b="1" dirty="0">
                          <a:latin typeface="+mj-lt"/>
                        </a:rPr>
                        <a:t>Story Points</a:t>
                      </a:r>
                      <a:endParaRPr sz="1800" b="1" dirty="0">
                        <a:latin typeface="+mj-lt"/>
                      </a:endParaRPr>
                    </a:p>
                  </a:txBody>
                  <a:tcPr marL="91425" marR="91425" marT="91425" marB="91425">
                    <a:solidFill>
                      <a:schemeClr val="bg1"/>
                    </a:solidFill>
                  </a:tcPr>
                </a:tc>
                <a:tc>
                  <a:txBody>
                    <a:bodyPr/>
                    <a:lstStyle/>
                    <a:p>
                      <a:pPr marL="0" lvl="0" indent="0" algn="ctr" rtl="0">
                        <a:lnSpc>
                          <a:spcPct val="115000"/>
                        </a:lnSpc>
                        <a:spcBef>
                          <a:spcPts val="0"/>
                        </a:spcBef>
                        <a:spcAft>
                          <a:spcPts val="0"/>
                        </a:spcAft>
                        <a:buNone/>
                      </a:pPr>
                      <a:r>
                        <a:rPr lang="en" sz="1800" b="1" dirty="0">
                          <a:latin typeface="+mj-lt"/>
                        </a:rPr>
                        <a:t>Dependencies</a:t>
                      </a:r>
                      <a:endParaRPr sz="1800" b="1" dirty="0">
                        <a:latin typeface="+mj-lt"/>
                      </a:endParaRPr>
                    </a:p>
                  </a:txBody>
                  <a:tcPr marL="91425" marR="91425" marT="91425" marB="91425">
                    <a:solidFill>
                      <a:schemeClr val="bg1"/>
                    </a:solidFill>
                  </a:tcPr>
                </a:tc>
                <a:extLst>
                  <a:ext uri="{0D108BD9-81ED-4DB2-BD59-A6C34878D82A}">
                    <a16:rowId xmlns:a16="http://schemas.microsoft.com/office/drawing/2014/main" val="10000"/>
                  </a:ext>
                </a:extLst>
              </a:tr>
              <a:tr h="888259">
                <a:tc>
                  <a:txBody>
                    <a:bodyPr/>
                    <a:lstStyle/>
                    <a:p>
                      <a:pPr marL="0" lvl="0" indent="0" algn="l" rtl="0">
                        <a:spcBef>
                          <a:spcPts val="0"/>
                        </a:spcBef>
                        <a:spcAft>
                          <a:spcPts val="0"/>
                        </a:spcAft>
                        <a:buNone/>
                      </a:pPr>
                      <a:r>
                        <a:rPr lang="en" sz="1400" dirty="0"/>
                        <a:t>S1</a:t>
                      </a:r>
                      <a:endParaRPr sz="1400" dirty="0"/>
                    </a:p>
                  </a:txBody>
                  <a:tcPr marL="91425" marR="91425" marT="91425" marB="91425">
                    <a:solidFill>
                      <a:schemeClr val="bg1"/>
                    </a:solidFill>
                  </a:tcPr>
                </a:tc>
                <a:tc>
                  <a:txBody>
                    <a:bodyPr/>
                    <a:lstStyle/>
                    <a:p>
                      <a:pPr marL="0" lvl="0" indent="0" algn="l" rtl="0">
                        <a:spcBef>
                          <a:spcPts val="0"/>
                        </a:spcBef>
                        <a:spcAft>
                          <a:spcPts val="0"/>
                        </a:spcAft>
                        <a:buNone/>
                      </a:pPr>
                      <a:r>
                        <a:rPr lang="en" sz="1400"/>
                        <a:t>Week 1-2</a:t>
                      </a:r>
                      <a:endParaRPr sz="1400"/>
                    </a:p>
                  </a:txBody>
                  <a:tcPr marL="91425" marR="91425" marT="91425" marB="91425">
                    <a:solidFill>
                      <a:schemeClr val="bg1"/>
                    </a:solidFill>
                  </a:tcPr>
                </a:tc>
                <a:tc>
                  <a:txBody>
                    <a:bodyPr/>
                    <a:lstStyle/>
                    <a:p>
                      <a:pPr marL="0" lvl="0" indent="0" algn="l" rtl="0">
                        <a:spcBef>
                          <a:spcPts val="0"/>
                        </a:spcBef>
                        <a:spcAft>
                          <a:spcPts val="0"/>
                        </a:spcAft>
                        <a:buNone/>
                      </a:pPr>
                      <a:r>
                        <a:rPr lang="en" sz="1400"/>
                        <a:t>Rider Onboarding</a:t>
                      </a:r>
                      <a:endParaRPr sz="1400"/>
                    </a:p>
                  </a:txBody>
                  <a:tcPr marL="91425" marR="91425" marT="91425" marB="91425">
                    <a:solidFill>
                      <a:schemeClr val="bg1"/>
                    </a:solidFill>
                  </a:tcPr>
                </a:tc>
                <a:tc>
                  <a:txBody>
                    <a:bodyPr/>
                    <a:lstStyle/>
                    <a:p>
                      <a:pPr marL="0" lvl="0" indent="0" algn="l" rtl="0">
                        <a:spcBef>
                          <a:spcPts val="0"/>
                        </a:spcBef>
                        <a:spcAft>
                          <a:spcPts val="0"/>
                        </a:spcAft>
                        <a:buNone/>
                      </a:pPr>
                      <a:r>
                        <a:rPr lang="en" sz="1400" dirty="0"/>
                        <a:t>Rider sign-up via mobile OTP</a:t>
                      </a:r>
                      <a:endParaRPr sz="1400" dirty="0"/>
                    </a:p>
                  </a:txBody>
                  <a:tcPr marL="91425" marR="91425" marT="91425" marB="91425">
                    <a:solidFill>
                      <a:schemeClr val="bg1"/>
                    </a:solidFill>
                  </a:tcPr>
                </a:tc>
                <a:tc>
                  <a:txBody>
                    <a:bodyPr/>
                    <a:lstStyle/>
                    <a:p>
                      <a:pPr marL="0" lvl="0" indent="0" algn="l" rtl="0">
                        <a:spcBef>
                          <a:spcPts val="0"/>
                        </a:spcBef>
                        <a:spcAft>
                          <a:spcPts val="0"/>
                        </a:spcAft>
                        <a:buNone/>
                      </a:pPr>
                      <a:r>
                        <a:rPr lang="en" sz="1400"/>
                        <a:t>UX flow → UI screens → FE OTP → BE validation → QA</a:t>
                      </a:r>
                      <a:endParaRPr sz="1400"/>
                    </a:p>
                  </a:txBody>
                  <a:tcPr marL="91425" marR="91425" marT="91425" marB="91425">
                    <a:solidFill>
                      <a:schemeClr val="bg1"/>
                    </a:solidFill>
                  </a:tcPr>
                </a:tc>
                <a:tc>
                  <a:txBody>
                    <a:bodyPr/>
                    <a:lstStyle/>
                    <a:p>
                      <a:pPr marL="0" lvl="0" indent="0" algn="l" rtl="0">
                        <a:spcBef>
                          <a:spcPts val="0"/>
                        </a:spcBef>
                        <a:spcAft>
                          <a:spcPts val="0"/>
                        </a:spcAft>
                        <a:buNone/>
                      </a:pPr>
                      <a:r>
                        <a:rPr lang="en" sz="1400"/>
                        <a:t>5</a:t>
                      </a:r>
                      <a:endParaRPr sz="1400"/>
                    </a:p>
                  </a:txBody>
                  <a:tcPr marL="91425" marR="91425" marT="91425" marB="91425">
                    <a:solidFill>
                      <a:schemeClr val="bg1"/>
                    </a:solidFill>
                  </a:tcPr>
                </a:tc>
                <a:tc>
                  <a:txBody>
                    <a:bodyPr/>
                    <a:lstStyle/>
                    <a:p>
                      <a:pPr marL="0" lvl="0" indent="0" algn="l" rtl="0">
                        <a:spcBef>
                          <a:spcPts val="0"/>
                        </a:spcBef>
                        <a:spcAft>
                          <a:spcPts val="0"/>
                        </a:spcAft>
                        <a:buNone/>
                      </a:pPr>
                      <a:r>
                        <a:rPr lang="en" sz="1400"/>
                        <a:t>None</a:t>
                      </a:r>
                      <a:endParaRPr sz="1400"/>
                    </a:p>
                  </a:txBody>
                  <a:tcPr marL="91425" marR="91425" marT="91425" marB="91425">
                    <a:solidFill>
                      <a:schemeClr val="bg1"/>
                    </a:solidFill>
                  </a:tcPr>
                </a:tc>
                <a:extLst>
                  <a:ext uri="{0D108BD9-81ED-4DB2-BD59-A6C34878D82A}">
                    <a16:rowId xmlns:a16="http://schemas.microsoft.com/office/drawing/2014/main" val="10001"/>
                  </a:ext>
                </a:extLst>
              </a:tr>
              <a:tr h="842683">
                <a:tc>
                  <a:txBody>
                    <a:bodyPr/>
                    <a:lstStyle/>
                    <a:p>
                      <a:pPr marL="0" lvl="0" indent="0" algn="l" rtl="0">
                        <a:spcBef>
                          <a:spcPts val="0"/>
                        </a:spcBef>
                        <a:spcAft>
                          <a:spcPts val="0"/>
                        </a:spcAft>
                        <a:buNone/>
                      </a:pPr>
                      <a:r>
                        <a:rPr lang="en" sz="1400" dirty="0"/>
                        <a:t>S1</a:t>
                      </a:r>
                      <a:endParaRPr sz="1400" dirty="0"/>
                    </a:p>
                  </a:txBody>
                  <a:tcPr marL="91425" marR="91425" marT="91425" marB="91425">
                    <a:solidFill>
                      <a:schemeClr val="bg1"/>
                    </a:solidFill>
                  </a:tcPr>
                </a:tc>
                <a:tc>
                  <a:txBody>
                    <a:bodyPr/>
                    <a:lstStyle/>
                    <a:p>
                      <a:pPr marL="0" lvl="0" indent="0" algn="l" rtl="0">
                        <a:spcBef>
                          <a:spcPts val="0"/>
                        </a:spcBef>
                        <a:spcAft>
                          <a:spcPts val="0"/>
                        </a:spcAft>
                        <a:buNone/>
                      </a:pPr>
                      <a:r>
                        <a:rPr lang="en" sz="1400"/>
                        <a:t>Week 3-5</a:t>
                      </a:r>
                      <a:endParaRPr sz="1400"/>
                    </a:p>
                  </a:txBody>
                  <a:tcPr marL="91425" marR="91425" marT="91425" marB="91425">
                    <a:solidFill>
                      <a:schemeClr val="bg1"/>
                    </a:solidFill>
                  </a:tcPr>
                </a:tc>
                <a:tc>
                  <a:txBody>
                    <a:bodyPr/>
                    <a:lstStyle/>
                    <a:p>
                      <a:pPr marL="0" lvl="0" indent="0" algn="l" rtl="0">
                        <a:spcBef>
                          <a:spcPts val="0"/>
                        </a:spcBef>
                        <a:spcAft>
                          <a:spcPts val="0"/>
                        </a:spcAft>
                        <a:buNone/>
                      </a:pPr>
                      <a:r>
                        <a:rPr lang="en" sz="1400"/>
                        <a:t>Rider Onboarding</a:t>
                      </a:r>
                      <a:endParaRPr sz="1400"/>
                    </a:p>
                  </a:txBody>
                  <a:tcPr marL="91425" marR="91425" marT="91425" marB="91425">
                    <a:solidFill>
                      <a:schemeClr val="bg1"/>
                    </a:solidFill>
                  </a:tcPr>
                </a:tc>
                <a:tc>
                  <a:txBody>
                    <a:bodyPr/>
                    <a:lstStyle/>
                    <a:p>
                      <a:pPr marL="0" lvl="0" indent="0" algn="l" rtl="0">
                        <a:spcBef>
                          <a:spcPts val="0"/>
                        </a:spcBef>
                        <a:spcAft>
                          <a:spcPts val="0"/>
                        </a:spcAft>
                        <a:buNone/>
                      </a:pPr>
                      <a:r>
                        <a:rPr lang="en" sz="1400" dirty="0"/>
                        <a:t>Create rider profile</a:t>
                      </a:r>
                      <a:endParaRPr sz="1400" dirty="0"/>
                    </a:p>
                  </a:txBody>
                  <a:tcPr marL="91425" marR="91425" marT="91425" marB="91425">
                    <a:solidFill>
                      <a:schemeClr val="bg1"/>
                    </a:solidFill>
                  </a:tcPr>
                </a:tc>
                <a:tc>
                  <a:txBody>
                    <a:bodyPr/>
                    <a:lstStyle/>
                    <a:p>
                      <a:pPr marL="0" lvl="0" indent="0" algn="l" rtl="0">
                        <a:spcBef>
                          <a:spcPts val="0"/>
                        </a:spcBef>
                        <a:spcAft>
                          <a:spcPts val="0"/>
                        </a:spcAft>
                        <a:buNone/>
                      </a:pPr>
                      <a:r>
                        <a:rPr lang="en" sz="1400"/>
                        <a:t>UX fields → UI design → FE form → BE save → QA</a:t>
                      </a:r>
                      <a:endParaRPr sz="1400"/>
                    </a:p>
                  </a:txBody>
                  <a:tcPr marL="91425" marR="91425" marT="91425" marB="91425">
                    <a:solidFill>
                      <a:schemeClr val="bg1"/>
                    </a:solidFill>
                  </a:tcPr>
                </a:tc>
                <a:tc>
                  <a:txBody>
                    <a:bodyPr/>
                    <a:lstStyle/>
                    <a:p>
                      <a:pPr marL="0" lvl="0" indent="0" algn="l" rtl="0">
                        <a:spcBef>
                          <a:spcPts val="0"/>
                        </a:spcBef>
                        <a:spcAft>
                          <a:spcPts val="0"/>
                        </a:spcAft>
                        <a:buNone/>
                      </a:pPr>
                      <a:r>
                        <a:rPr lang="en" sz="1400"/>
                        <a:t>3</a:t>
                      </a:r>
                      <a:endParaRPr sz="1400"/>
                    </a:p>
                  </a:txBody>
                  <a:tcPr marL="91425" marR="91425" marT="91425" marB="91425">
                    <a:solidFill>
                      <a:schemeClr val="bg1"/>
                    </a:solidFill>
                  </a:tcPr>
                </a:tc>
                <a:tc>
                  <a:txBody>
                    <a:bodyPr/>
                    <a:lstStyle/>
                    <a:p>
                      <a:pPr marL="0" lvl="0" indent="0" algn="l" rtl="0">
                        <a:spcBef>
                          <a:spcPts val="0"/>
                        </a:spcBef>
                        <a:spcAft>
                          <a:spcPts val="0"/>
                        </a:spcAft>
                        <a:buNone/>
                      </a:pPr>
                      <a:r>
                        <a:rPr lang="en" sz="1400"/>
                        <a:t>OTP sign-up</a:t>
                      </a:r>
                      <a:endParaRPr sz="1400"/>
                    </a:p>
                  </a:txBody>
                  <a:tcPr marL="91425" marR="91425" marT="91425" marB="91425">
                    <a:solidFill>
                      <a:schemeClr val="bg1"/>
                    </a:solidFill>
                  </a:tcPr>
                </a:tc>
                <a:extLst>
                  <a:ext uri="{0D108BD9-81ED-4DB2-BD59-A6C34878D82A}">
                    <a16:rowId xmlns:a16="http://schemas.microsoft.com/office/drawing/2014/main" val="10002"/>
                  </a:ext>
                </a:extLst>
              </a:tr>
              <a:tr h="627529">
                <a:tc>
                  <a:txBody>
                    <a:bodyPr/>
                    <a:lstStyle/>
                    <a:p>
                      <a:pPr marL="0" lvl="0" indent="0" algn="l" rtl="0">
                        <a:spcBef>
                          <a:spcPts val="0"/>
                        </a:spcBef>
                        <a:spcAft>
                          <a:spcPts val="0"/>
                        </a:spcAft>
                        <a:buNone/>
                      </a:pPr>
                      <a:r>
                        <a:rPr lang="en" sz="1400"/>
                        <a:t>S1</a:t>
                      </a:r>
                      <a:endParaRPr sz="1400"/>
                    </a:p>
                  </a:txBody>
                  <a:tcPr marL="91425" marR="91425" marT="91425" marB="91425">
                    <a:solidFill>
                      <a:schemeClr val="bg1"/>
                    </a:solidFill>
                  </a:tcPr>
                </a:tc>
                <a:tc>
                  <a:txBody>
                    <a:bodyPr/>
                    <a:lstStyle/>
                    <a:p>
                      <a:pPr marL="0" lvl="0" indent="0" algn="l" rtl="0">
                        <a:spcBef>
                          <a:spcPts val="0"/>
                        </a:spcBef>
                        <a:spcAft>
                          <a:spcPts val="0"/>
                        </a:spcAft>
                        <a:buNone/>
                      </a:pPr>
                      <a:r>
                        <a:rPr lang="en" sz="1400"/>
                        <a:t>Week 6-8</a:t>
                      </a:r>
                      <a:endParaRPr sz="1400"/>
                    </a:p>
                  </a:txBody>
                  <a:tcPr marL="91425" marR="91425" marT="91425" marB="91425">
                    <a:solidFill>
                      <a:schemeClr val="bg1"/>
                    </a:solidFill>
                  </a:tcPr>
                </a:tc>
                <a:tc>
                  <a:txBody>
                    <a:bodyPr/>
                    <a:lstStyle/>
                    <a:p>
                      <a:pPr marL="0" lvl="0" indent="0" algn="l" rtl="0">
                        <a:spcBef>
                          <a:spcPts val="0"/>
                        </a:spcBef>
                        <a:spcAft>
                          <a:spcPts val="0"/>
                        </a:spcAft>
                        <a:buNone/>
                      </a:pPr>
                      <a:r>
                        <a:rPr lang="en" sz="1400"/>
                        <a:t>Rider Onboarding</a:t>
                      </a:r>
                      <a:endParaRPr sz="1400"/>
                    </a:p>
                  </a:txBody>
                  <a:tcPr marL="91425" marR="91425" marT="91425" marB="91425">
                    <a:solidFill>
                      <a:schemeClr val="bg1"/>
                    </a:solidFill>
                  </a:tcPr>
                </a:tc>
                <a:tc>
                  <a:txBody>
                    <a:bodyPr/>
                    <a:lstStyle/>
                    <a:p>
                      <a:pPr marL="0" lvl="0" indent="0" algn="l" rtl="0">
                        <a:spcBef>
                          <a:spcPts val="0"/>
                        </a:spcBef>
                        <a:spcAft>
                          <a:spcPts val="0"/>
                        </a:spcAft>
                        <a:buNone/>
                      </a:pPr>
                      <a:r>
                        <a:rPr lang="en" sz="1400" dirty="0"/>
                        <a:t>Edit personal details</a:t>
                      </a:r>
                      <a:endParaRPr sz="1400" dirty="0"/>
                    </a:p>
                  </a:txBody>
                  <a:tcPr marL="91425" marR="91425" marT="91425" marB="91425">
                    <a:solidFill>
                      <a:schemeClr val="bg1"/>
                    </a:solidFill>
                  </a:tcPr>
                </a:tc>
                <a:tc>
                  <a:txBody>
                    <a:bodyPr/>
                    <a:lstStyle/>
                    <a:p>
                      <a:pPr marL="0" lvl="0" indent="0" algn="l" rtl="0">
                        <a:spcBef>
                          <a:spcPts val="0"/>
                        </a:spcBef>
                        <a:spcAft>
                          <a:spcPts val="0"/>
                        </a:spcAft>
                        <a:buNone/>
                      </a:pPr>
                      <a:r>
                        <a:rPr lang="en" sz="1400"/>
                        <a:t>UI states → FE update → QA</a:t>
                      </a:r>
                      <a:endParaRPr sz="1400"/>
                    </a:p>
                  </a:txBody>
                  <a:tcPr marL="91425" marR="91425" marT="91425" marB="91425">
                    <a:solidFill>
                      <a:schemeClr val="bg1"/>
                    </a:solidFill>
                  </a:tcPr>
                </a:tc>
                <a:tc>
                  <a:txBody>
                    <a:bodyPr/>
                    <a:lstStyle/>
                    <a:p>
                      <a:pPr marL="0" lvl="0" indent="0" algn="l" rtl="0">
                        <a:spcBef>
                          <a:spcPts val="0"/>
                        </a:spcBef>
                        <a:spcAft>
                          <a:spcPts val="0"/>
                        </a:spcAft>
                        <a:buNone/>
                      </a:pPr>
                      <a:r>
                        <a:rPr lang="en" sz="1400"/>
                        <a:t>3</a:t>
                      </a:r>
                      <a:endParaRPr sz="1400"/>
                    </a:p>
                  </a:txBody>
                  <a:tcPr marL="91425" marR="91425" marT="91425" marB="91425">
                    <a:solidFill>
                      <a:schemeClr val="bg1"/>
                    </a:solidFill>
                  </a:tcPr>
                </a:tc>
                <a:tc>
                  <a:txBody>
                    <a:bodyPr/>
                    <a:lstStyle/>
                    <a:p>
                      <a:pPr marL="0" lvl="0" indent="0" algn="l" rtl="0">
                        <a:spcBef>
                          <a:spcPts val="0"/>
                        </a:spcBef>
                        <a:spcAft>
                          <a:spcPts val="0"/>
                        </a:spcAft>
                        <a:buNone/>
                      </a:pPr>
                      <a:r>
                        <a:rPr lang="en" sz="1400" dirty="0"/>
                        <a:t>Profile creation</a:t>
                      </a:r>
                      <a:endParaRPr sz="1400" dirty="0"/>
                    </a:p>
                  </a:txBody>
                  <a:tcPr marL="91425" marR="91425" marT="91425" marB="91425">
                    <a:solidFill>
                      <a:schemeClr val="bg1"/>
                    </a:solidFill>
                  </a:tcPr>
                </a:tc>
                <a:extLst>
                  <a:ext uri="{0D108BD9-81ED-4DB2-BD59-A6C34878D82A}">
                    <a16:rowId xmlns:a16="http://schemas.microsoft.com/office/drawing/2014/main" val="10003"/>
                  </a:ext>
                </a:extLst>
              </a:tr>
              <a:tr h="6813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S2</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Week 8-10</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Ride Booking &amp; Tracking</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Select pickup &amp; drop location</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UX flow → UI inputs → FE location logic → QA</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sz="1400" dirty="0"/>
                        <a:t>5</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Rider logged in</a:t>
                      </a:r>
                    </a:p>
                  </a:txBody>
                  <a:tcPr marL="91425" marR="91425" marT="91425" marB="91425">
                    <a:solidFill>
                      <a:schemeClr val="bg1"/>
                    </a:solidFill>
                  </a:tcPr>
                </a:tc>
                <a:extLst>
                  <a:ext uri="{0D108BD9-81ED-4DB2-BD59-A6C34878D82A}">
                    <a16:rowId xmlns:a16="http://schemas.microsoft.com/office/drawing/2014/main" val="4091489264"/>
                  </a:ext>
                </a:extLst>
              </a:tr>
              <a:tr h="6813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S2</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Week 11-13</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Ride Booking &amp; Tracking</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View fare estimate</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400" dirty="0"/>
                        <a:t>UI fare component → FE display → QA</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sz="1400" dirty="0"/>
                        <a:t>3</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Pickup &amp; drop selected</a:t>
                      </a:r>
                    </a:p>
                  </a:txBody>
                  <a:tcPr marL="91425" marR="91425" marT="91425" marB="91425">
                    <a:solidFill>
                      <a:schemeClr val="bg1"/>
                    </a:solidFill>
                  </a:tcPr>
                </a:tc>
                <a:extLst>
                  <a:ext uri="{0D108BD9-81ED-4DB2-BD59-A6C34878D82A}">
                    <a16:rowId xmlns:a16="http://schemas.microsoft.com/office/drawing/2014/main" val="2893556194"/>
                  </a:ext>
                </a:extLst>
              </a:tr>
              <a:tr h="743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S2</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Week 14-16</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Ride Booking &amp; Tracking</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Confirm ride request</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UI confirm → FE request → BE handling → QA</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sz="1400" dirty="0"/>
                        <a:t>5</a:t>
                      </a:r>
                    </a:p>
                  </a:txBody>
                  <a:tcPr marL="91425" marR="91425" marT="91425" marB="9142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Fare estimate</a:t>
                      </a:r>
                    </a:p>
                  </a:txBody>
                  <a:tcPr marL="91425" marR="91425" marT="91425" marB="91425">
                    <a:solidFill>
                      <a:schemeClr val="bg1"/>
                    </a:solidFill>
                  </a:tcPr>
                </a:tc>
                <a:extLst>
                  <a:ext uri="{0D108BD9-81ED-4DB2-BD59-A6C34878D82A}">
                    <a16:rowId xmlns:a16="http://schemas.microsoft.com/office/drawing/2014/main" val="175071680"/>
                  </a:ext>
                </a:extLst>
              </a:tr>
            </a:tbl>
          </a:graphicData>
        </a:graphic>
      </p:graphicFrame>
    </p:spTree>
    <p:extLst>
      <p:ext uri="{BB962C8B-B14F-4D97-AF65-F5344CB8AC3E}">
        <p14:creationId xmlns:p14="http://schemas.microsoft.com/office/powerpoint/2010/main" val="5314211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618564" y="378132"/>
            <a:ext cx="7534656" cy="547912"/>
          </a:xfrm>
        </p:spPr>
        <p:txBody>
          <a:bodyPr/>
          <a:lstStyle/>
          <a:p>
            <a:r>
              <a:rPr lang="en-US" sz="3600" dirty="0"/>
              <a:t>Mockups</a:t>
            </a:r>
          </a:p>
        </p:txBody>
      </p:sp>
      <p:pic>
        <p:nvPicPr>
          <p:cNvPr id="3" name="Picture 2">
            <a:extLst>
              <a:ext uri="{FF2B5EF4-FFF2-40B4-BE49-F238E27FC236}">
                <a16:creationId xmlns:a16="http://schemas.microsoft.com/office/drawing/2014/main" id="{8B9239C1-3822-46AA-A5EC-44BA87A29913}"/>
              </a:ext>
            </a:extLst>
          </p:cNvPr>
          <p:cNvPicPr>
            <a:picLocks noChangeAspect="1"/>
          </p:cNvPicPr>
          <p:nvPr/>
        </p:nvPicPr>
        <p:blipFill rotWithShape="1">
          <a:blip r:embed="rId3"/>
          <a:srcRect l="4785" r="2777"/>
          <a:stretch/>
        </p:blipFill>
        <p:spPr>
          <a:xfrm>
            <a:off x="475130" y="1470212"/>
            <a:ext cx="2402541" cy="4069977"/>
          </a:xfrm>
          <a:prstGeom prst="rect">
            <a:avLst/>
          </a:prstGeom>
        </p:spPr>
      </p:pic>
      <p:pic>
        <p:nvPicPr>
          <p:cNvPr id="5" name="Picture 4">
            <a:extLst>
              <a:ext uri="{FF2B5EF4-FFF2-40B4-BE49-F238E27FC236}">
                <a16:creationId xmlns:a16="http://schemas.microsoft.com/office/drawing/2014/main" id="{C2CEA826-F78A-4C86-BBD3-7988549C4CCD}"/>
              </a:ext>
            </a:extLst>
          </p:cNvPr>
          <p:cNvPicPr>
            <a:picLocks noChangeAspect="1"/>
          </p:cNvPicPr>
          <p:nvPr/>
        </p:nvPicPr>
        <p:blipFill rotWithShape="1">
          <a:blip r:embed="rId4"/>
          <a:srcRect l="5867" r="5867"/>
          <a:stretch/>
        </p:blipFill>
        <p:spPr>
          <a:xfrm>
            <a:off x="3415553" y="1470212"/>
            <a:ext cx="2402541" cy="4069977"/>
          </a:xfrm>
          <a:prstGeom prst="rect">
            <a:avLst/>
          </a:prstGeom>
        </p:spPr>
      </p:pic>
      <p:pic>
        <p:nvPicPr>
          <p:cNvPr id="8" name="Picture 7">
            <a:extLst>
              <a:ext uri="{FF2B5EF4-FFF2-40B4-BE49-F238E27FC236}">
                <a16:creationId xmlns:a16="http://schemas.microsoft.com/office/drawing/2014/main" id="{3917E742-D522-4ED9-856E-B77EE9AC53E3}"/>
              </a:ext>
            </a:extLst>
          </p:cNvPr>
          <p:cNvPicPr>
            <a:picLocks noChangeAspect="1"/>
          </p:cNvPicPr>
          <p:nvPr/>
        </p:nvPicPr>
        <p:blipFill rotWithShape="1">
          <a:blip r:embed="rId5"/>
          <a:srcRect l="8968" r="7630"/>
          <a:stretch/>
        </p:blipFill>
        <p:spPr>
          <a:xfrm>
            <a:off x="6463553" y="1470212"/>
            <a:ext cx="2402541" cy="4069977"/>
          </a:xfrm>
          <a:prstGeom prst="rect">
            <a:avLst/>
          </a:prstGeom>
        </p:spPr>
      </p:pic>
      <p:pic>
        <p:nvPicPr>
          <p:cNvPr id="10" name="Picture 9">
            <a:extLst>
              <a:ext uri="{FF2B5EF4-FFF2-40B4-BE49-F238E27FC236}">
                <a16:creationId xmlns:a16="http://schemas.microsoft.com/office/drawing/2014/main" id="{0D1C1FD1-4E4D-41F5-8554-92DB7175E4E6}"/>
              </a:ext>
            </a:extLst>
          </p:cNvPr>
          <p:cNvPicPr>
            <a:picLocks noChangeAspect="1"/>
          </p:cNvPicPr>
          <p:nvPr/>
        </p:nvPicPr>
        <p:blipFill rotWithShape="1">
          <a:blip r:embed="rId6"/>
          <a:srcRect l="5689" r="9114"/>
          <a:stretch/>
        </p:blipFill>
        <p:spPr>
          <a:xfrm>
            <a:off x="9377083" y="1470212"/>
            <a:ext cx="2402542" cy="4069977"/>
          </a:xfrm>
          <a:prstGeom prst="rect">
            <a:avLst/>
          </a:prstGeom>
        </p:spPr>
      </p:pic>
    </p:spTree>
    <p:extLst>
      <p:ext uri="{BB962C8B-B14F-4D97-AF65-F5344CB8AC3E}">
        <p14:creationId xmlns:p14="http://schemas.microsoft.com/office/powerpoint/2010/main" val="3992198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618564" y="378132"/>
            <a:ext cx="7534656" cy="547912"/>
          </a:xfrm>
        </p:spPr>
        <p:txBody>
          <a:bodyPr/>
          <a:lstStyle/>
          <a:p>
            <a:r>
              <a:rPr lang="en-US" sz="3600" dirty="0"/>
              <a:t>Mockups</a:t>
            </a:r>
          </a:p>
        </p:txBody>
      </p:sp>
      <p:pic>
        <p:nvPicPr>
          <p:cNvPr id="4" name="Picture 3">
            <a:extLst>
              <a:ext uri="{FF2B5EF4-FFF2-40B4-BE49-F238E27FC236}">
                <a16:creationId xmlns:a16="http://schemas.microsoft.com/office/drawing/2014/main" id="{82726939-2C12-4BAF-9858-608F367F9B9E}"/>
              </a:ext>
            </a:extLst>
          </p:cNvPr>
          <p:cNvPicPr>
            <a:picLocks noChangeAspect="1"/>
          </p:cNvPicPr>
          <p:nvPr/>
        </p:nvPicPr>
        <p:blipFill rotWithShape="1">
          <a:blip r:embed="rId3"/>
          <a:srcRect l="15125" r="11812"/>
          <a:stretch/>
        </p:blipFill>
        <p:spPr>
          <a:xfrm>
            <a:off x="421340" y="1407455"/>
            <a:ext cx="2420470" cy="4410635"/>
          </a:xfrm>
          <a:prstGeom prst="rect">
            <a:avLst/>
          </a:prstGeom>
        </p:spPr>
      </p:pic>
      <p:pic>
        <p:nvPicPr>
          <p:cNvPr id="7" name="Picture 6">
            <a:extLst>
              <a:ext uri="{FF2B5EF4-FFF2-40B4-BE49-F238E27FC236}">
                <a16:creationId xmlns:a16="http://schemas.microsoft.com/office/drawing/2014/main" id="{807D259C-5F5F-4D15-BCD4-22D8A09B41CC}"/>
              </a:ext>
            </a:extLst>
          </p:cNvPr>
          <p:cNvPicPr>
            <a:picLocks noChangeAspect="1"/>
          </p:cNvPicPr>
          <p:nvPr/>
        </p:nvPicPr>
        <p:blipFill rotWithShape="1">
          <a:blip r:embed="rId4"/>
          <a:srcRect l="15329" r="9551"/>
          <a:stretch/>
        </p:blipFill>
        <p:spPr>
          <a:xfrm>
            <a:off x="3370726" y="1407454"/>
            <a:ext cx="2420470" cy="4410635"/>
          </a:xfrm>
          <a:prstGeom prst="rect">
            <a:avLst/>
          </a:prstGeom>
        </p:spPr>
      </p:pic>
      <p:pic>
        <p:nvPicPr>
          <p:cNvPr id="11" name="Picture 10">
            <a:extLst>
              <a:ext uri="{FF2B5EF4-FFF2-40B4-BE49-F238E27FC236}">
                <a16:creationId xmlns:a16="http://schemas.microsoft.com/office/drawing/2014/main" id="{75207826-806A-410F-A698-B7D0236D8E24}"/>
              </a:ext>
            </a:extLst>
          </p:cNvPr>
          <p:cNvPicPr>
            <a:picLocks noChangeAspect="1"/>
          </p:cNvPicPr>
          <p:nvPr/>
        </p:nvPicPr>
        <p:blipFill rotWithShape="1">
          <a:blip r:embed="rId5"/>
          <a:srcRect l="13622" t="1307" r="14468" b="1"/>
          <a:stretch/>
        </p:blipFill>
        <p:spPr>
          <a:xfrm>
            <a:off x="9350189" y="1407454"/>
            <a:ext cx="2420471" cy="4410635"/>
          </a:xfrm>
          <a:prstGeom prst="rect">
            <a:avLst/>
          </a:prstGeom>
        </p:spPr>
      </p:pic>
      <p:pic>
        <p:nvPicPr>
          <p:cNvPr id="13" name="Picture 12">
            <a:extLst>
              <a:ext uri="{FF2B5EF4-FFF2-40B4-BE49-F238E27FC236}">
                <a16:creationId xmlns:a16="http://schemas.microsoft.com/office/drawing/2014/main" id="{E8CAE5F4-4CE3-4FFF-B392-37357394CDBE}"/>
              </a:ext>
            </a:extLst>
          </p:cNvPr>
          <p:cNvPicPr>
            <a:picLocks noChangeAspect="1"/>
          </p:cNvPicPr>
          <p:nvPr/>
        </p:nvPicPr>
        <p:blipFill rotWithShape="1">
          <a:blip r:embed="rId6"/>
          <a:srcRect l="7844" r="13716"/>
          <a:stretch/>
        </p:blipFill>
        <p:spPr>
          <a:xfrm>
            <a:off x="6400806" y="1407454"/>
            <a:ext cx="2420471" cy="4410635"/>
          </a:xfrm>
          <a:prstGeom prst="rect">
            <a:avLst/>
          </a:prstGeom>
        </p:spPr>
      </p:pic>
    </p:spTree>
    <p:extLst>
      <p:ext uri="{BB962C8B-B14F-4D97-AF65-F5344CB8AC3E}">
        <p14:creationId xmlns:p14="http://schemas.microsoft.com/office/powerpoint/2010/main" val="1772336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618564" y="378132"/>
            <a:ext cx="7534656" cy="547912"/>
          </a:xfrm>
        </p:spPr>
        <p:txBody>
          <a:bodyPr/>
          <a:lstStyle/>
          <a:p>
            <a:r>
              <a:rPr lang="en-US" sz="3600" dirty="0"/>
              <a:t>Mockups</a:t>
            </a:r>
          </a:p>
        </p:txBody>
      </p:sp>
      <p:pic>
        <p:nvPicPr>
          <p:cNvPr id="3" name="Picture 2">
            <a:extLst>
              <a:ext uri="{FF2B5EF4-FFF2-40B4-BE49-F238E27FC236}">
                <a16:creationId xmlns:a16="http://schemas.microsoft.com/office/drawing/2014/main" id="{837A05B8-1979-4D9F-B407-3CED1CB47D9D}"/>
              </a:ext>
            </a:extLst>
          </p:cNvPr>
          <p:cNvPicPr>
            <a:picLocks noChangeAspect="1"/>
          </p:cNvPicPr>
          <p:nvPr/>
        </p:nvPicPr>
        <p:blipFill rotWithShape="1">
          <a:blip r:embed="rId3"/>
          <a:srcRect l="6634" r="11404"/>
          <a:stretch/>
        </p:blipFill>
        <p:spPr>
          <a:xfrm>
            <a:off x="430306" y="1550894"/>
            <a:ext cx="2348753" cy="4069977"/>
          </a:xfrm>
          <a:prstGeom prst="rect">
            <a:avLst/>
          </a:prstGeom>
        </p:spPr>
      </p:pic>
      <p:pic>
        <p:nvPicPr>
          <p:cNvPr id="6" name="Picture 5">
            <a:extLst>
              <a:ext uri="{FF2B5EF4-FFF2-40B4-BE49-F238E27FC236}">
                <a16:creationId xmlns:a16="http://schemas.microsoft.com/office/drawing/2014/main" id="{7E1F8A81-273E-48C8-BA8C-99EBC7F1F545}"/>
              </a:ext>
            </a:extLst>
          </p:cNvPr>
          <p:cNvPicPr>
            <a:picLocks noChangeAspect="1"/>
          </p:cNvPicPr>
          <p:nvPr/>
        </p:nvPicPr>
        <p:blipFill rotWithShape="1">
          <a:blip r:embed="rId4"/>
          <a:srcRect l="6332" r="12227"/>
          <a:stretch/>
        </p:blipFill>
        <p:spPr>
          <a:xfrm>
            <a:off x="3532094" y="1550894"/>
            <a:ext cx="2348753" cy="4069977"/>
          </a:xfrm>
          <a:prstGeom prst="rect">
            <a:avLst/>
          </a:prstGeom>
        </p:spPr>
      </p:pic>
      <p:pic>
        <p:nvPicPr>
          <p:cNvPr id="9" name="Picture 8">
            <a:extLst>
              <a:ext uri="{FF2B5EF4-FFF2-40B4-BE49-F238E27FC236}">
                <a16:creationId xmlns:a16="http://schemas.microsoft.com/office/drawing/2014/main" id="{7CB761FC-F300-4BAF-B207-C36367E7CB1D}"/>
              </a:ext>
            </a:extLst>
          </p:cNvPr>
          <p:cNvPicPr>
            <a:picLocks noChangeAspect="1"/>
          </p:cNvPicPr>
          <p:nvPr/>
        </p:nvPicPr>
        <p:blipFill rotWithShape="1">
          <a:blip r:embed="rId5"/>
          <a:srcRect l="8446" r="9324"/>
          <a:stretch/>
        </p:blipFill>
        <p:spPr>
          <a:xfrm>
            <a:off x="6633882" y="1550894"/>
            <a:ext cx="2348753" cy="4069977"/>
          </a:xfrm>
          <a:prstGeom prst="rect">
            <a:avLst/>
          </a:prstGeom>
        </p:spPr>
      </p:pic>
      <p:pic>
        <p:nvPicPr>
          <p:cNvPr id="15" name="Picture 14">
            <a:extLst>
              <a:ext uri="{FF2B5EF4-FFF2-40B4-BE49-F238E27FC236}">
                <a16:creationId xmlns:a16="http://schemas.microsoft.com/office/drawing/2014/main" id="{B8C9C330-78D3-42E5-BBA8-7908B19BAC60}"/>
              </a:ext>
            </a:extLst>
          </p:cNvPr>
          <p:cNvPicPr>
            <a:picLocks noChangeAspect="1"/>
          </p:cNvPicPr>
          <p:nvPr/>
        </p:nvPicPr>
        <p:blipFill rotWithShape="1">
          <a:blip r:embed="rId6"/>
          <a:srcRect l="10073" r="16150"/>
          <a:stretch/>
        </p:blipFill>
        <p:spPr>
          <a:xfrm>
            <a:off x="9497925" y="1550894"/>
            <a:ext cx="2348753" cy="4069977"/>
          </a:xfrm>
          <a:prstGeom prst="rect">
            <a:avLst/>
          </a:prstGeom>
        </p:spPr>
      </p:pic>
    </p:spTree>
    <p:extLst>
      <p:ext uri="{BB962C8B-B14F-4D97-AF65-F5344CB8AC3E}">
        <p14:creationId xmlns:p14="http://schemas.microsoft.com/office/powerpoint/2010/main" val="2867819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618564" y="378132"/>
            <a:ext cx="7534656" cy="547912"/>
          </a:xfrm>
        </p:spPr>
        <p:txBody>
          <a:bodyPr/>
          <a:lstStyle/>
          <a:p>
            <a:r>
              <a:rPr lang="en-US" sz="3600" dirty="0"/>
              <a:t>Mockups</a:t>
            </a:r>
          </a:p>
        </p:txBody>
      </p:sp>
      <p:pic>
        <p:nvPicPr>
          <p:cNvPr id="4" name="Picture 3">
            <a:extLst>
              <a:ext uri="{FF2B5EF4-FFF2-40B4-BE49-F238E27FC236}">
                <a16:creationId xmlns:a16="http://schemas.microsoft.com/office/drawing/2014/main" id="{2B46E001-F18A-4698-926F-D7BE183F7B38}"/>
              </a:ext>
            </a:extLst>
          </p:cNvPr>
          <p:cNvPicPr>
            <a:picLocks noChangeAspect="1"/>
          </p:cNvPicPr>
          <p:nvPr/>
        </p:nvPicPr>
        <p:blipFill rotWithShape="1">
          <a:blip r:embed="rId3"/>
          <a:srcRect l="9520" r="12650"/>
          <a:stretch/>
        </p:blipFill>
        <p:spPr>
          <a:xfrm>
            <a:off x="331695" y="1577786"/>
            <a:ext cx="2402541" cy="4285130"/>
          </a:xfrm>
          <a:prstGeom prst="rect">
            <a:avLst/>
          </a:prstGeom>
        </p:spPr>
      </p:pic>
      <p:pic>
        <p:nvPicPr>
          <p:cNvPr id="7" name="Picture 6">
            <a:extLst>
              <a:ext uri="{FF2B5EF4-FFF2-40B4-BE49-F238E27FC236}">
                <a16:creationId xmlns:a16="http://schemas.microsoft.com/office/drawing/2014/main" id="{4034E45B-EDDF-43E2-B4A5-40D622B2E62C}"/>
              </a:ext>
            </a:extLst>
          </p:cNvPr>
          <p:cNvPicPr>
            <a:picLocks noChangeAspect="1"/>
          </p:cNvPicPr>
          <p:nvPr/>
        </p:nvPicPr>
        <p:blipFill rotWithShape="1">
          <a:blip r:embed="rId4"/>
          <a:srcRect l="11515" r="14264"/>
          <a:stretch/>
        </p:blipFill>
        <p:spPr>
          <a:xfrm>
            <a:off x="3325906" y="1577784"/>
            <a:ext cx="2402541" cy="4285131"/>
          </a:xfrm>
          <a:prstGeom prst="rect">
            <a:avLst/>
          </a:prstGeom>
        </p:spPr>
      </p:pic>
      <p:pic>
        <p:nvPicPr>
          <p:cNvPr id="10" name="Picture 9">
            <a:extLst>
              <a:ext uri="{FF2B5EF4-FFF2-40B4-BE49-F238E27FC236}">
                <a16:creationId xmlns:a16="http://schemas.microsoft.com/office/drawing/2014/main" id="{2EF1DC43-8585-40FC-B998-60394B201CF2}"/>
              </a:ext>
            </a:extLst>
          </p:cNvPr>
          <p:cNvPicPr>
            <a:picLocks noChangeAspect="1"/>
          </p:cNvPicPr>
          <p:nvPr/>
        </p:nvPicPr>
        <p:blipFill rotWithShape="1">
          <a:blip r:embed="rId5"/>
          <a:srcRect l="6959" r="9828"/>
          <a:stretch/>
        </p:blipFill>
        <p:spPr>
          <a:xfrm>
            <a:off x="6485964" y="1577785"/>
            <a:ext cx="2402541" cy="4285130"/>
          </a:xfrm>
          <a:prstGeom prst="rect">
            <a:avLst/>
          </a:prstGeom>
        </p:spPr>
      </p:pic>
      <p:pic>
        <p:nvPicPr>
          <p:cNvPr id="12" name="Picture 11">
            <a:extLst>
              <a:ext uri="{FF2B5EF4-FFF2-40B4-BE49-F238E27FC236}">
                <a16:creationId xmlns:a16="http://schemas.microsoft.com/office/drawing/2014/main" id="{00A391D5-90B0-4C6F-BEFF-C11823DF8CFD}"/>
              </a:ext>
            </a:extLst>
          </p:cNvPr>
          <p:cNvPicPr>
            <a:picLocks noChangeAspect="1"/>
          </p:cNvPicPr>
          <p:nvPr/>
        </p:nvPicPr>
        <p:blipFill rotWithShape="1">
          <a:blip r:embed="rId6"/>
          <a:srcRect l="12968" r="19619"/>
          <a:stretch/>
        </p:blipFill>
        <p:spPr>
          <a:xfrm>
            <a:off x="9457763" y="1577784"/>
            <a:ext cx="2402542" cy="4285131"/>
          </a:xfrm>
          <a:prstGeom prst="rect">
            <a:avLst/>
          </a:prstGeom>
        </p:spPr>
      </p:pic>
    </p:spTree>
    <p:extLst>
      <p:ext uri="{BB962C8B-B14F-4D97-AF65-F5344CB8AC3E}">
        <p14:creationId xmlns:p14="http://schemas.microsoft.com/office/powerpoint/2010/main" val="1629395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618564" y="378132"/>
            <a:ext cx="7534656" cy="547912"/>
          </a:xfrm>
        </p:spPr>
        <p:txBody>
          <a:bodyPr/>
          <a:lstStyle/>
          <a:p>
            <a:r>
              <a:rPr lang="en-US" sz="3600" dirty="0"/>
              <a:t>Mockups</a:t>
            </a:r>
          </a:p>
        </p:txBody>
      </p:sp>
      <p:pic>
        <p:nvPicPr>
          <p:cNvPr id="3" name="Picture 2">
            <a:extLst>
              <a:ext uri="{FF2B5EF4-FFF2-40B4-BE49-F238E27FC236}">
                <a16:creationId xmlns:a16="http://schemas.microsoft.com/office/drawing/2014/main" id="{38E5D408-824F-4C9E-84E0-AF5DE05E4274}"/>
              </a:ext>
            </a:extLst>
          </p:cNvPr>
          <p:cNvPicPr>
            <a:picLocks noChangeAspect="1"/>
          </p:cNvPicPr>
          <p:nvPr/>
        </p:nvPicPr>
        <p:blipFill rotWithShape="1">
          <a:blip r:embed="rId3"/>
          <a:srcRect l="11192" r="19323"/>
          <a:stretch/>
        </p:blipFill>
        <p:spPr>
          <a:xfrm>
            <a:off x="412377" y="1634256"/>
            <a:ext cx="2402541" cy="4219697"/>
          </a:xfrm>
          <a:prstGeom prst="rect">
            <a:avLst/>
          </a:prstGeom>
        </p:spPr>
      </p:pic>
      <p:pic>
        <p:nvPicPr>
          <p:cNvPr id="6" name="Picture 5">
            <a:extLst>
              <a:ext uri="{FF2B5EF4-FFF2-40B4-BE49-F238E27FC236}">
                <a16:creationId xmlns:a16="http://schemas.microsoft.com/office/drawing/2014/main" id="{FB813B39-35A3-4B4A-A33A-3E19A9907C83}"/>
              </a:ext>
            </a:extLst>
          </p:cNvPr>
          <p:cNvPicPr>
            <a:picLocks noChangeAspect="1"/>
          </p:cNvPicPr>
          <p:nvPr/>
        </p:nvPicPr>
        <p:blipFill rotWithShape="1">
          <a:blip r:embed="rId4"/>
          <a:srcRect l="8170" r="10349" b="1176"/>
          <a:stretch/>
        </p:blipFill>
        <p:spPr>
          <a:xfrm>
            <a:off x="3352801" y="1634255"/>
            <a:ext cx="2402541" cy="4219697"/>
          </a:xfrm>
          <a:prstGeom prst="rect">
            <a:avLst/>
          </a:prstGeom>
        </p:spPr>
      </p:pic>
      <p:pic>
        <p:nvPicPr>
          <p:cNvPr id="9" name="Picture 8">
            <a:extLst>
              <a:ext uri="{FF2B5EF4-FFF2-40B4-BE49-F238E27FC236}">
                <a16:creationId xmlns:a16="http://schemas.microsoft.com/office/drawing/2014/main" id="{F3D160AD-9BA9-4101-AF24-4E8C771648CF}"/>
              </a:ext>
            </a:extLst>
          </p:cNvPr>
          <p:cNvPicPr>
            <a:picLocks noChangeAspect="1"/>
          </p:cNvPicPr>
          <p:nvPr/>
        </p:nvPicPr>
        <p:blipFill rotWithShape="1">
          <a:blip r:embed="rId5"/>
          <a:srcRect l="9256" t="1045" r="14607" b="1176"/>
          <a:stretch/>
        </p:blipFill>
        <p:spPr>
          <a:xfrm>
            <a:off x="6436660" y="1634254"/>
            <a:ext cx="2402541" cy="4219697"/>
          </a:xfrm>
          <a:prstGeom prst="rect">
            <a:avLst/>
          </a:prstGeom>
        </p:spPr>
      </p:pic>
      <p:pic>
        <p:nvPicPr>
          <p:cNvPr id="13" name="Picture 12">
            <a:extLst>
              <a:ext uri="{FF2B5EF4-FFF2-40B4-BE49-F238E27FC236}">
                <a16:creationId xmlns:a16="http://schemas.microsoft.com/office/drawing/2014/main" id="{34396563-B9B6-4924-9698-773F9BB42B58}"/>
              </a:ext>
            </a:extLst>
          </p:cNvPr>
          <p:cNvPicPr>
            <a:picLocks noChangeAspect="1"/>
          </p:cNvPicPr>
          <p:nvPr/>
        </p:nvPicPr>
        <p:blipFill rotWithShape="1">
          <a:blip r:embed="rId6"/>
          <a:srcRect l="5955" t="1" r="13115" b="1307"/>
          <a:stretch/>
        </p:blipFill>
        <p:spPr>
          <a:xfrm>
            <a:off x="9520519" y="1634254"/>
            <a:ext cx="2402541" cy="4219697"/>
          </a:xfrm>
          <a:prstGeom prst="rect">
            <a:avLst/>
          </a:prstGeom>
        </p:spPr>
      </p:pic>
    </p:spTree>
    <p:extLst>
      <p:ext uri="{BB962C8B-B14F-4D97-AF65-F5344CB8AC3E}">
        <p14:creationId xmlns:p14="http://schemas.microsoft.com/office/powerpoint/2010/main" val="33094100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618564" y="378132"/>
            <a:ext cx="7534656" cy="547912"/>
          </a:xfrm>
        </p:spPr>
        <p:txBody>
          <a:bodyPr/>
          <a:lstStyle/>
          <a:p>
            <a:r>
              <a:rPr lang="en-US" sz="3600" dirty="0"/>
              <a:t>Mockups</a:t>
            </a:r>
          </a:p>
        </p:txBody>
      </p:sp>
      <p:pic>
        <p:nvPicPr>
          <p:cNvPr id="4" name="Picture 3">
            <a:extLst>
              <a:ext uri="{FF2B5EF4-FFF2-40B4-BE49-F238E27FC236}">
                <a16:creationId xmlns:a16="http://schemas.microsoft.com/office/drawing/2014/main" id="{F40B49EE-0E07-4E7F-ABDF-0B4C8528AB4B}"/>
              </a:ext>
            </a:extLst>
          </p:cNvPr>
          <p:cNvPicPr>
            <a:picLocks noChangeAspect="1"/>
          </p:cNvPicPr>
          <p:nvPr/>
        </p:nvPicPr>
        <p:blipFill rotWithShape="1">
          <a:blip r:embed="rId3"/>
          <a:srcRect l="5050" r="8738"/>
          <a:stretch/>
        </p:blipFill>
        <p:spPr>
          <a:xfrm>
            <a:off x="403412" y="1586752"/>
            <a:ext cx="2268072" cy="4392707"/>
          </a:xfrm>
          <a:prstGeom prst="rect">
            <a:avLst/>
          </a:prstGeom>
        </p:spPr>
      </p:pic>
      <p:pic>
        <p:nvPicPr>
          <p:cNvPr id="7" name="Picture 6">
            <a:extLst>
              <a:ext uri="{FF2B5EF4-FFF2-40B4-BE49-F238E27FC236}">
                <a16:creationId xmlns:a16="http://schemas.microsoft.com/office/drawing/2014/main" id="{E79829A1-9F8C-40D2-9B36-ADC14A033ECF}"/>
              </a:ext>
            </a:extLst>
          </p:cNvPr>
          <p:cNvPicPr>
            <a:picLocks noChangeAspect="1"/>
          </p:cNvPicPr>
          <p:nvPr/>
        </p:nvPicPr>
        <p:blipFill rotWithShape="1">
          <a:blip r:embed="rId4"/>
          <a:srcRect l="9461" t="915" r="7903" b="915"/>
          <a:stretch/>
        </p:blipFill>
        <p:spPr>
          <a:xfrm>
            <a:off x="3505201" y="1586751"/>
            <a:ext cx="2268072" cy="4392707"/>
          </a:xfrm>
          <a:prstGeom prst="rect">
            <a:avLst/>
          </a:prstGeom>
        </p:spPr>
      </p:pic>
      <p:pic>
        <p:nvPicPr>
          <p:cNvPr id="10" name="Picture 9">
            <a:extLst>
              <a:ext uri="{FF2B5EF4-FFF2-40B4-BE49-F238E27FC236}">
                <a16:creationId xmlns:a16="http://schemas.microsoft.com/office/drawing/2014/main" id="{8F2D3F77-876D-4DF2-B111-97F74B3E93C1}"/>
              </a:ext>
            </a:extLst>
          </p:cNvPr>
          <p:cNvPicPr>
            <a:picLocks noChangeAspect="1"/>
          </p:cNvPicPr>
          <p:nvPr/>
        </p:nvPicPr>
        <p:blipFill rotWithShape="1">
          <a:blip r:embed="rId5"/>
          <a:srcRect l="8378" r="11793" b="1045"/>
          <a:stretch/>
        </p:blipFill>
        <p:spPr>
          <a:xfrm>
            <a:off x="6606990" y="1586752"/>
            <a:ext cx="2268072" cy="4392706"/>
          </a:xfrm>
          <a:prstGeom prst="rect">
            <a:avLst/>
          </a:prstGeom>
        </p:spPr>
      </p:pic>
      <p:pic>
        <p:nvPicPr>
          <p:cNvPr id="12" name="Picture 11">
            <a:extLst>
              <a:ext uri="{FF2B5EF4-FFF2-40B4-BE49-F238E27FC236}">
                <a16:creationId xmlns:a16="http://schemas.microsoft.com/office/drawing/2014/main" id="{F474D079-7FD6-4697-BA78-3A43E9287092}"/>
              </a:ext>
            </a:extLst>
          </p:cNvPr>
          <p:cNvPicPr>
            <a:picLocks noChangeAspect="1"/>
          </p:cNvPicPr>
          <p:nvPr/>
        </p:nvPicPr>
        <p:blipFill rotWithShape="1">
          <a:blip r:embed="rId6"/>
          <a:srcRect l="8487" t="915" r="8487" b="1437"/>
          <a:stretch/>
        </p:blipFill>
        <p:spPr>
          <a:xfrm>
            <a:off x="9646028" y="1586752"/>
            <a:ext cx="2268073" cy="4392706"/>
          </a:xfrm>
          <a:prstGeom prst="rect">
            <a:avLst/>
          </a:prstGeom>
        </p:spPr>
      </p:pic>
    </p:spTree>
    <p:extLst>
      <p:ext uri="{BB962C8B-B14F-4D97-AF65-F5344CB8AC3E}">
        <p14:creationId xmlns:p14="http://schemas.microsoft.com/office/powerpoint/2010/main" val="105248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618564" y="378132"/>
            <a:ext cx="7534656" cy="547912"/>
          </a:xfrm>
        </p:spPr>
        <p:txBody>
          <a:bodyPr/>
          <a:lstStyle/>
          <a:p>
            <a:r>
              <a:rPr lang="en-US" sz="3600" dirty="0"/>
              <a:t>JIRA Integration</a:t>
            </a:r>
          </a:p>
        </p:txBody>
      </p:sp>
      <p:pic>
        <p:nvPicPr>
          <p:cNvPr id="6" name="Picture 5">
            <a:extLst>
              <a:ext uri="{FF2B5EF4-FFF2-40B4-BE49-F238E27FC236}">
                <a16:creationId xmlns:a16="http://schemas.microsoft.com/office/drawing/2014/main" id="{7FAC8E58-8D25-4A76-A755-5EE346940F58}"/>
              </a:ext>
            </a:extLst>
          </p:cNvPr>
          <p:cNvPicPr>
            <a:picLocks noChangeAspect="1"/>
          </p:cNvPicPr>
          <p:nvPr/>
        </p:nvPicPr>
        <p:blipFill>
          <a:blip r:embed="rId3"/>
          <a:stretch>
            <a:fillRect/>
          </a:stretch>
        </p:blipFill>
        <p:spPr>
          <a:xfrm>
            <a:off x="430306" y="1174376"/>
            <a:ext cx="11412070" cy="5468471"/>
          </a:xfrm>
          <a:prstGeom prst="rect">
            <a:avLst/>
          </a:prstGeom>
        </p:spPr>
      </p:pic>
    </p:spTree>
    <p:extLst>
      <p:ext uri="{BB962C8B-B14F-4D97-AF65-F5344CB8AC3E}">
        <p14:creationId xmlns:p14="http://schemas.microsoft.com/office/powerpoint/2010/main" val="21581182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618564" y="378132"/>
            <a:ext cx="7534656" cy="547912"/>
          </a:xfrm>
        </p:spPr>
        <p:txBody>
          <a:bodyPr/>
          <a:lstStyle/>
          <a:p>
            <a:r>
              <a:rPr lang="en-US" sz="3600" dirty="0"/>
              <a:t>JIRA Integration</a:t>
            </a:r>
          </a:p>
        </p:txBody>
      </p:sp>
      <p:pic>
        <p:nvPicPr>
          <p:cNvPr id="6" name="Picture 5">
            <a:extLst>
              <a:ext uri="{FF2B5EF4-FFF2-40B4-BE49-F238E27FC236}">
                <a16:creationId xmlns:a16="http://schemas.microsoft.com/office/drawing/2014/main" id="{774CC236-5B17-4D68-BBB7-88EB0021758A}"/>
              </a:ext>
            </a:extLst>
          </p:cNvPr>
          <p:cNvPicPr>
            <a:picLocks noChangeAspect="1"/>
          </p:cNvPicPr>
          <p:nvPr/>
        </p:nvPicPr>
        <p:blipFill>
          <a:blip r:embed="rId3"/>
          <a:stretch>
            <a:fillRect/>
          </a:stretch>
        </p:blipFill>
        <p:spPr>
          <a:xfrm>
            <a:off x="618564" y="1124173"/>
            <a:ext cx="10883154" cy="5355695"/>
          </a:xfrm>
          <a:prstGeom prst="rect">
            <a:avLst/>
          </a:prstGeom>
        </p:spPr>
      </p:pic>
    </p:spTree>
    <p:extLst>
      <p:ext uri="{BB962C8B-B14F-4D97-AF65-F5344CB8AC3E}">
        <p14:creationId xmlns:p14="http://schemas.microsoft.com/office/powerpoint/2010/main" val="42138365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618564" y="378132"/>
            <a:ext cx="7534656" cy="547912"/>
          </a:xfrm>
        </p:spPr>
        <p:txBody>
          <a:bodyPr/>
          <a:lstStyle/>
          <a:p>
            <a:r>
              <a:rPr lang="en-US" sz="3600" dirty="0"/>
              <a:t>JIRA Integration</a:t>
            </a:r>
          </a:p>
        </p:txBody>
      </p:sp>
      <p:pic>
        <p:nvPicPr>
          <p:cNvPr id="5" name="Picture 4">
            <a:extLst>
              <a:ext uri="{FF2B5EF4-FFF2-40B4-BE49-F238E27FC236}">
                <a16:creationId xmlns:a16="http://schemas.microsoft.com/office/drawing/2014/main" id="{111CADD9-90D0-4D88-A7AA-EC310CD82C03}"/>
              </a:ext>
            </a:extLst>
          </p:cNvPr>
          <p:cNvPicPr>
            <a:picLocks noChangeAspect="1"/>
          </p:cNvPicPr>
          <p:nvPr/>
        </p:nvPicPr>
        <p:blipFill>
          <a:blip r:embed="rId3"/>
          <a:stretch>
            <a:fillRect/>
          </a:stretch>
        </p:blipFill>
        <p:spPr>
          <a:xfrm>
            <a:off x="869575" y="1013012"/>
            <a:ext cx="10524565" cy="5558118"/>
          </a:xfrm>
          <a:prstGeom prst="rect">
            <a:avLst/>
          </a:prstGeom>
        </p:spPr>
      </p:pic>
    </p:spTree>
    <p:extLst>
      <p:ext uri="{BB962C8B-B14F-4D97-AF65-F5344CB8AC3E}">
        <p14:creationId xmlns:p14="http://schemas.microsoft.com/office/powerpoint/2010/main" val="30508883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1999129" y="914400"/>
            <a:ext cx="6284259" cy="5029200"/>
          </a:xfrm>
        </p:spPr>
        <p:txBody>
          <a:bodyPr/>
          <a:lstStyle/>
          <a:p>
            <a:r>
              <a:rPr lang="en-US" sz="6600" dirty="0"/>
              <a:t>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{B13EDDF2-11AE-4749-8CF8-CFCE21FF35A5}TF1ed9553b-00c4-4092-846a-c8f7f2908f3beecd942f_win32-8e33096c3cfc</Template>
  <TotalTime>4049</TotalTime>
  <Words>3719</Words>
  <Application>Microsoft Office PowerPoint</Application>
  <PresentationFormat>Widescreen</PresentationFormat>
  <Paragraphs>594</Paragraphs>
  <Slides>30</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Calibri</vt:lpstr>
      <vt:lpstr>Courier New</vt:lpstr>
      <vt:lpstr>Gill Sans Nova Light</vt:lpstr>
      <vt:lpstr>Sagona Book</vt:lpstr>
      <vt:lpstr>Symbol</vt:lpstr>
      <vt:lpstr>Times New Roman</vt:lpstr>
      <vt:lpstr>Wingdings</vt:lpstr>
      <vt:lpstr>Custom</vt:lpstr>
      <vt:lpstr>Her Ride For woman by woman  Agile Product Management Capstone Project By- Ahana Podder</vt:lpstr>
      <vt:lpstr>Introduction</vt:lpstr>
      <vt:lpstr>Problem Statement</vt:lpstr>
      <vt:lpstr>Persona</vt:lpstr>
      <vt:lpstr>Vision</vt:lpstr>
      <vt:lpstr>Product market fit</vt:lpstr>
      <vt:lpstr>Requirements design</vt:lpstr>
      <vt:lpstr>Requirements design</vt:lpstr>
      <vt:lpstr>Requirements design</vt:lpstr>
      <vt:lpstr>Product backlog</vt:lpstr>
      <vt:lpstr>Product backlog</vt:lpstr>
      <vt:lpstr>Product backlog</vt:lpstr>
      <vt:lpstr>MoSCoW prioritization</vt:lpstr>
      <vt:lpstr>User Flow- Driver</vt:lpstr>
      <vt:lpstr>User Flow- Rider</vt:lpstr>
      <vt:lpstr>Outcome-Based Roadmap</vt:lpstr>
      <vt:lpstr>MVP Timeline</vt:lpstr>
      <vt:lpstr>Business model canvas</vt:lpstr>
      <vt:lpstr>User feedback integration</vt:lpstr>
      <vt:lpstr>Sprint planning</vt:lpstr>
      <vt:lpstr>Mockups</vt:lpstr>
      <vt:lpstr>Mockups</vt:lpstr>
      <vt:lpstr>Mockups</vt:lpstr>
      <vt:lpstr>Mockups</vt:lpstr>
      <vt:lpstr>Mockups</vt:lpstr>
      <vt:lpstr>Mockups</vt:lpstr>
      <vt:lpstr>JIRA Integration</vt:lpstr>
      <vt:lpstr>JIRA Integration</vt:lpstr>
      <vt:lpstr>JIRA Integration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Her Ride For woman by woman  Agile Product Management Capstone Project</dc:title>
  <dc:creator>Ahana Podder</dc:creator>
  <cp:lastModifiedBy>Ahana Podder</cp:lastModifiedBy>
  <cp:revision>75</cp:revision>
  <dcterms:created xsi:type="dcterms:W3CDTF">2026-01-14T08:35:14Z</dcterms:created>
  <dcterms:modified xsi:type="dcterms:W3CDTF">2026-02-03T07:20:19Z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